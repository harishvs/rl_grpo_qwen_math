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4800" b="1">
                <a:solidFill>
                  <a:srgbClr val="FFFFFF"/>
                </a:solidFill>
              </a:defRPr>
            </a:pPr>
            <a:r>
              <a:t>Teaching LLMs to Solve Math</a:t>
            </a:r>
          </a:p>
          <a:p>
            <a:pPr>
              <a:spcAft>
                <a:spcPts val="1060"/>
              </a:spcAft>
              <a:defRPr sz="4800" b="1">
                <a:solidFill>
                  <a:srgbClr val="FFFFFF"/>
                </a:solidFill>
              </a:defRPr>
            </a:pPr>
            <a:r>
              <a:t>with Reinforcement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400" b="0">
                <a:solidFill>
                  <a:srgbClr val="FF9900"/>
                </a:solidFill>
              </a:defRPr>
            </a:pPr>
            <a:r>
              <a:t>From RL Basics to Training Qwen on GSM8K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000" b="0">
                <a:solidFill>
                  <a:srgbClr val="757575"/>
                </a:solidFill>
              </a:defRPr>
            </a:pPr>
            <a:r>
              <a:t>Custom Trainer  →  veRL  →  Monarch on 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1600" b="0">
                <a:solidFill>
                  <a:srgbClr val="757575"/>
                </a:solidFill>
              </a:defRPr>
            </a:pPr>
            <a:r>
              <a:t>Harish Rao, SA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Why Reinforcement Learning for LLMs?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600" b="1">
                <a:solidFill>
                  <a:srgbClr val="23272A"/>
                </a:solidFill>
              </a:defRPr>
            </a:pPr>
            <a:r>
              <a:t>Supervised Learning</a:t>
            </a:r>
          </a:p>
          <a:p>
            <a:pPr>
              <a:spcAft>
                <a:spcPts val="1060"/>
              </a:spcAft>
              <a:defRPr sz="2000" b="0">
                <a:solidFill>
                  <a:srgbClr val="555555"/>
                </a:solidFill>
              </a:defRPr>
            </a:pPr>
            <a:r>
              <a:t>Here's the question AND the answer.</a:t>
            </a:r>
          </a:p>
          <a:p>
            <a:pPr>
              <a:spcAft>
                <a:spcPts val="1060"/>
              </a:spcAft>
              <a:defRPr sz="2000" b="0">
                <a:solidFill>
                  <a:srgbClr val="555555"/>
                </a:solidFill>
              </a:defRPr>
            </a:pPr>
            <a:r>
              <a:t>Learn to copy it.</a:t>
            </a:r>
          </a:p>
          <a:p>
            <a:pPr>
              <a:spcAft>
                <a:spcPts val="1060"/>
              </a:spcAft>
              <a:defRPr sz="1200" b="0">
                <a:solidFill>
                  <a:srgbClr val="23272A"/>
                </a:solidFill>
              </a:defRPr>
            </a:pPr>
          </a:p>
          <a:p>
            <a:pPr>
              <a:spcAft>
                <a:spcPts val="1060"/>
              </a:spcAft>
              <a:defRPr sz="2600" b="1">
                <a:solidFill>
                  <a:srgbClr val="23272A"/>
                </a:solidFill>
              </a:defRPr>
            </a:pPr>
            <a:r>
              <a:t>Reinforcement Learning</a:t>
            </a:r>
          </a:p>
          <a:p>
            <a:pPr>
              <a:spcAft>
                <a:spcPts val="1060"/>
              </a:spcAft>
              <a:defRPr sz="2000" b="0">
                <a:solidFill>
                  <a:srgbClr val="555555"/>
                </a:solidFill>
              </a:defRPr>
            </a:pPr>
            <a:r>
              <a:t>Here's the question. Try something.</a:t>
            </a:r>
          </a:p>
          <a:p>
            <a:pPr>
              <a:spcAft>
                <a:spcPts val="1060"/>
              </a:spcAft>
              <a:defRPr sz="2000" b="0">
                <a:solidFill>
                  <a:srgbClr val="555555"/>
                </a:solidFill>
              </a:defRPr>
            </a:pPr>
            <a:r>
              <a:t>I'll tell you: right or wrong.</a:t>
            </a:r>
          </a:p>
          <a:p>
            <a:pPr>
              <a:spcAft>
                <a:spcPts val="1060"/>
              </a:spcAft>
              <a:defRPr sz="2000" b="0">
                <a:solidFill>
                  <a:srgbClr val="555555"/>
                </a:solidFill>
              </a:defRPr>
            </a:pPr>
            <a:r>
              <a:t>Figure it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600" b="1">
                <a:solidFill>
                  <a:srgbClr val="FF9900"/>
                </a:solidFill>
              </a:defRPr>
            </a:pPr>
            <a:r>
              <a:t>Why this matters</a:t>
            </a:r>
          </a:p>
          <a:p>
            <a:pPr>
              <a:spcAft>
                <a:spcPts val="1060"/>
              </a:spcAft>
              <a:defRPr sz="800" b="0">
                <a:solidFill>
                  <a:srgbClr val="23272A"/>
                </a:solidFill>
              </a:defRPr>
            </a:pPr>
          </a:p>
          <a:p>
            <a:pPr>
              <a:spcAft>
                <a:spcPts val="1060"/>
              </a:spcAft>
              <a:defRPr sz="2200" b="0">
                <a:solidFill>
                  <a:srgbClr val="23272A"/>
                </a:solidFill>
              </a:defRPr>
            </a:pPr>
            <a:r>
              <a:t>No human-written solutions needed</a:t>
            </a:r>
          </a:p>
          <a:p>
            <a:pPr>
              <a:spcAft>
                <a:spcPts val="1060"/>
              </a:spcAft>
              <a:defRPr sz="2200" b="0">
                <a:solidFill>
                  <a:srgbClr val="23272A"/>
                </a:solidFill>
              </a:defRPr>
            </a:pPr>
            <a:r>
              <a:t>Model discovers its own strategies</a:t>
            </a:r>
          </a:p>
          <a:p>
            <a:pPr>
              <a:spcAft>
                <a:spcPts val="1060"/>
              </a:spcAft>
              <a:defRPr sz="2200" b="0">
                <a:solidFill>
                  <a:srgbClr val="23272A"/>
                </a:solidFill>
              </a:defRPr>
            </a:pPr>
            <a:r>
              <a:t>Works for math, code, logic — anything checkable</a:t>
            </a:r>
          </a:p>
          <a:p>
            <a:pPr>
              <a:spcAft>
                <a:spcPts val="1060"/>
              </a:spcAft>
              <a:defRPr sz="1200" b="0">
                <a:solidFill>
                  <a:srgbClr val="23272A"/>
                </a:solidFill>
              </a:defRPr>
            </a:pPr>
          </a:p>
          <a:p>
            <a:pPr>
              <a:spcAft>
                <a:spcPts val="1060"/>
              </a:spcAft>
              <a:defRPr sz="2200" b="1">
                <a:solidFill>
                  <a:srgbClr val="23272A"/>
                </a:solidFill>
              </a:defRPr>
            </a:pPr>
            <a:r>
              <a:t>Our result:</a:t>
            </a:r>
          </a:p>
          <a:p>
            <a:pPr>
              <a:spcAft>
                <a:spcPts val="1060"/>
              </a:spcAft>
              <a:defRPr sz="2600" b="1">
                <a:solidFill>
                  <a:srgbClr val="FF9900"/>
                </a:solidFill>
              </a:defRPr>
            </a:pPr>
            <a:r>
              <a:t>14.5%  →  87% accuracy on grade-school math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The RL Training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286000" cy="731520"/>
          </a:xfrm>
          <a:prstGeom prst="roundRect">
            <a:avLst/>
          </a:prstGeom>
          <a:solidFill>
            <a:srgbClr val="23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  GENERATE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737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200" b="0">
                <a:solidFill>
                  <a:srgbClr val="23272A"/>
                </a:solidFill>
              </a:defRPr>
            </a:pPr>
            <a:r>
              <a:t>Model writes 8 attempts per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2286000" cy="731520"/>
          </a:xfrm>
          <a:prstGeom prst="roundRect">
            <a:avLst/>
          </a:prstGeom>
          <a:solidFill>
            <a:srgbClr val="23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 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926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200" b="0">
                <a:solidFill>
                  <a:srgbClr val="23272A"/>
                </a:solidFill>
              </a:defRPr>
            </a:pPr>
            <a:r>
              <a:t>Check each answer: correct = 1, wrong =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2286000" cy="731520"/>
          </a:xfrm>
          <a:prstGeom prst="roundRect">
            <a:avLst/>
          </a:prstGeom>
          <a:solidFill>
            <a:srgbClr val="23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  COMPARE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1148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200" b="0">
                <a:solidFill>
                  <a:srgbClr val="23272A"/>
                </a:solidFill>
              </a:defRPr>
            </a:pPr>
            <a:r>
              <a:t>Which attempts were better than average?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2286000" cy="731520"/>
          </a:xfrm>
          <a:prstGeom prst="roundRect">
            <a:avLst/>
          </a:prstGeom>
          <a:solidFill>
            <a:srgbClr val="23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 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5303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200" b="0">
                <a:solidFill>
                  <a:srgbClr val="23272A"/>
                </a:solidFill>
              </a:defRPr>
            </a:pPr>
            <a:r>
              <a:t>Make good patterns more likely, bad ones less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600" b="1">
                <a:solidFill>
                  <a:srgbClr val="FF9900"/>
                </a:solidFill>
              </a:defRPr>
            </a:pPr>
            <a:r>
              <a:t>Repeat 233 times</a:t>
            </a:r>
          </a:p>
          <a:p>
            <a:pPr>
              <a:spcAft>
                <a:spcPts val="1060"/>
              </a:spcAft>
              <a:defRPr sz="1800" b="0">
                <a:solidFill>
                  <a:srgbClr val="757575"/>
                </a:solidFill>
              </a:defRPr>
            </a:pPr>
            <a:r>
              <a:t>(one pass through GSM8K)</a:t>
            </a:r>
          </a:p>
          <a:p>
            <a:pPr>
              <a:spcAft>
                <a:spcPts val="1060"/>
              </a:spcAft>
              <a:defRPr sz="1200" b="0">
                <a:solidFill>
                  <a:srgbClr val="23272A"/>
                </a:solidFill>
              </a:defRPr>
            </a:pPr>
          </a:p>
          <a:p>
            <a:pPr>
              <a:spcAft>
                <a:spcPts val="1060"/>
              </a:spcAft>
              <a:defRPr sz="2200" b="1">
                <a:solidFill>
                  <a:srgbClr val="23272A"/>
                </a:solidFill>
              </a:defRPr>
            </a:pPr>
            <a:r>
              <a:t>That's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Key RL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400" b="1">
                <a:solidFill>
                  <a:srgbClr val="FF9900"/>
                </a:solidFill>
              </a:defRPr>
            </a:pPr>
            <a:r>
              <a:t>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4630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200" b="0">
                <a:solidFill>
                  <a:srgbClr val="23272A"/>
                </a:solidFill>
              </a:defRPr>
            </a:pPr>
            <a:r>
              <a:t>The model's current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40280"/>
            <a:ext cx="1051560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400" b="1">
                <a:solidFill>
                  <a:srgbClr val="FF9900"/>
                </a:solidFill>
              </a:defRPr>
            </a:pPr>
            <a:r>
              <a:t>Reward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423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200" b="0">
                <a:solidFill>
                  <a:srgbClr val="23272A"/>
                </a:solidFill>
              </a:defRPr>
            </a:pPr>
            <a:r>
              <a:t>Right = 1, Wrong = 0. Only feedback.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1051560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400" b="1">
                <a:solidFill>
                  <a:srgbClr val="FF9900"/>
                </a:solidFill>
              </a:defRPr>
            </a:pPr>
            <a:r>
              <a:t>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383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200" b="0">
                <a:solidFill>
                  <a:srgbClr val="23272A"/>
                </a:solidFill>
              </a:defRPr>
            </a:pPr>
            <a:r>
              <a:t>How much better than the group average?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60520"/>
            <a:ext cx="1051560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400" b="1">
                <a:solidFill>
                  <a:srgbClr val="FF9900"/>
                </a:solidFill>
              </a:defRPr>
            </a:pPr>
            <a:r>
              <a:t>Clipping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343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200" b="0">
                <a:solidFill>
                  <a:srgbClr val="23272A"/>
                </a:solidFill>
              </a:defRPr>
            </a:pPr>
            <a:r>
              <a:t>Limits change per step (safety rail)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20640"/>
            <a:ext cx="1051560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400" b="1">
                <a:solidFill>
                  <a:srgbClr val="FF9900"/>
                </a:solidFill>
              </a:defRPr>
            </a:pPr>
            <a:r>
              <a:t>KL Penalty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303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200" b="0">
                <a:solidFill>
                  <a:srgbClr val="23272A"/>
                </a:solidFill>
              </a:defRPr>
            </a:pPr>
            <a:r>
              <a:t>Prevents drifting too far from start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GRPO vs PPO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0292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32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PPO (classic)</a:t>
                      </a:r>
                    </a:p>
                  </a:txBody>
                  <a:tcPr>
                    <a:solidFill>
                      <a:srgbClr val="232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GRPO (DeepSeek-R1)</a:t>
                      </a:r>
                    </a:p>
                  </a:txBody>
                  <a:tcPr>
                    <a:solidFill>
                      <a:srgbClr val="232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72A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72A"/>
                          </a:solidFill>
                        </a:defRPr>
                      </a:pPr>
                      <a:r>
                        <a:t>Learned critic network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72A"/>
                          </a:solidFill>
                        </a:defRPr>
                      </a:pPr>
                      <a:r>
                        <a:t>Group average of rewards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72A"/>
                          </a:solidFill>
                        </a:defRPr>
                      </a:pPr>
                      <a:r>
                        <a:t>Extra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72A"/>
                          </a:solidFill>
                        </a:defRPr>
                      </a:pPr>
                      <a:r>
                        <a:t>Yes (2× GPU memory)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72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72A"/>
                          </a:solidFill>
                        </a:defRPr>
                      </a:pPr>
                      <a:r>
                        <a:t>Advantage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72A"/>
                          </a:solidFill>
                        </a:defRPr>
                      </a:pPr>
                      <a:r>
                        <a:t>Complex: GAE from critic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72A"/>
                          </a:solidFill>
                        </a:defRPr>
                      </a:pPr>
                      <a:r>
                        <a:t>Simple: (reward - mean) / std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72A"/>
                          </a:solidFill>
                        </a:defRPr>
                      </a:pPr>
                      <a:r>
                        <a:t>Attempts/problem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72A"/>
                          </a:solidFill>
                        </a:defRPr>
                      </a:pPr>
                      <a:r>
                        <a:t>8 (group comparison)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72A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72A"/>
                          </a:solidFill>
                        </a:defRPr>
                      </a:pPr>
                      <a:r>
                        <a:t>General RL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72A"/>
                          </a:solidFill>
                        </a:defRPr>
                      </a:pPr>
                      <a:r>
                        <a:t>Verifiable rewards (math, code)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000" b="0">
                <a:solidFill>
                  <a:srgbClr val="23272A"/>
                </a:solidFill>
              </a:defRPr>
            </a:pPr>
            <a:r>
              <a:t>GRPO trades more generation for simpler training.</a:t>
            </a:r>
          </a:p>
          <a:p>
            <a:pPr>
              <a:spcAft>
                <a:spcPts val="1060"/>
              </a:spcAft>
              <a:defRPr sz="1800" b="0">
                <a:solidFill>
                  <a:srgbClr val="757575"/>
                </a:solidFill>
              </a:defRPr>
            </a:pPr>
            <a:r>
              <a:t>For tasks where checking answers is free — it's a clear win.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The Dataset: GSM8K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200" b="0">
                <a:solidFill>
                  <a:srgbClr val="23272A"/>
                </a:solidFill>
              </a:defRPr>
            </a:pPr>
            <a:r>
              <a:t>7,473 train  /  1,319 test problems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51560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000" b="0">
                <a:solidFill>
                  <a:srgbClr val="23272A"/>
                </a:solidFill>
              </a:defRPr>
            </a:pPr>
            <a:r>
              <a:t>Q:  Janet's ducks lay 16 eggs per day. She eats 3 for breakfast</a:t>
            </a:r>
          </a:p>
          <a:p>
            <a:pPr>
              <a:spcAft>
                <a:spcPts val="1060"/>
              </a:spcAft>
              <a:defRPr sz="2000" b="0">
                <a:solidFill>
                  <a:srgbClr val="23272A"/>
                </a:solidFill>
              </a:defRPr>
            </a:pPr>
            <a:r>
              <a:t>     and bakes muffins with 4. She sells the rest at $2 each.</a:t>
            </a:r>
          </a:p>
          <a:p>
            <a:pPr>
              <a:spcAft>
                <a:spcPts val="1060"/>
              </a:spcAft>
              <a:defRPr sz="2000" b="0">
                <a:solidFill>
                  <a:srgbClr val="23272A"/>
                </a:solidFill>
              </a:defRPr>
            </a:pPr>
            <a:r>
              <a:t>     How much does she make daily?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000" b="1">
                <a:solidFill>
                  <a:srgbClr val="23272A"/>
                </a:solidFill>
              </a:defRPr>
            </a:pPr>
            <a:r>
              <a:t>A:  16 - 3 - 4 = 9.   9 × $2 = $18.   ####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200" b="0">
                <a:solidFill>
                  <a:srgbClr val="23272A"/>
                </a:solidFill>
              </a:defRPr>
            </a:pPr>
            <a:r>
              <a:t>We only check the final number. Model discovers reasoning on its own.</a:t>
            </a:r>
          </a:p>
          <a:p>
            <a:pPr>
              <a:spcAft>
                <a:spcPts val="1060"/>
              </a:spcAft>
              <a:defRPr sz="2200" b="1">
                <a:solidFill>
                  <a:srgbClr val="FF9900"/>
                </a:solidFill>
              </a:defRPr>
            </a:pPr>
            <a:r>
              <a:t>Base model accuracy: 14.5%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What We Built: Three Approaches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029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232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32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232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Key Insight</a:t>
                      </a:r>
                    </a:p>
                  </a:txBody>
                  <a:tcPr>
                    <a:solidFill>
                      <a:srgbClr val="232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Custom Trainer (from scratch)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~60%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26 hrs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Learning exercise — every RL bug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veRL (ByteDance)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35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Colocated GPUs, zero sync cost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Monarch (Meta)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87%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100 min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Split placement, weight sync bottleneck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657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1800" b="0">
                <a:solidFill>
                  <a:srgbClr val="757575"/>
                </a:solidFill>
              </a:defRPr>
            </a:pPr>
            <a:r>
              <a:t>Same model (Qwen 1.5B), same data (GSM8K), same cluster (16× A100)</a:t>
            </a:r>
          </a:p>
          <a:p>
            <a:pPr>
              <a:spcAft>
                <a:spcPts val="1060"/>
              </a:spcAft>
              <a:defRPr sz="1000" b="0">
                <a:solidFill>
                  <a:srgbClr val="23272A"/>
                </a:solidFill>
              </a:defRPr>
            </a:pPr>
          </a:p>
          <a:p>
            <a:pPr>
              <a:spcAft>
                <a:spcPts val="1060"/>
              </a:spcAft>
              <a:defRPr sz="2000" b="0">
                <a:solidFill>
                  <a:srgbClr val="23272A"/>
                </a:solidFill>
              </a:defRPr>
            </a:pPr>
            <a:r>
              <a:t>Custom: 800 lines Python, 5 attempts, 12 hours debugging</a:t>
            </a:r>
          </a:p>
          <a:p>
            <a:pPr>
              <a:spcAft>
                <a:spcPts val="1060"/>
              </a:spcAft>
              <a:defRPr sz="2000" b="0">
                <a:solidFill>
                  <a:srgbClr val="23272A"/>
                </a:solidFill>
              </a:defRPr>
            </a:pPr>
            <a:r>
              <a:t>veRL: 50 lines config, worked first try</a:t>
            </a:r>
          </a:p>
          <a:p>
            <a:pPr>
              <a:spcAft>
                <a:spcPts val="1060"/>
              </a:spcAft>
              <a:defRPr sz="2000" b="0">
                <a:solidFill>
                  <a:srgbClr val="23272A"/>
                </a:solidFill>
              </a:defRPr>
            </a:pPr>
            <a:r>
              <a:t>Monarch: 12 training runs, 20+ issues fixed, no prior FSDP example existed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Monarch Result: 14.5% → 87%</a:t>
            </a:r>
          </a:p>
        </p:txBody>
      </p:sp>
      <p:pic>
        <p:nvPicPr>
          <p:cNvPr id="4" name="Picture 3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5156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1600" b="0">
                <a:solidFill>
                  <a:srgbClr val="757575"/>
                </a:solidFill>
              </a:defRPr>
            </a:pPr>
            <a:r>
              <a:t>233 steps, 100 minutes, 1 epoch. KL stable with frozen reference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Why the Speed Difference?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400" b="1">
                <a:solidFill>
                  <a:srgbClr val="23272A"/>
                </a:solidFill>
              </a:defRPr>
            </a:pPr>
            <a:r>
              <a:t>The #1 bottleneck: getting updated weights from trainer → generator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37744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029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32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veRL (35 min)</a:t>
                      </a:r>
                    </a:p>
                  </a:txBody>
                  <a:tcPr>
                    <a:solidFill>
                      <a:srgbClr val="232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Monarch (100 min)</a:t>
                      </a:r>
                    </a:p>
                  </a:txBody>
                  <a:tcPr>
                    <a:solidFill>
                      <a:srgbClr val="232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All GPUs switch roles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Separate nodes per role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Weight 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Zero — same GPUs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47s per step (3GB over network)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GPU utilization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16 / 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72A"/>
                          </a:solidFill>
                        </a:defRPr>
                      </a:pPr>
                      <a:r>
                        <a:t>5 / 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000" b="0">
                <a:solidFill>
                  <a:srgbClr val="23272A"/>
                </a:solidFill>
              </a:defRPr>
            </a:pPr>
            <a:r>
              <a:t>veRL: no data moves. Same GPU memory, just resharded.</a:t>
            </a:r>
          </a:p>
          <a:p>
            <a:pPr>
              <a:spcAft>
                <a:spcPts val="1060"/>
              </a:spcAft>
              <a:defRPr sz="2000" b="0">
                <a:solidFill>
                  <a:srgbClr val="23272A"/>
                </a:solidFill>
              </a:defRPr>
            </a:pPr>
            <a:r>
              <a:t>Monarch: 3GB transfer every step. 45% of training time.</a:t>
            </a:r>
          </a:p>
          <a:p>
            <a:pPr>
              <a:spcAft>
                <a:spcPts val="1060"/>
              </a:spcAft>
              <a:defRPr sz="800" b="0">
                <a:solidFill>
                  <a:srgbClr val="23272A"/>
                </a:solidFill>
              </a:defRPr>
            </a:pPr>
          </a:p>
          <a:p>
            <a:pPr>
              <a:spcAft>
                <a:spcPts val="1060"/>
              </a:spcAft>
              <a:defRPr sz="1800" b="0">
                <a:solidFill>
                  <a:srgbClr val="757575"/>
                </a:solidFill>
              </a:defRPr>
            </a:pPr>
            <a:r>
              <a:t>RDMA would fix this (~1s) but p4d EFA doesn't support it. P5+ does.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400" b="1">
                <a:solidFill>
                  <a:srgbClr val="23272A"/>
                </a:solidFill>
              </a:defRPr>
            </a:pPr>
            <a:r>
              <a:t>1.  RL + binary reward = LLMs that reason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1800" b="0">
                <a:solidFill>
                  <a:srgbClr val="757575"/>
                </a:solidFill>
              </a:defRPr>
            </a:pPr>
            <a:r>
              <a:t>14.5% → 87%, no human solutions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400" b="1">
                <a:solidFill>
                  <a:srgbClr val="23272A"/>
                </a:solidFill>
              </a:defRPr>
            </a:pPr>
            <a:r>
              <a:t>2.  The algorithm is simple, the infra is hard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154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1800" b="0">
                <a:solidFill>
                  <a:srgbClr val="757575"/>
                </a:solidFill>
              </a:defRPr>
            </a:pPr>
            <a:r>
              <a:t>GRPO fits on one slide. Weight sync took 12 runs.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400" b="1">
                <a:solidFill>
                  <a:srgbClr val="23272A"/>
                </a:solidFill>
              </a:defRPr>
            </a:pPr>
            <a:r>
              <a:t>3.  Hyperparameters &gt;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1800" b="0">
                <a:solidFill>
                  <a:srgbClr val="757575"/>
                </a:solidFill>
              </a:defRPr>
            </a:pPr>
            <a:r>
              <a:t>kl_coef 100× wrong mattered more than any infra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2400" b="1">
                <a:solidFill>
                  <a:srgbClr val="23272A"/>
                </a:solidFill>
              </a:defRPr>
            </a:pPr>
            <a:r>
              <a:t>4.  Code: github.com/harishvs/rl_grpo_qwen_math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623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0"/>
              </a:spcAft>
              <a:defRPr sz="1800" b="0">
                <a:solidFill>
                  <a:srgbClr val="757575"/>
                </a:solidFill>
              </a:defRPr>
            </a:pPr>
            <a:r>
              <a:t>3 implementations, all logs, Terraform, K8s manifests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