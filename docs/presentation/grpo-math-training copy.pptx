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emf" ContentType="image/x-emf"/>
  <Default Extension="svg" ContentType="image/svg+xml"/>
  <Override PartName="/docProps/app.xml" ContentType="application/vnd.openxmlformats-officedocument.extended-properties+xml"/>
  <Override PartName="/ppt/slideLayouts/slideLayout8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2"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4702"/>
    <p:restoredTop autoAdjust="0" sz="67945"/>
  </p:normalViewPr>
  <p:slideViewPr>
    <p:cSldViewPr snapToGrid="0" snapToObjects="1">
      <p:cViewPr varScale="1">
        <p:scale>
          <a:sx d="100" n="112"/>
          <a:sy d="100" n="112"/>
        </p:scale>
        <p:origin x="2240"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notesMaster" Target="notesMasters/notesMaster1.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 Id="rId41"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F3EB6-57B8-AC4C-A749-E28B1206E72E}" type="datetimeFigureOut">
              <a:rPr lang="en-US" smtClean="0"/>
              <a:t>2/21/26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6449DF-6A4E-0F44-93F6-0E0E7FB4F4CC}" type="slidenum">
              <a:rPr lang="en-US" smtClean="0"/>
              <a:t>‹#›</a:t>
            </a:fld>
            <a:endParaRPr lang="en-US"/>
          </a:p>
        </p:txBody>
      </p:sp>
    </p:spTree>
    <p:extLst>
      <p:ext uri="{BB962C8B-B14F-4D97-AF65-F5344CB8AC3E}">
        <p14:creationId xmlns:p14="http://schemas.microsoft.com/office/powerpoint/2010/main" val="37018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it like teaching someone to cook. Supervised learning gives them a recipe to follow step by step. RL just lets them taste the result and says “good” or “bad” — they figure out the recipe themselves. This is powerful because the model can discover strategies that humans might not think of.</a:t>
            </a:r>
          </a:p>
        </p:txBody>
      </p:sp>
      <p:sp>
        <p:nvSpPr>
          <p:cNvPr id="4" name="Slide Number Placeholder 3"/>
          <p:cNvSpPr>
            <a:spLocks noGrp="1"/>
          </p:cNvSpPr>
          <p:nvPr>
            <p:ph type="sldNum" sz="quarter" idx="10"/>
          </p:nvPr>
        </p:nvSpPr>
        <p:spPr/>
        <p:txBody>
          <a:bodyPr/>
          <a:lstStyle/>
          <a:p>
            <a:fld id="{526449DF-6A4E-0F44-93F6-0E0E7FB4F4CC}"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GSM8K is grade-school math — 2 to 8 step arithmetic problems. Simple enough that a small model sometimes gets them right, hard enough that the base model gets 85% wrong. Binary reward means we just check if the final number is correct. We ran on 16 A100 GPUs across 2 nodes on EKS. We tried building our own trainer first to learn how GRPO works, then switched to veRL for the real training.</a:t>
            </a:r>
          </a:p>
        </p:txBody>
      </p:sp>
      <p:sp>
        <p:nvSpPr>
          <p:cNvPr id="4" name="Slide Number Placeholder 3"/>
          <p:cNvSpPr>
            <a:spLocks noGrp="1"/>
          </p:cNvSpPr>
          <p:nvPr>
            <p:ph type="sldNum" sz="quarter" idx="10"/>
          </p:nvPr>
        </p:nvSpPr>
        <p:spPr/>
        <p:txBody>
          <a:bodyPr/>
          <a:lstStyle/>
          <a:p>
            <a:fld id="{526449DF-6A4E-0F44-93F6-0E0E7FB4F4CC}"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real example from the dataset. The answer field has calculator annotations in double angle brackets and ends with #### followed by the final number. We only use that final number as the reward signal. The model never sees the human-written solution steps. GRPO is from the DeepSeek-R1 paper — the key simplification over PPO is that you don’t need a value network. You just generate a group of completions and use the group statistics as the baseline. The clipping and KL penalty are standard PPO-style guardrails to keep training stable.</a:t>
            </a:r>
          </a:p>
        </p:txBody>
      </p:sp>
      <p:sp>
        <p:nvSpPr>
          <p:cNvPr id="4" name="Slide Number Placeholder 3"/>
          <p:cNvSpPr>
            <a:spLocks noGrp="1"/>
          </p:cNvSpPr>
          <p:nvPr>
            <p:ph type="sldNum" sz="quarter" idx="10"/>
          </p:nvPr>
        </p:nvSpPr>
        <p:spPr/>
        <p:txBody>
          <a:bodyPr/>
          <a:lstStyle/>
          <a:p>
            <a:fld id="{526449DF-6A4E-0F44-93F6-0E0E7FB4F4CC}"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custom trainer was a learning exercise — we wanted to understand every piece of the GRPO pipeline: how importance ratios work, how KL penalties interact with clipping, how to manage FSDP weights with vLLM. It took 5 attempts and 12 hours of debugging. veRL by ByteDance is a production framework that handles all of this out of the box. The throughput difference is 45x — mostly from colocated vLLM and much larger batch sizes.</a:t>
            </a:r>
          </a:p>
        </p:txBody>
      </p:sp>
      <p:sp>
        <p:nvSpPr>
          <p:cNvPr id="4" name="Slide Number Placeholder 3"/>
          <p:cNvSpPr>
            <a:spLocks noGrp="1"/>
          </p:cNvSpPr>
          <p:nvPr>
            <p:ph type="sldNum" sz="quarter" idx="10"/>
          </p:nvPr>
        </p:nvSpPr>
        <p:spPr/>
        <p:txBody>
          <a:bodyPr/>
          <a:lstStyle/>
          <a:p>
            <a:fld id="{526449DF-6A4E-0F44-93F6-0E0E7FB4F4CC}"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architecture we built from scratch. The vLLM server runs on its own GPU and generates completions via HTTP. The trainer pods run FSDP across 14 GPUs on 2 nodes. The environment service on a CPU node checks if answers are correct. The awkward part is the weight sync — every 3 steps, rank 0 has to serialize 3GB of weights and POST them to the vLLM server over HTTP. That takes 22 seconds each time. This is the fundamental bottleneck that veRL solves by colocating everything.</a:t>
            </a:r>
          </a:p>
        </p:txBody>
      </p:sp>
      <p:sp>
        <p:nvSpPr>
          <p:cNvPr id="4" name="Slide Number Placeholder 3"/>
          <p:cNvSpPr>
            <a:spLocks noGrp="1"/>
          </p:cNvSpPr>
          <p:nvPr>
            <p:ph type="sldNum" sz="quarter" idx="10"/>
          </p:nvPr>
        </p:nvSpPr>
        <p:spPr/>
        <p:txBody>
          <a:bodyPr/>
          <a:lstStyle/>
          <a:p>
            <a:fld id="{526449DF-6A4E-0F44-93F6-0E0E7FB4F4CC}"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first attempt was too ambitious with batch size. With 8 prompts times 8 completions, that’s 64 sequences per step. GPU 0 was especially constrained because it holds both its FSDP shard and the full generation model for producing completions. Dropping to batch_size=4 gave us 32 sequences per step and fit in memory.</a:t>
            </a:r>
          </a:p>
        </p:txBody>
      </p:sp>
      <p:sp>
        <p:nvSpPr>
          <p:cNvPr id="4" name="Slide Number Placeholder 3"/>
          <p:cNvSpPr>
            <a:spLocks noGrp="1"/>
          </p:cNvSpPr>
          <p:nvPr>
            <p:ph type="sldNum" sz="quarter" idx="10"/>
          </p:nvPr>
        </p:nvSpPr>
        <p:spPr/>
        <p:txBody>
          <a:bodyPr/>
          <a:lstStyle/>
          <a:p>
            <a:fld id="{526449DF-6A4E-0F44-93F6-0E0E7FB4F4CC}"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was the most instructive bug. KL went from 0.42 to 194.8 in a single step, then the model diverged so badly it OOM’d from NaN activations. The root cause: we were summing log probabilities across the entire sequence (200+ tokens) and then taking exp() of the difference. Even tiny per-token shifts of 0.01 accumulate into a sum of 2.0, and exp(2) = 7.4. After one gradient step with that inflated ratio, the next step gets exp(50) which is astronomical. The DeepSeek paper is clear that the importance ratio is a per-token concept.</a:t>
            </a:r>
          </a:p>
        </p:txBody>
      </p:sp>
      <p:sp>
        <p:nvSpPr>
          <p:cNvPr id="4" name="Slide Number Placeholder 3"/>
          <p:cNvSpPr>
            <a:spLocks noGrp="1"/>
          </p:cNvSpPr>
          <p:nvPr>
            <p:ph type="sldNum" sz="quarter" idx="10"/>
          </p:nvPr>
        </p:nvSpPr>
        <p:spPr/>
        <p:txBody>
          <a:bodyPr/>
          <a:lstStyle/>
          <a:p>
            <a:fld id="{526449DF-6A4E-0F44-93F6-0E0E7FB4F4CC}"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fix is straightforward — compute the importance ratio per token, apply clipping per token, then average. This keeps every individual ratio close to 1.0 and within the clip range of 0.8 to 1.2. We verified numerically: with 200 tokens and per-token shifts of 0.02 standard deviation, the old method gives ratio=1.46 and KL=0.08, while the new method gives mean ratio=1.002 and KL=0.0002. Night and day difference.</a:t>
            </a:r>
          </a:p>
        </p:txBody>
      </p:sp>
      <p:sp>
        <p:nvSpPr>
          <p:cNvPr id="4" name="Slide Number Placeholder 3"/>
          <p:cNvSpPr>
            <a:spLocks noGrp="1"/>
          </p:cNvSpPr>
          <p:nvPr>
            <p:ph type="sldNum" sz="quarter" idx="10"/>
          </p:nvPr>
        </p:nvSpPr>
        <p:spPr/>
        <p:txBody>
          <a:bodyPr/>
          <a:lstStyle/>
          <a:p>
            <a:fld id="{526449DF-6A4E-0F44-93F6-0E0E7FB4F4CC}"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math fix worked perfectly but exposed a performance problem. Each step made 32 separate generate calls, each triggering an FSDP all-gather across 14 GPUs. At 5 minutes per step and 1,868 steps for one epoch, we’d need 156 hours. Our GPU capacity block was only 32 hours. We needed at least a 5x speedup.</a:t>
            </a:r>
          </a:p>
        </p:txBody>
      </p:sp>
      <p:sp>
        <p:nvSpPr>
          <p:cNvPr id="4" name="Slide Number Placeholder 3"/>
          <p:cNvSpPr>
            <a:spLocks noGrp="1"/>
          </p:cNvSpPr>
          <p:nvPr>
            <p:ph type="sldNum" sz="quarter" idx="10"/>
          </p:nvPr>
        </p:nvSpPr>
        <p:spPr/>
        <p:txBody>
          <a:bodyPr/>
          <a:lstStyle/>
          <a:p>
            <a:fld id="{526449DF-6A4E-0F44-93F6-0E0E7FB4F4CC}"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key insight was that HuggingFace generate supports num_return_sequences — you give it one prompt and it generates 8 completions in a single forward pass, sharing the KV cache for the prompt tokens. This reduced 32 generate calls to 4 (one per prompt in the batch). 3x speedup to 1.5 minutes per step. Still not fast enough for a full epoch in our time window, but the reward was starting to trend upward — we could see the model learning.</a:t>
            </a:r>
          </a:p>
        </p:txBody>
      </p:sp>
      <p:sp>
        <p:nvSpPr>
          <p:cNvPr id="4" name="Slide Number Placeholder 3"/>
          <p:cNvSpPr>
            <a:spLocks noGrp="1"/>
          </p:cNvSpPr>
          <p:nvPr>
            <p:ph type="sldNum" sz="quarter" idx="10"/>
          </p:nvPr>
        </p:nvSpPr>
        <p:spPr/>
        <p:txBody>
          <a:bodyPr/>
          <a:lstStyle/>
          <a:p>
            <a:fld id="{526449DF-6A4E-0F44-93F6-0E0E7FB4F4CC}"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vLLM is much faster than HuggingFace generate for inference — it uses PagedAttention and continuous batching. But we couldn’t run it inside torchrun because it conflicts with NCCL. So we deployed it as a separate Kubernetes pod and communicated via HTTP. Got down to 50 seconds per step. But it crashed at step 50 due to a checkpoint bug — we used local_rank instead of global_rank to decide who saves, so on multi-node, node 2’s local rank 0 tried to save an empty state dict. Even before the crash, reward was oscillating without a clear trend because 32 sequences per step is just too noisy for stable learning.</a:t>
            </a:r>
          </a:p>
        </p:txBody>
      </p:sp>
      <p:sp>
        <p:nvSpPr>
          <p:cNvPr id="4" name="Slide Number Placeholder 3"/>
          <p:cNvSpPr>
            <a:spLocks noGrp="1"/>
          </p:cNvSpPr>
          <p:nvPr>
            <p:ph type="sldNum" sz="quarter" idx="10"/>
          </p:nvPr>
        </p:nvSpPr>
        <p:spPr/>
        <p:txBody>
          <a:bodyPr/>
          <a:lstStyle/>
          <a:p>
            <a:fld id="{526449DF-6A4E-0F44-93F6-0E0E7FB4F4CC}"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got a 6x speedup through three rounds of optimization. But even at 72 steps per hour with only 32 sequences per step, the effective throughput was 2,304 sequences per hour. The fundamental problem wasn’t speed per step — it was that we could only fit 4 prompts per batch due to memory constraints in our hand-rolled code. veRL solves this by properly managing GPU memory across phases.</a:t>
            </a:r>
          </a:p>
        </p:txBody>
      </p:sp>
      <p:sp>
        <p:nvSpPr>
          <p:cNvPr id="4" name="Slide Number Placeholder 3"/>
          <p:cNvSpPr>
            <a:spLocks noGrp="1"/>
          </p:cNvSpPr>
          <p:nvPr>
            <p:ph type="sldNum" sz="quarter" idx="10"/>
          </p:nvPr>
        </p:nvSpPr>
        <p:spPr/>
        <p:txBody>
          <a:bodyPr/>
          <a:lstStyle/>
          <a:p>
            <a:fld id="{526449DF-6A4E-0F44-93F6-0E0E7FB4F4CC}"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five most impactful bugs we found. The importance ratio bug was the showstopper — it made training diverge in one step. The log_probs mean vs sum bug meant the policy gradient was length-normalized, so short and long responses contributed equally regardless of sequence probability. The checkpoint bug only manifests on multi-node — local_rank 0 exists on every node, but only global rank 0 should save. The vLLM deadlock taught us that vLLM and NCCL can’t coexist in the same process. And the clamped KL was giving zero penalty 99% of the time because the naive log ratio was slightly negative at low learning rates.</a:t>
            </a:r>
          </a:p>
        </p:txBody>
      </p:sp>
      <p:sp>
        <p:nvSpPr>
          <p:cNvPr id="4" name="Slide Number Placeholder 3"/>
          <p:cNvSpPr>
            <a:spLocks noGrp="1"/>
          </p:cNvSpPr>
          <p:nvPr>
            <p:ph type="sldNum" sz="quarter" idx="10"/>
          </p:nvPr>
        </p:nvSpPr>
        <p:spPr/>
        <p:txBody>
          <a:bodyPr/>
          <a:lstStyle/>
          <a:p>
            <a:fld id="{526449DF-6A4E-0F44-93F6-0E0E7FB4F4CC}"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After 12 hours of debugging the custom trainer, we switched to veRL. The architecture is fundamentally different — every GPU runs all roles by cycling through phases. No separate vLLM pod, no HTTP weight sync, no memory fragmentation from dedicated roles. veRL manages GPU memory by loading and unloading models between phases. The ref model lives on CPU and only comes to GPU briefly for log prob computation.</a:t>
            </a:r>
          </a:p>
        </p:txBody>
      </p:sp>
      <p:sp>
        <p:nvSpPr>
          <p:cNvPr id="4" name="Slide Number Placeholder 3"/>
          <p:cNvSpPr>
            <a:spLocks noGrp="1"/>
          </p:cNvSpPr>
          <p:nvPr>
            <p:ph type="sldNum" sz="quarter" idx="10"/>
          </p:nvPr>
        </p:nvSpPr>
        <p:spPr/>
        <p:txBody>
          <a:bodyPr/>
          <a:lstStyle/>
          <a:p>
            <a:fld id="{526449DF-6A4E-0F44-93F6-0E0E7FB4F4CC}"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step takes about 70 seconds for 2,048 sequences. Generation is 19 seconds using vLLM engines on all 16 GPUs in parallel. The actor update dominates at 39 seconds — that’s the FSDP training forward and backward pass. Ref log probs take 5 seconds — the ref model is offloaded to CPU between steps and loaded back for this phase. Reward is trivial at 0.6 seconds — just CPU string matching. The key insight is zero-copy weight resharding between the FSDP actor and the vLLM engine — no serialization or network transfer needed.</a:t>
            </a:r>
          </a:p>
        </p:txBody>
      </p:sp>
      <p:sp>
        <p:nvSpPr>
          <p:cNvPr id="4" name="Slide Number Placeholder 3"/>
          <p:cNvSpPr>
            <a:spLocks noGrp="1"/>
          </p:cNvSpPr>
          <p:nvPr>
            <p:ph type="sldNum" sz="quarter" idx="10"/>
          </p:nvPr>
        </p:nvSpPr>
        <p:spPr/>
        <p:txBody>
          <a:bodyPr/>
          <a:lstStyle/>
          <a:p>
            <a:fld id="{526449DF-6A4E-0F44-93F6-0E0E7FB4F4CC}"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training curve for Qwen2.5-1.5B. Reward climbs steadily from near zero to about 65-70% over 29 steps. The validation reward at step 20 was 72.3% and at step 29 was 72.7% — the model had essentially converged. Total training time was 35 minutes for one full epoch of GSM8K. Compare this to the custom trainer which couldn’t even finish one epoch in 26 hours.</a:t>
            </a:r>
          </a:p>
        </p:txBody>
      </p:sp>
      <p:sp>
        <p:nvSpPr>
          <p:cNvPr id="4" name="Slide Number Placeholder 3"/>
          <p:cNvSpPr>
            <a:spLocks noGrp="1"/>
          </p:cNvSpPr>
          <p:nvPr>
            <p:ph type="sldNum" sz="quarter" idx="10"/>
          </p:nvPr>
        </p:nvSpPr>
        <p:spPr/>
        <p:txBody>
          <a:bodyPr/>
          <a:lstStyle/>
          <a:p>
            <a:fld id="{526449DF-6A4E-0F44-93F6-0E0E7FB4F4CC}"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eval was done on 200 random test problems with greedy decoding using the same chat template as training. Base model gets 14.5% — it can actually do math (56% with a non-chat prompt) but doesn’t know the chat format. After GRPO training, it scores 77% — the model learned both the format and improved its reasoning. The 2.3% initial validation is lower than 14.5% because it was measured before any training with a slightly different eval setup. KL stayed very low throughout — 0.0007 at step 3, never spiking. veRL’s implementation is rock solid.</a:t>
            </a:r>
          </a:p>
        </p:txBody>
      </p:sp>
      <p:sp>
        <p:nvSpPr>
          <p:cNvPr id="4" name="Slide Number Placeholder 3"/>
          <p:cNvSpPr>
            <a:spLocks noGrp="1"/>
          </p:cNvSpPr>
          <p:nvPr>
            <p:ph type="sldNum" sz="quarter" idx="10"/>
          </p:nvPr>
        </p:nvSpPr>
        <p:spPr/>
        <p:txBody>
          <a:bodyPr/>
          <a:lstStyle/>
          <a:p>
            <a:fld id="{526449DF-6A4E-0F44-93F6-0E0E7FB4F4CC}" type="slidenum">
              <a:rPr lang="en-US"/>
              <a:t>25</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7B model is dramatically faster at learning. It went from 14.3% to 88% validation accuracy in just 10 steps — about 83 minutes of training. By step 9 it was already at 88.8% training reward and essentially saturated. The remaining steps from 10 to 19 just oscillated between 83 and 88%. Unfortunately our GPU capacity block expired after step 19, one step before the checkpoint save at step 20. We’ve since changed the save frequency to every 10 steps. Each step takes about 502 seconds — 7x slower than 1.5B because the model is bigger and we had to halve the batch size to fit in memory.</a:t>
            </a:r>
          </a:p>
        </p:txBody>
      </p:sp>
      <p:sp>
        <p:nvSpPr>
          <p:cNvPr id="4" name="Slide Number Placeholder 3"/>
          <p:cNvSpPr>
            <a:spLocks noGrp="1"/>
          </p:cNvSpPr>
          <p:nvPr>
            <p:ph type="sldNum" sz="quarter" idx="10"/>
          </p:nvPr>
        </p:nvSpPr>
        <p:spPr/>
        <p:txBody>
          <a:bodyPr/>
          <a:lstStyle/>
          <a:p>
            <a:fld id="{526449DF-6A4E-0F44-93F6-0E0E7FB4F4CC}" type="slidenum">
              <a:rPr lang="en-US"/>
              <a:t>27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models start at roughly the same baseline — about 14% accuracy. But the 7B model reaches 70% in just 7 steps versus 20 for the 1.5B, and peaks at 88% versus 77%. The larger model has more capacity to represent complex reasoning patterns. The tradeoff is wall-clock time per step — 502 seconds versus 70 seconds — because the 7B model needs more memory (halving the batch size) and more compute for forward and backward passes. In total wall-clock time, the 7B took about 83 minutes to reach 88% while the 1.5B took 35 minutes to reach 77%.</a:t>
            </a:r>
          </a:p>
        </p:txBody>
      </p:sp>
      <p:sp>
        <p:nvSpPr>
          <p:cNvPr id="4" name="Slide Number Placeholder 3"/>
          <p:cNvSpPr>
            <a:spLocks noGrp="1"/>
          </p:cNvSpPr>
          <p:nvPr>
            <p:ph type="sldNum" sz="quarter" idx="10"/>
          </p:nvPr>
        </p:nvSpPr>
        <p:spPr/>
        <p:txBody>
          <a:bodyPr/>
          <a:lstStyle/>
          <a:p>
            <a:fld id="{526449DF-6A4E-0F44-93F6-0E0E7FB4F4CC}" type="slidenum">
              <a:rPr lang="en-US"/>
              <a:t>29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45x throughput difference comes from three things. First, colocated vLLM eliminates the 22-second HTTP weight sync. Second, veRL’s phase-based memory management lets it fit 256 prompts per batch versus our 4 — that’s 64x more sequences per step. Third, all 16 GPUs run vLLM in parallel during generation versus our single dedicated GPU. The custom trainer was invaluable for understanding the internals — we wouldn’t have appreciated veRL’s design without struggling through those 5 attempts. But for production training, there’s no contest.</a:t>
            </a:r>
          </a:p>
        </p:txBody>
      </p:sp>
      <p:sp>
        <p:nvSpPr>
          <p:cNvPr id="4" name="Slide Number Placeholder 3"/>
          <p:cNvSpPr>
            <a:spLocks noGrp="1"/>
          </p:cNvSpPr>
          <p:nvPr>
            <p:ph type="sldNum" sz="quarter" idx="10"/>
          </p:nvPr>
        </p:nvSpPr>
        <p:spPr/>
        <p:txBody>
          <a:bodyPr/>
          <a:lstStyle/>
          <a:p>
            <a:fld id="{526449DF-6A4E-0F44-93F6-0E0E7FB4F4CC}" type="slidenum">
              <a:rPr lang="en-US"/>
              <a:t>31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runs on EKS in us-east-1. The GPU nodes are p4d.24xlarge instances with 8 A100 40GB GPUs each, connected via EFA for fast NCCL communication. We use capacity blocks for the GPU instances since they’re expensive — about $32/hr per node. CPU nodes run the monitoring stack and environment service. KubeRay manages the Ray cluster for veRL. All infrastructure is Terraform-managed — no manual kubectl or console changes for persistent resources.</a:t>
            </a:r>
          </a:p>
        </p:txBody>
      </p:sp>
      <p:sp>
        <p:nvSpPr>
          <p:cNvPr id="4" name="Slide Number Placeholder 3"/>
          <p:cNvSpPr>
            <a:spLocks noGrp="1"/>
          </p:cNvSpPr>
          <p:nvPr>
            <p:ph type="sldNum" sz="quarter" idx="10"/>
          </p:nvPr>
        </p:nvSpPr>
        <p:spPr/>
        <p:txBody>
          <a:bodyPr/>
          <a:lstStyle/>
          <a:p>
            <a:fld id="{526449DF-6A4E-0F44-93F6-0E0E7FB4F4CC}" type="slidenum">
              <a:rPr lang="en-US"/>
              <a:t>32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Observability was critical — GPU training pods are ephemeral and expensive, so we needed metrics to persist independently. A sidecar Python script on the Ray head pod parses the veRL worker log in real time and exposes metrics via the Prometheus client library on port 9090. A PodMonitor tells Prometheus to scrape it. The Grafana dashboard is auto-provisioned via a ConfigMap so it survives pod restarts. This is how we captured all the 7B training metrics even after the capacity block expired and the pods died.</a:t>
            </a:r>
          </a:p>
        </p:txBody>
      </p:sp>
      <p:sp>
        <p:nvSpPr>
          <p:cNvPr id="4" name="Slide Number Placeholder 3"/>
          <p:cNvSpPr>
            <a:spLocks noGrp="1"/>
          </p:cNvSpPr>
          <p:nvPr>
            <p:ph type="sldNum" sz="quarter" idx="10"/>
          </p:nvPr>
        </p:nvSpPr>
        <p:spPr/>
        <p:txBody>
          <a:bodyPr/>
          <a:lstStyle/>
          <a:p>
            <a:fld id="{526449DF-6A4E-0F44-93F6-0E0E7FB4F4CC}" type="slidenum">
              <a:rPr lang="en-US"/>
              <a:t>33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actual Grafana dashboard from the 7B training run. You can see reward climbing rapidly in the first 10 steps then plateauing, KL staying stable throughout, step time rock-steady at 502 seconds, and GPU memory utilization near maximum. The dashboard auto-refreshes and was our primary monitoring tool during training — we could check progress from anywhere without needing kubectl access.</a:t>
            </a:r>
          </a:p>
        </p:txBody>
      </p:sp>
      <p:sp>
        <p:nvSpPr>
          <p:cNvPr id="4" name="Slide Number Placeholder 3"/>
          <p:cNvSpPr>
            <a:spLocks noGrp="1"/>
          </p:cNvSpPr>
          <p:nvPr>
            <p:ph type="sldNum" sz="quarter" idx="10"/>
          </p:nvPr>
        </p:nvSpPr>
        <p:spPr/>
        <p:txBody>
          <a:bodyPr/>
          <a:lstStyle/>
          <a:p>
            <a:fld id="{526449DF-6A4E-0F44-93F6-0E0E7FB4F4CC}" type="slidenum">
              <a:rPr lang="en-US"/>
              <a:t>34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I had to pick the top takeaway, it’s that batch size matters more than anything else for RL training stability. Our custom trainer with 32 sequences per step had wildly noisy rewards — the signal was there but buried in variance. veRL with 2,048 sequences per step showed smooth, monotonic improvement. The per-token ratio bug was the most educational — it’s the kind of thing that’s obvious in hindsight but cost us hours to diagnose. And the RL result itself is remarkable: a 1.5 billion parameter model goes from barely solving any math problems to getting 77% right, just from a binary reward signal.</a:t>
            </a:r>
          </a:p>
        </p:txBody>
      </p:sp>
      <p:sp>
        <p:nvSpPr>
          <p:cNvPr id="4" name="Slide Number Placeholder 3"/>
          <p:cNvSpPr>
            <a:spLocks noGrp="1"/>
          </p:cNvSpPr>
          <p:nvPr>
            <p:ph type="sldNum" sz="quarter" idx="10"/>
          </p:nvPr>
        </p:nvSpPr>
        <p:spPr/>
        <p:txBody>
          <a:bodyPr/>
          <a:lstStyle/>
          <a:p>
            <a:fld id="{526449DF-6A4E-0F44-93F6-0E0E7FB4F4CC}" type="slidenum">
              <a:rPr lang="en-US"/>
              <a:t>35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summarize: we took two small language models that could barely solve grade-school math and trained them to 77% and 88% accuracy using only a binary reward signal — no human-written solutions. The 1.5B model trained in 35 minutes, the 7B in about 83 minutes. Building the custom trainer taught us how GRPO works at every level, but veRL is what made the actual training feasible. The code for the custom trainer is about 800 lines; the veRL config is about 50 lines. Both are in the repo if you want to explore.</a:t>
            </a:r>
          </a:p>
        </p:txBody>
      </p:sp>
      <p:sp>
        <p:nvSpPr>
          <p:cNvPr id="4" name="Slide Number Placeholder 3"/>
          <p:cNvSpPr>
            <a:spLocks noGrp="1"/>
          </p:cNvSpPr>
          <p:nvPr>
            <p:ph type="sldNum" sz="quarter" idx="10"/>
          </p:nvPr>
        </p:nvSpPr>
        <p:spPr/>
        <p:txBody>
          <a:bodyPr/>
          <a:lstStyle/>
          <a:p>
            <a:fld id="{526449DF-6A4E-0F44-93F6-0E0E7FB4F4CC}" type="slidenum">
              <a:rPr lang="en-US"/>
              <a:t>37</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0.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Color set 1 - bar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C59D3C-F265-A7AD-B75C-9AB19FCED49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5" name="TextBox 4">
            <a:extLst>
              <a:ext uri="{FF2B5EF4-FFF2-40B4-BE49-F238E27FC236}">
                <a16:creationId xmlns:a16="http://schemas.microsoft.com/office/drawing/2014/main" id="{A3C4862A-6AB7-E467-D991-630FEA6FDD6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7" name="Text Placeholder 7">
            <a:extLst>
              <a:ext uri="{FF2B5EF4-FFF2-40B4-BE49-F238E27FC236}">
                <a16:creationId xmlns:a16="http://schemas.microsoft.com/office/drawing/2014/main" id="{9808E5A7-4382-4716-425E-13DED85CFDFA}"/>
              </a:ext>
            </a:extLst>
          </p:cNvPr>
          <p:cNvSpPr>
            <a:spLocks noGrp="1"/>
          </p:cNvSpPr>
          <p:nvPr>
            <p:ph type="body" sz="quarter" idx="10" hasCustomPrompt="1"/>
          </p:nvPr>
        </p:nvSpPr>
        <p:spPr>
          <a:xfrm>
            <a:off x="457199" y="1297064"/>
            <a:ext cx="4186860"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pic>
        <p:nvPicPr>
          <p:cNvPr id="6" name="Picture 5">
            <a:extLst>
              <a:ext uri="{FF2B5EF4-FFF2-40B4-BE49-F238E27FC236}">
                <a16:creationId xmlns:a16="http://schemas.microsoft.com/office/drawing/2014/main" id="{FA47757C-0DDD-451F-5FA6-599FEA16EA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9508451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Color set 1 - dot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BF9A62-7E9C-9155-60B3-DE1EBCCA623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700B2890-FFC0-70FD-D6C2-F77566C0A1AD}"/>
              </a:ext>
            </a:extLst>
          </p:cNvPr>
          <p:cNvSpPr>
            <a:spLocks noGrp="1"/>
          </p:cNvSpPr>
          <p:nvPr>
            <p:ph type="ctrTitle" hasCustomPrompt="1"/>
          </p:nvPr>
        </p:nvSpPr>
        <p:spPr>
          <a:xfrm>
            <a:off x="457199" y="1594619"/>
            <a:ext cx="363523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90619C3E-FFEE-8653-760C-8C7C7487DBD8}"/>
              </a:ext>
            </a:extLst>
          </p:cNvPr>
          <p:cNvSpPr>
            <a:spLocks noGrp="1"/>
          </p:cNvSpPr>
          <p:nvPr>
            <p:ph type="subTitle" idx="1" hasCustomPrompt="1"/>
          </p:nvPr>
        </p:nvSpPr>
        <p:spPr>
          <a:xfrm>
            <a:off x="457199" y="2180040"/>
            <a:ext cx="3635238"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8" name="Text Placeholder 7">
            <a:extLst>
              <a:ext uri="{FF2B5EF4-FFF2-40B4-BE49-F238E27FC236}">
                <a16:creationId xmlns:a16="http://schemas.microsoft.com/office/drawing/2014/main" id="{CE52E65A-C3A6-A324-9DBD-1692BC9C1317}"/>
              </a:ext>
            </a:extLst>
          </p:cNvPr>
          <p:cNvSpPr>
            <a:spLocks noGrp="1"/>
          </p:cNvSpPr>
          <p:nvPr>
            <p:ph type="body" sz="quarter" idx="10" hasCustomPrompt="1"/>
          </p:nvPr>
        </p:nvSpPr>
        <p:spPr>
          <a:xfrm>
            <a:off x="457199" y="1297064"/>
            <a:ext cx="2688536"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a:t>
            </a:r>
          </a:p>
        </p:txBody>
      </p:sp>
      <p:pic>
        <p:nvPicPr>
          <p:cNvPr id="5" name="Picture 4">
            <a:extLst>
              <a:ext uri="{FF2B5EF4-FFF2-40B4-BE49-F238E27FC236}">
                <a16:creationId xmlns:a16="http://schemas.microsoft.com/office/drawing/2014/main" id="{B99FD7A6-4AE3-CF7B-0ECD-9361728BB1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5703163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44AEEB-00A1-474B-00D0-DDD5D300C84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84FD1530-6EEE-43D2-6940-FBA7AEDC12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938534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Color set 1 - block comp 1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91FE67-1AE0-7E15-D9C8-0DE34C45636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8" name="Text Placeholder 7">
            <a:extLst>
              <a:ext uri="{FF2B5EF4-FFF2-40B4-BE49-F238E27FC236}">
                <a16:creationId xmlns:a16="http://schemas.microsoft.com/office/drawing/2014/main" id="{6DD5150A-FE86-8152-87B7-C2D70ED254F4}"/>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6" name="Title 1">
            <a:extLst>
              <a:ext uri="{FF2B5EF4-FFF2-40B4-BE49-F238E27FC236}">
                <a16:creationId xmlns:a16="http://schemas.microsoft.com/office/drawing/2014/main" id="{981C8688-9D6A-BF10-BEBC-3DA5A5B84785}"/>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4D90A8D5-E35A-9FD5-25B5-058F97314BF1}"/>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DAEC8D7-9550-DA01-906E-36D45D26FF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4641929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5D8C6-5936-75B2-41A8-B08B5980319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
            <a:ext cx="9148572" cy="5148752"/>
          </a:xfrm>
          <a:prstGeom prst="rect">
            <a:avLst/>
          </a:prstGeom>
        </p:spPr>
      </p:pic>
      <p:sp>
        <p:nvSpPr>
          <p:cNvPr id="7" name="Text Placeholder 7">
            <a:extLst>
              <a:ext uri="{FF2B5EF4-FFF2-40B4-BE49-F238E27FC236}">
                <a16:creationId xmlns:a16="http://schemas.microsoft.com/office/drawing/2014/main" id="{17010478-7631-CBAD-ABD2-DCE97BFB28B2}"/>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3" name="Title 1">
            <a:extLst>
              <a:ext uri="{FF2B5EF4-FFF2-40B4-BE49-F238E27FC236}">
                <a16:creationId xmlns:a16="http://schemas.microsoft.com/office/drawing/2014/main" id="{6286DE92-7E05-482B-31B6-63F3987E2BEC}"/>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5" name="Subtitle 2">
            <a:extLst>
              <a:ext uri="{FF2B5EF4-FFF2-40B4-BE49-F238E27FC236}">
                <a16:creationId xmlns:a16="http://schemas.microsoft.com/office/drawing/2014/main" id="{DD1DD255-6821-0604-B98A-AB7C9ACF2D66}"/>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40431ED6-FE83-50D2-06F3-150432084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0563544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 Color set 1 - block comp 1o">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96C1A4-0164-737C-156C-71FDB46C67C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8" name="Text Placeholder 7">
            <a:extLst>
              <a:ext uri="{FF2B5EF4-FFF2-40B4-BE49-F238E27FC236}">
                <a16:creationId xmlns:a16="http://schemas.microsoft.com/office/drawing/2014/main" id="{AC3D8AEC-AADD-513C-C405-9D1744F2445D}"/>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5" name="Title 1">
            <a:extLst>
              <a:ext uri="{FF2B5EF4-FFF2-40B4-BE49-F238E27FC236}">
                <a16:creationId xmlns:a16="http://schemas.microsoft.com/office/drawing/2014/main" id="{7E038297-A4B2-A0C4-B665-94BC8F287A2E}"/>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7" name="Subtitle 2">
            <a:extLst>
              <a:ext uri="{FF2B5EF4-FFF2-40B4-BE49-F238E27FC236}">
                <a16:creationId xmlns:a16="http://schemas.microsoft.com/office/drawing/2014/main" id="{2FD4FB41-C35A-3647-E2E1-C3F4E51A4E18}"/>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C4996EC-600B-1977-F90F-35032F94532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4542671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2876E5-AA9E-A119-66B7-401EA470EE6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9" name="Text Placeholder 7">
            <a:extLst>
              <a:ext uri="{FF2B5EF4-FFF2-40B4-BE49-F238E27FC236}">
                <a16:creationId xmlns:a16="http://schemas.microsoft.com/office/drawing/2014/main" id="{2A7D6578-A595-2995-11FE-3C12B029D2FB}"/>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7" name="Title 1">
            <a:extLst>
              <a:ext uri="{FF2B5EF4-FFF2-40B4-BE49-F238E27FC236}">
                <a16:creationId xmlns:a16="http://schemas.microsoft.com/office/drawing/2014/main" id="{46AF514D-A502-E187-8F58-81F671E3C3D5}"/>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18" name="Subtitle 2">
            <a:extLst>
              <a:ext uri="{FF2B5EF4-FFF2-40B4-BE49-F238E27FC236}">
                <a16:creationId xmlns:a16="http://schemas.microsoft.com/office/drawing/2014/main" id="{BA69EC84-44BB-6261-9294-72DDBB1267A5}"/>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705A4E8-FE68-855C-8B74-2B3C7E24FF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296646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 Color set 1 - block comp 2h">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DBA8FA-1DDD-F8BE-38DD-420B3FF2963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1" name="Text Placeholder 7">
            <a:extLst>
              <a:ext uri="{FF2B5EF4-FFF2-40B4-BE49-F238E27FC236}">
                <a16:creationId xmlns:a16="http://schemas.microsoft.com/office/drawing/2014/main" id="{53A0A336-7F82-18AB-F951-1CA3F4396F15}"/>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8" name="Title 1">
            <a:extLst>
              <a:ext uri="{FF2B5EF4-FFF2-40B4-BE49-F238E27FC236}">
                <a16:creationId xmlns:a16="http://schemas.microsoft.com/office/drawing/2014/main" id="{F530141D-1716-8772-4FBD-0591A9B0856E}"/>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A23947B2-F125-5BD0-E29F-192A2540439E}"/>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35A8C35F-4DFD-1FC6-9FC4-4975D7E6A8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7900154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A244FF-AEB3-7746-A476-22D4D31681D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79C0F65C-0207-5277-70D2-B3FF6265C0A2}"/>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8" name="Title 1">
            <a:extLst>
              <a:ext uri="{FF2B5EF4-FFF2-40B4-BE49-F238E27FC236}">
                <a16:creationId xmlns:a16="http://schemas.microsoft.com/office/drawing/2014/main" id="{30D99941-30E1-F4B8-528D-F9E88C5398A0}"/>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C79B4E2E-7E76-FBD4-6CF5-43AE0378F47C}"/>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1E89007-7EC8-B366-1E16-47FC500E8D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2239219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 Color set 1 - block comp 3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84656-3D7A-D93F-5279-2648F3124BF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941DE94E-24A2-25CD-D46E-F6E5F66EF1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4184748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24F378-10ED-B568-A9ED-561B9CA470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126FAB92-E2D3-DED9-A745-362ED13BBE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9385638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1704F0-AF1C-C83A-9643-B6E8BD2E591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1"/>
            <a:ext cx="9148572" cy="5148753"/>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r>
              <a:rPr lang="en-US" dirty="0"/>
              <a:t>Speaker job title</a:t>
            </a:r>
            <a:br>
              <a:rPr lang="en-US" dirty="0"/>
            </a:br>
            <a:r>
              <a:rPr lang="en-US"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132674C5-955D-D06A-01D3-DBA70D8404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2314380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457200" y="1285875"/>
            <a:ext cx="8229600" cy="2518638"/>
          </a:xfrm>
        </p:spPr>
        <p:txBody>
          <a:bodyPr/>
          <a:lstStyle>
            <a:lvl1pPr marL="0" indent="0">
              <a:spcAft>
                <a:spcPts val="2250"/>
              </a:spcAft>
              <a:buNone/>
              <a:defRPr sz="1800"/>
            </a:lvl1pPr>
            <a:lvl2pPr marL="0" indent="0">
              <a:spcAft>
                <a:spcPts val="2250"/>
              </a:spcAft>
              <a:buNone/>
              <a:defRPr sz="1800"/>
            </a:lvl2pPr>
            <a:lvl3pPr marL="0" indent="0">
              <a:spcAft>
                <a:spcPts val="2250"/>
              </a:spcAft>
              <a:buNone/>
              <a:defRPr sz="1800"/>
            </a:lvl3pPr>
            <a:lvl4pPr marL="0" indent="0">
              <a:spcAft>
                <a:spcPts val="2250"/>
              </a:spcAft>
              <a:buNone/>
              <a:defRPr sz="1800"/>
            </a:lvl4pPr>
            <a:lvl5pPr marL="0" indent="0">
              <a:spcAft>
                <a:spcPts val="2250"/>
              </a:spcAft>
              <a:buNone/>
              <a:defRPr sz="18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4052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3987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C5EF2332-01BF-834F-8236-50238282D533}" type="slidenum">
              <a:rPr lang="en-US" smtClean="0"/>
              <a:t>‹#›</a:t>
            </a:fld>
            <a:endParaRPr lang="en-US"/>
          </a:p>
        </p:txBody>
      </p:sp>
      <p:pic>
        <p:nvPicPr>
          <p:cNvPr id="9" name="Picture 8">
            <a:extLst>
              <a:ext uri="{FF2B5EF4-FFF2-40B4-BE49-F238E27FC236}">
                <a16:creationId xmlns:a16="http://schemas.microsoft.com/office/drawing/2014/main" id="{84C10CAA-001C-4D0F-BB74-F1ACD384CD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268138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Color set 1 - gradient ">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5DB2D0-5F77-04C0-2EEB-C0A3EBDE64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0127CCF7-62E4-28AF-9A1A-75F395CB218E}"/>
              </a:ext>
            </a:extLst>
          </p:cNvPr>
          <p:cNvSpPr>
            <a:spLocks noGrp="1"/>
          </p:cNvSpPr>
          <p:nvPr>
            <p:ph type="title" hasCustomPrompt="1"/>
          </p:nvPr>
        </p:nvSpPr>
        <p:spPr>
          <a:xfrm>
            <a:off x="457200" y="685801"/>
            <a:ext cx="5796643"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59CCB08E-27A5-819C-8D86-6F9F0C8DB9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575347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 Color set 1 - bar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6E677-D1C5-41E6-B3CE-AC80B7D7D6D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F59A860-C1F5-7D46-E706-D9EE50AED9B9}"/>
              </a:ext>
            </a:extLst>
          </p:cNvPr>
          <p:cNvSpPr>
            <a:spLocks noGrp="1"/>
          </p:cNvSpPr>
          <p:nvPr>
            <p:ph type="title" hasCustomPrompt="1"/>
          </p:nvPr>
        </p:nvSpPr>
        <p:spPr>
          <a:xfrm>
            <a:off x="457201" y="685801"/>
            <a:ext cx="5446643"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0A32FEC2-CD43-9A1D-850C-D33363A5316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568127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 Color set 1 - ba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F00E64-3299-BF8F-E232-ACAC613B2D3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F273C913-FA12-0C9D-9A6C-69A370C161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698674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 Color set 1 - dot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B3CAF-A6C8-712D-FE81-25FA661C5AE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F62B1E24-2F55-DBDC-1AA7-EE409766855D}"/>
              </a:ext>
            </a:extLst>
          </p:cNvPr>
          <p:cNvSpPr>
            <a:spLocks noGrp="1"/>
          </p:cNvSpPr>
          <p:nvPr>
            <p:ph type="title" hasCustomPrompt="1"/>
          </p:nvPr>
        </p:nvSpPr>
        <p:spPr>
          <a:xfrm>
            <a:off x="457201" y="685801"/>
            <a:ext cx="4000500"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57657C1D-C5E0-8A3C-7184-64DE6E94F0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0817597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 Color set 1 - dot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418C3E-D427-F0CF-1F30-E153B940F9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2680"/>
            <a:ext cx="9148572" cy="5151438"/>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1CA97AF2-8059-54E2-1070-AF2D3AB233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5862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Color set 1 - block comp 1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ED2B19-4EA4-DF59-649D-5480EC3E37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A39946F0-A185-FFF4-1D0B-E2D40EEE1A30}"/>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AAF109FF-18BA-C1AC-F51D-AEA75A47CB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687497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Color set 1 - block comp 1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B69425-1C76-F52F-215F-A4216A65EB7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345CEBBA-CDF9-4014-F7E7-25A178581A26}"/>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5F17F4-AB3B-042C-E36E-BB7F9C93E5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9006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Color set 1 - block comp 1o">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687ECE-B521-25A2-FDD7-C7E402C3E1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CEF94B4-4224-A713-F6C8-8FBCFAE5146D}"/>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B56BC946-55CB-19F8-8CDB-FA330BC76D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245893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 Color set 1 - block comp 2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58375B-14F6-0E1C-8297-1B701C9D56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ECFCAD08-F689-789A-EE02-7CC506A2A566}"/>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674BAB9-5F93-BB2C-DA4A-D7EDAE69CFA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158375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Color set 1 - block comp 2h">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2F5ECD-5B30-B738-2159-D146758FF00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DC37B6B4-020D-0BAF-B7FE-C90B47997B59}"/>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7C18B519-60F8-B5C1-A0C6-F58DB0421C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706768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29408D-A949-4A1A-DF4A-2B019C0B17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E9B376F5-8CCD-AA97-FB36-9BAD6123AF3F}"/>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BDE3FA7-1791-D3A3-D96C-9C74F72693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06719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B33242-4FD7-7FCC-DEF5-EA03551FB20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C58ED315-393E-6E3B-DDFB-3197CB48F1DF}"/>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21AB80-E24D-D01E-BD70-DF9E8160ED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385676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4DA22B-B4F2-E7A5-BDC1-7D10FCFD22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17B544F4-F988-1428-A7FD-1466264319EA}"/>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FA1F2C71-7BF8-DD8C-F2E4-EAE7563EFF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844377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C9E345-A6C7-7325-7526-E8F1D12F0A9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899602F3-48CC-1CEE-0535-D845FE351B0E}"/>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1DD394C1-6A05-5FE3-F7C4-E5A87B406E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7665034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r>
              <a:rPr lang="en-US" dirty="0"/>
              <a:t>Enter subtitle</a:t>
            </a:r>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97901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406E-49D4-4042-B360-7083D5E4FCA5}"/>
              </a:ext>
            </a:extLst>
          </p:cNvPr>
          <p:cNvSpPr>
            <a:spLocks noGrp="1"/>
          </p:cNvSpPr>
          <p:nvPr>
            <p:ph type="title" hasCustomPrompt="1"/>
          </p:nvPr>
        </p:nvSpPr>
        <p:spPr>
          <a:xfrm>
            <a:off x="457200" y="-487372"/>
            <a:ext cx="8229600" cy="424732"/>
          </a:xfrm>
        </p:spPr>
        <p:txBody>
          <a:bodyPr/>
          <a:lstStyle>
            <a:lvl1pPr>
              <a:defRPr/>
            </a:lvl1pPr>
          </a:lstStyle>
          <a:p>
            <a:r>
              <a:rPr lang="en-US" dirty="0"/>
              <a:t>Enter unique title of slide for accessibility</a:t>
            </a:r>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10934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7749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675843"/>
          </a:xfrm>
        </p:spPr>
        <p:txBody>
          <a:bodyPr/>
          <a:lstStyle>
            <a:lvl1pPr>
              <a:defRPr/>
            </a:lvl1pPr>
            <a:lvl5pPr>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71547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content layout</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r>
              <a:rPr lang="en-US" dirty="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00200"/>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7088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bulleted content layout</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457200" y="1092776"/>
            <a:ext cx="8229600" cy="216982"/>
          </a:xfrm>
        </p:spPr>
        <p:txBody>
          <a:bodyPr/>
          <a:lstStyle>
            <a:lvl1pPr marL="0" indent="0">
              <a:buNone/>
              <a:defRPr sz="900" b="1" i="0" cap="all" spc="225" baseline="0"/>
            </a:lvl1pPr>
          </a:lstStyle>
          <a:p>
            <a:pPr lvl="0"/>
            <a:r>
              <a:rPr lang="en-US" dirty="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485900"/>
            <a:ext cx="8229600" cy="1675843"/>
          </a:xfrm>
        </p:spPr>
        <p:txBody>
          <a:bodyPr/>
          <a:lstStyle>
            <a:lvl1pPr>
              <a:defRPr/>
            </a:lvl1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753216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457200" y="685801"/>
            <a:ext cx="4000500" cy="757130"/>
          </a:xfrm>
        </p:spPr>
        <p:txBody>
          <a:bodyPr/>
          <a:lstStyle>
            <a:lvl1pPr>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28776"/>
            <a:ext cx="4000500" cy="1095428"/>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r>
              <a:rPr lang="en-US" dirty="0"/>
              <a:t>Enter text</a:t>
            </a:r>
          </a:p>
          <a:p>
            <a:pPr lvl="1"/>
            <a:r>
              <a:rPr lang="en-US" dirty="0"/>
              <a:t>Second level</a:t>
            </a:r>
          </a:p>
          <a:p>
            <a:pPr lvl="2"/>
            <a:r>
              <a:rPr lang="en-US" dirty="0"/>
              <a:t>Third level</a:t>
            </a:r>
          </a:p>
        </p:txBody>
      </p:sp>
      <p:sp>
        <p:nvSpPr>
          <p:cNvPr id="5" name="Picture Placeholder 4">
            <a:extLst>
              <a:ext uri="{FF2B5EF4-FFF2-40B4-BE49-F238E27FC236}">
                <a16:creationId xmlns:a16="http://schemas.microsoft.com/office/drawing/2014/main" id="{F3B2582F-3FE9-42AC-8572-5C27E1A8E55F}"/>
              </a:ext>
            </a:extLst>
          </p:cNvPr>
          <p:cNvSpPr>
            <a:spLocks noGrp="1"/>
          </p:cNvSpPr>
          <p:nvPr>
            <p:ph type="pic" sz="quarter" idx="10" hasCustomPrompt="1"/>
          </p:nvPr>
        </p:nvSpPr>
        <p:spPr>
          <a:xfrm>
            <a:off x="4686300" y="0"/>
            <a:ext cx="4457700" cy="5143500"/>
          </a:xfrm>
        </p:spPr>
        <p:txBody>
          <a:bodyPr anchor="ctr">
            <a:noAutofit/>
          </a:bodyPr>
          <a:lstStyle>
            <a:lvl1pPr marL="0" indent="0" algn="ctr">
              <a:buNone/>
              <a:defRPr/>
            </a:lvl1pPr>
          </a:lstStyle>
          <a:p>
            <a:r>
              <a:rPr lang="en-US" dirty="0"/>
              <a:t>Click (or paste) to insert picture</a:t>
            </a:r>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6007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4"/>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1037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750594"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750594"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 or click icon to add media</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22066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 or click icon to add media</a:t>
            </a:r>
          </a:p>
          <a:p>
            <a:pPr lvl="1"/>
            <a:r>
              <a:rPr lang="en-US" dirty="0"/>
              <a:t>Second level</a:t>
            </a:r>
          </a:p>
          <a:p>
            <a:pPr lvl="2"/>
            <a:r>
              <a:rPr lang="en-US" dirty="0"/>
              <a:t>Third level</a:t>
            </a:r>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17456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 and images</a:t>
            </a:r>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125473" y="1165027"/>
            <a:ext cx="1276350" cy="1111448"/>
          </a:xfrm>
        </p:spPr>
        <p:txBody>
          <a:bodyPr>
            <a:noAutofit/>
          </a:bodyPr>
          <a:lstStyle>
            <a:lvl1pPr marL="0" indent="0">
              <a:buNone/>
              <a:defRPr sz="1350"/>
            </a:lvl1pPr>
          </a:lstStyle>
          <a:p>
            <a:r>
              <a:rPr lang="en-US" dirty="0"/>
              <a:t>Click icon to add image</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3933824" y="1165027"/>
            <a:ext cx="1276350" cy="1111448"/>
          </a:xfrm>
        </p:spPr>
        <p:txBody>
          <a:bodyPr>
            <a:noAutofit/>
          </a:bodyPr>
          <a:lstStyle>
            <a:lvl1pPr marL="0" indent="0">
              <a:buNone/>
              <a:defRPr sz="1350"/>
            </a:lvl1pPr>
          </a:lstStyle>
          <a:p>
            <a:r>
              <a:rPr lang="en-US" dirty="0"/>
              <a:t>Click icon to add image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6742176" y="1165027"/>
            <a:ext cx="1276350" cy="1111448"/>
          </a:xfrm>
        </p:spPr>
        <p:txBody>
          <a:bodyPr>
            <a:noAutofit/>
          </a:bodyPr>
          <a:lstStyle>
            <a:lvl1pPr marL="0" indent="0">
              <a:buNone/>
              <a:defRPr sz="1350"/>
            </a:lvl1pPr>
          </a:lstStyle>
          <a:p>
            <a:r>
              <a:rPr lang="en-US" dirty="0"/>
              <a:t>Click icon to add image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01206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260603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260603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475487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475488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6903720"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690372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r>
              <a:rPr lang="en-US" dirty="0"/>
              <a:t>Enter text</a:t>
            </a:r>
          </a:p>
          <a:p>
            <a:pPr lvl="1"/>
            <a:r>
              <a:rPr lang="en-US" dirty="0"/>
              <a:t>Second level</a:t>
            </a:r>
          </a:p>
          <a:p>
            <a:pPr lvl="2"/>
            <a:r>
              <a:rPr lang="en-US" dirty="0"/>
              <a:t>Third level</a:t>
            </a:r>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4834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457200" y="688183"/>
            <a:ext cx="8229600" cy="424732"/>
          </a:xfrm>
        </p:spPr>
        <p:txBody>
          <a:bodyPr anchor="t" anchorCtr="0"/>
          <a:lstStyle>
            <a:lvl1pPr>
              <a:defRPr sz="2400"/>
            </a:lvl1pPr>
          </a:lstStyle>
          <a:p>
            <a:r>
              <a:rPr lang="en-US" dirty="0"/>
              <a:t>Picture with caption layout</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457199" y="1285876"/>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Enter descriptive text here</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4657725" y="1285875"/>
            <a:ext cx="4029075" cy="3371849"/>
          </a:xfrm>
        </p:spPr>
        <p:txBody>
          <a:bodyPr>
            <a:noAutofit/>
          </a:bodyPr>
          <a:lstStyle>
            <a:lvl1pPr marL="0" indent="0">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19087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9144000" cy="5143499"/>
          </a:xfrm>
          <a:solidFill>
            <a:schemeClr val="bg2"/>
          </a:solidFill>
        </p:spPr>
        <p:txBody>
          <a:bodyPr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9EA55C8-9EB1-43B1-BF66-2D7F31D1B84A}"/>
              </a:ext>
            </a:extLst>
          </p:cNvPr>
          <p:cNvSpPr>
            <a:spLocks noGrp="1"/>
          </p:cNvSpPr>
          <p:nvPr>
            <p:ph type="title" hasCustomPrompt="1"/>
          </p:nvPr>
        </p:nvSpPr>
        <p:spPr>
          <a:xfrm>
            <a:off x="457200" y="-468323"/>
            <a:ext cx="8229600" cy="424732"/>
          </a:xfrm>
        </p:spPr>
        <p:txBody>
          <a:bodyPr/>
          <a:lstStyle>
            <a:lvl1pPr>
              <a:defRPr/>
            </a:lvl1pPr>
          </a:lstStyle>
          <a:p>
            <a:r>
              <a:rPr lang="en-US" dirty="0"/>
              <a:t>Enter unique title of slide for accessibility</a:t>
            </a:r>
          </a:p>
        </p:txBody>
      </p:sp>
    </p:spTree>
    <p:extLst>
      <p:ext uri="{BB962C8B-B14F-4D97-AF65-F5344CB8AC3E}">
        <p14:creationId xmlns:p14="http://schemas.microsoft.com/office/powerpoint/2010/main" val="2647016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10475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ustomer logo wall">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r>
              <a:rPr lang="en-US" dirty="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46C53893-C485-985E-FAD5-B4EB7583FF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30545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530419"/>
          </a:xfrm>
        </p:spPr>
        <p:txBody>
          <a:bodyPr/>
          <a:lstStyle>
            <a:lvl1pPr>
              <a:defRPr sz="1800"/>
            </a:lvl1pPr>
            <a:lvl2pPr>
              <a:defRPr sz="1500"/>
            </a:lvl2pPr>
            <a:lvl3pPr>
              <a:defRPr sz="1350"/>
            </a:lvl3pPr>
            <a:lvl4pPr>
              <a:defRPr sz="1200"/>
            </a:lvl4pPr>
            <a:lvl5pPr>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530419"/>
          </a:xfrm>
        </p:spPr>
        <p:txBody>
          <a:bodyPr/>
          <a:lstStyle>
            <a:lvl1pPr>
              <a:defRPr sz="1800"/>
            </a:lvl1pPr>
            <a:lvl2pPr>
              <a:defRPr sz="1500"/>
            </a:lvl2pPr>
            <a:lvl3pPr>
              <a:defRPr sz="1350"/>
            </a:lvl3pPr>
            <a:lvl4pPr>
              <a:defRPr sz="1200"/>
            </a:lvl4pPr>
            <a:lvl5pPr>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45283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subtitle layout</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r>
              <a:rPr lang="en-US" dirty="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0"/>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198"/>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11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subtitle, bullets layout</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r>
              <a:rPr lang="en-US" dirty="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1"/>
            <a:ext cx="3936206" cy="1530419"/>
          </a:xfrm>
        </p:spPr>
        <p:txBody>
          <a:bodyPr/>
          <a:lstStyle>
            <a:lvl1pPr>
              <a:defRPr sz="1800"/>
            </a:lvl1pPr>
            <a:lvl2pPr>
              <a:defRPr sz="1500"/>
            </a:lvl2pPr>
            <a:lvl3pPr>
              <a:defRPr sz="1350"/>
            </a:lvl3pPr>
            <a:lvl4pPr>
              <a:defRPr sz="1200"/>
            </a:lvl4pPr>
            <a:lvl5pPr>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200"/>
            <a:ext cx="3936207" cy="1530419"/>
          </a:xfrm>
        </p:spPr>
        <p:txBody>
          <a:bodyPr/>
          <a:lstStyle>
            <a:lvl1pPr>
              <a:defRPr sz="1800"/>
            </a:lvl1pPr>
            <a:lvl2pPr>
              <a:defRPr sz="1500"/>
            </a:lvl2pPr>
            <a:lvl3pPr>
              <a:defRPr sz="1350"/>
            </a:lvl3pPr>
            <a:lvl4pPr>
              <a:defRPr sz="1200"/>
            </a:lvl4pPr>
            <a:lvl5pPr>
              <a:defRPr sz="12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939924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457200" y="1458316"/>
            <a:ext cx="6050446" cy="1463478"/>
          </a:xfrm>
        </p:spPr>
        <p:txBody>
          <a:bodyPr anchor="b" anchorCtr="0"/>
          <a:lstStyle>
            <a:lvl1pPr>
              <a:defRPr sz="3300"/>
            </a:lvl1pPr>
          </a:lstStyle>
          <a:p>
            <a:r>
              <a:rPr lang="en-US" dirty="0"/>
              <a:t>Enter quote here. Reposition quote mark graphics to frame the quote.</a:t>
            </a:r>
          </a:p>
        </p:txBody>
      </p:sp>
      <p:sp>
        <p:nvSpPr>
          <p:cNvPr id="6" name="Text Placeholder 15">
            <a:extLst>
              <a:ext uri="{FF2B5EF4-FFF2-40B4-BE49-F238E27FC236}">
                <a16:creationId xmlns:a16="http://schemas.microsoft.com/office/drawing/2014/main" id="{2AB32ED6-534B-4417-86C2-7D43CBC56BD1}"/>
              </a:ext>
            </a:extLst>
          </p:cNvPr>
          <p:cNvSpPr>
            <a:spLocks noGrp="1"/>
          </p:cNvSpPr>
          <p:nvPr>
            <p:ph type="body" sz="quarter" idx="13" hasCustomPrompt="1"/>
          </p:nvPr>
        </p:nvSpPr>
        <p:spPr>
          <a:xfrm>
            <a:off x="225027" y="1485901"/>
            <a:ext cx="232172" cy="106183"/>
          </a:xfrm>
          <a:blipFill>
            <a:blip r:embed="rId2">
              <a:duotone>
                <a:prstClr val="black"/>
                <a:srgbClr val="191919">
                  <a:tint val="45000"/>
                  <a:satMod val="400000"/>
                </a:srgbClr>
              </a:duotone>
              <a:extLst>
                <a:ext uri="{BEBA8EAE-BF5A-486C-A8C5-ECC9F3942E4B}">
                  <a14:imgProps xmlns:a14="http://schemas.microsoft.com/office/drawing/2010/main">
                    <a14:imgLayer r:embed="rId3">
                      <a14:imgEffect>
                        <a14:brightnessContrast bright="-80000" contrast="-4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r>
              <a:rPr lang="en-US" dirty="0"/>
              <a:t> </a:t>
            </a:r>
          </a:p>
        </p:txBody>
      </p:sp>
      <p:sp>
        <p:nvSpPr>
          <p:cNvPr id="7" name="Text Placeholder 15">
            <a:extLst>
              <a:ext uri="{FF2B5EF4-FFF2-40B4-BE49-F238E27FC236}">
                <a16:creationId xmlns:a16="http://schemas.microsoft.com/office/drawing/2014/main" id="{12DE8EBE-FC95-451D-BADD-B5580296FA70}"/>
              </a:ext>
            </a:extLst>
          </p:cNvPr>
          <p:cNvSpPr>
            <a:spLocks noGrp="1"/>
          </p:cNvSpPr>
          <p:nvPr>
            <p:ph type="body" sz="quarter" idx="14" hasCustomPrompt="1"/>
          </p:nvPr>
        </p:nvSpPr>
        <p:spPr>
          <a:xfrm>
            <a:off x="3948113" y="2455664"/>
            <a:ext cx="232172" cy="106183"/>
          </a:xfrm>
          <a:blipFill>
            <a:blip r:embed="rId4">
              <a:extLst>
                <a:ext uri="{BEBA8EAE-BF5A-486C-A8C5-ECC9F3942E4B}">
                  <a14:imgProps xmlns:a14="http://schemas.microsoft.com/office/drawing/2010/main">
                    <a14:imgLayer r:embed="rId5">
                      <a14:imgEffect>
                        <a14:brightnessContrast bright="-8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r>
              <a:rPr lang="en-US" dirty="0"/>
              <a:t> </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457200" y="3095625"/>
            <a:ext cx="6050446" cy="300082"/>
          </a:xfrm>
        </p:spPr>
        <p:txBody>
          <a:bodyPr/>
          <a:lstStyle>
            <a:lvl1pPr marL="0" indent="0">
              <a:spcAft>
                <a:spcPts val="0"/>
              </a:spcAft>
              <a:buNone/>
              <a:defRPr sz="15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457200" y="3372624"/>
            <a:ext cx="6050446" cy="258532"/>
          </a:xfrm>
        </p:spPr>
        <p:txBody>
          <a:bodyPr/>
          <a:lstStyle>
            <a:lvl1pPr marL="0" indent="0">
              <a:buNone/>
              <a:defRPr sz="1200"/>
            </a:lvl1pPr>
          </a:lstStyle>
          <a:p>
            <a:pPr lvl="0"/>
            <a:r>
              <a:rPr lang="en-US" dirty="0"/>
              <a:t>Quoted person’s affiliation</a:t>
            </a:r>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719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 Color set 1-gradient">
    <p:bg>
      <p:bgRef idx="1001">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08AB68-8722-5843-BF9F-A3F4FC821A8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2" name="Title 1">
            <a:extLst>
              <a:ext uri="{FF2B5EF4-FFF2-40B4-BE49-F238E27FC236}">
                <a16:creationId xmlns:a16="http://schemas.microsoft.com/office/drawing/2014/main" id="{AB48D11D-2816-3114-A8F5-E8B514414C3A}"/>
              </a:ext>
            </a:extLst>
          </p:cNvPr>
          <p:cNvSpPr>
            <a:spLocks noGrp="1"/>
          </p:cNvSpPr>
          <p:nvPr>
            <p:ph type="title" hasCustomPrompt="1"/>
          </p:nvPr>
        </p:nvSpPr>
        <p:spPr>
          <a:xfrm>
            <a:off x="457200" y="2026986"/>
            <a:ext cx="4745935" cy="1089529"/>
          </a:xfrm>
        </p:spPr>
        <p:txBody>
          <a:bodyPr anchor="ctr" anchorCtr="0"/>
          <a:lstStyle>
            <a:lvl1pPr>
              <a:defRPr sz="3600">
                <a:solidFill>
                  <a:schemeClr val="tx1"/>
                </a:solidFill>
              </a:defRPr>
            </a:lvl1pPr>
          </a:lstStyle>
          <a:p>
            <a:r>
              <a:rPr lang="en-US" dirty="0"/>
              <a:t>Section layout: Enter section name here</a:t>
            </a:r>
          </a:p>
        </p:txBody>
      </p:sp>
      <p:pic>
        <p:nvPicPr>
          <p:cNvPr id="3" name="Picture 2">
            <a:extLst>
              <a:ext uri="{FF2B5EF4-FFF2-40B4-BE49-F238E27FC236}">
                <a16:creationId xmlns:a16="http://schemas.microsoft.com/office/drawing/2014/main" id="{9DF9265F-5EAE-0472-DB85-35545143EA1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40587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Color set 1 - bar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0983C2-B45D-83B2-DEBB-13EE7EB37C3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5" name="Title 1">
            <a:extLst>
              <a:ext uri="{FF2B5EF4-FFF2-40B4-BE49-F238E27FC236}">
                <a16:creationId xmlns:a16="http://schemas.microsoft.com/office/drawing/2014/main" id="{2D652DCA-4AC9-775C-0163-9BC0A69D6815}"/>
              </a:ext>
            </a:extLst>
          </p:cNvPr>
          <p:cNvSpPr>
            <a:spLocks noGrp="1"/>
          </p:cNvSpPr>
          <p:nvPr>
            <p:ph type="title" hasCustomPrompt="1"/>
          </p:nvPr>
        </p:nvSpPr>
        <p:spPr>
          <a:xfrm>
            <a:off x="457201" y="2026986"/>
            <a:ext cx="4559576" cy="1089529"/>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471C3DD9-BC3F-A0E3-AE52-73EBBFFA3BF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523438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Color set 1 - bar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50BF9-1884-DA8A-63FF-C319D9447F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2C305CD5-C9B0-77D6-F39A-27C31866FC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9105208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Header - Color set 1 - dot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9B1D4-5970-8C3B-12DD-B9476EDF01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sp>
        <p:nvSpPr>
          <p:cNvPr id="5" name="Title 1">
            <a:extLst>
              <a:ext uri="{FF2B5EF4-FFF2-40B4-BE49-F238E27FC236}">
                <a16:creationId xmlns:a16="http://schemas.microsoft.com/office/drawing/2014/main" id="{91278114-D3F7-B54A-6374-99017BCD4E47}"/>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53732A0E-627E-6BB5-4778-0405DCF823C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764586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ection Header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1A42F-B664-7CC3-3A58-FCC8A63867B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0"/>
            <a:ext cx="9148572" cy="5151438"/>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EB3D91C-D865-6FC2-D2E0-03C82BB0A6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9255948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Header - Color set 1 - block comp 1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1437F-4962-CCEB-FA6E-98FCAF9241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C8AC2B71-6777-231C-A5E4-6EC9611B15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280296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ection Header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475AE7-24FF-DF8C-64F3-3F1D9EF4BC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16403B7-D116-C2BB-3214-DB28F71D0B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9373082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Header - Color set 1 - block comp 1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0E53D-EC4A-296C-3EB7-E8602576BBE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984B2655-9E85-B8E2-6D82-00AA87486D4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8414421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ection Header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CFD3F7-03A2-C756-F7DD-E8AA5C8F6F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080C7FC-B710-831F-4985-8813D1F388F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7501608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Header - Color set 1 - block comp 2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5D3074-87A6-3A16-060E-39F1DCE4C38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7E6D6F42-F762-B98F-62EE-17A33EFA59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1097955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Header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D8D558-7F6F-1BD7-8848-65F7E77EF4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A7095554-48CA-50C2-C2AB-77E018B096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6587171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Header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B8C7E8-8A1D-F15B-3265-588426CCC8B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E3B97645-EB68-8CCB-7E85-B2CAC36830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9020712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ection Header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99971D-1771-3E10-24B8-44C43BF1F6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E5949CA-11FB-14B1-737B-273025A11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687895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3AED0-9837-7EC6-D1AF-7F33132CD07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DB86390B-DFE9-6BF5-66E3-7218A062BC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270635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88829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55647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amp;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489942" y="2419914"/>
            <a:ext cx="5117902" cy="383182"/>
          </a:xfrm>
        </p:spPr>
        <p:txBody>
          <a:bodyPr/>
          <a:lstStyle>
            <a:lvl1pPr>
              <a:defRPr sz="2100" b="1">
                <a:latin typeface="+mn-lt"/>
              </a:defRPr>
            </a:lvl1pPr>
          </a:lstStyle>
          <a:p>
            <a:r>
              <a:rPr lang="en-US" dirty="0"/>
              <a:t>Enter subtitle</a:t>
            </a:r>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fld id="{C5EF2332-01BF-834F-8236-50238282D533}" type="slidenum">
              <a:rPr lang="en-US" smtClean="0"/>
              <a:t>‹#›</a:t>
            </a:fld>
            <a:endParaRPr lang="en-US"/>
          </a:p>
        </p:txBody>
      </p:sp>
      <p:sp>
        <p:nvSpPr>
          <p:cNvPr id="6" name="TextBox 5">
            <a:extLst>
              <a:ext uri="{FF2B5EF4-FFF2-40B4-BE49-F238E27FC236}">
                <a16:creationId xmlns:a16="http://schemas.microsoft.com/office/drawing/2014/main" id="{90F7951E-E6AB-4553-9142-A91D5BC58C21}"/>
              </a:ext>
            </a:extLst>
          </p:cNvPr>
          <p:cNvSpPr txBox="1"/>
          <p:nvPr/>
        </p:nvSpPr>
        <p:spPr>
          <a:xfrm>
            <a:off x="457199" y="1821656"/>
            <a:ext cx="5150644" cy="716750"/>
          </a:xfrm>
          <a:prstGeom prst="rect">
            <a:avLst/>
          </a:prstGeom>
          <a:noFill/>
        </p:spPr>
        <p:txBody>
          <a:bodyPr wrap="square" lIns="0" rtlCol="0">
            <a:noAutofit/>
          </a:bodyPr>
          <a:lstStyle/>
          <a:p>
            <a:r>
              <a:rPr lang="en-US" sz="3600" b="1" dirty="0">
                <a:solidFill>
                  <a:schemeClr val="tx2"/>
                </a:solidFill>
                <a:latin typeface="+mj-lt"/>
              </a:rPr>
              <a:t>Q&amp;A</a:t>
            </a:r>
          </a:p>
        </p:txBody>
      </p:sp>
      <p:pic>
        <p:nvPicPr>
          <p:cNvPr id="3" name="Picture 2">
            <a:extLst>
              <a:ext uri="{FF2B5EF4-FFF2-40B4-BE49-F238E27FC236}">
                <a16:creationId xmlns:a16="http://schemas.microsoft.com/office/drawing/2014/main" id="{C2B00BE4-01E3-A02D-0CE4-1C82B3BE31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4564118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68536"/>
            <a:ext cx="5867400" cy="1006429"/>
          </a:xfrm>
        </p:spPr>
        <p:txBody>
          <a:bodyPr anchor="ctr" anchorCtr="0"/>
          <a:lstStyle>
            <a:lvl1pPr>
              <a:defRPr sz="3300"/>
            </a:lvl1pPr>
          </a:lstStyle>
          <a:p>
            <a:r>
              <a:rPr lang="en-US" dirty="0"/>
              <a:t>Video or demo divider: Enter “Video” or “Demo” here</a:t>
            </a:r>
          </a:p>
        </p:txBody>
      </p:sp>
    </p:spTree>
    <p:extLst>
      <p:ext uri="{BB962C8B-B14F-4D97-AF65-F5344CB8AC3E}">
        <p14:creationId xmlns:p14="http://schemas.microsoft.com/office/powerpoint/2010/main" val="113466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46004" y="1745754"/>
            <a:ext cx="1651992" cy="1651992"/>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9144000" cy="5143500"/>
          </a:xfrm>
          <a:solidFill>
            <a:schemeClr val="bg2"/>
          </a:solidFill>
        </p:spPr>
        <p:txBody>
          <a:bodyPr lIns="548640" anchor="ctr">
            <a:noAutofit/>
          </a:bodyPr>
          <a:lstStyle>
            <a:lvl1pPr marL="0" indent="0" algn="ctr">
              <a:buNone/>
              <a:defRPr/>
            </a:lvl1pPr>
          </a:lstStyle>
          <a:p>
            <a:r>
              <a:rPr lang="en-US"/>
              <a:t>Click icon to add media</a:t>
            </a:r>
            <a:endParaRPr lang="en-US" dirty="0"/>
          </a:p>
        </p:txBody>
      </p:sp>
      <p:sp>
        <p:nvSpPr>
          <p:cNvPr id="2" name="Title 1">
            <a:extLst>
              <a:ext uri="{FF2B5EF4-FFF2-40B4-BE49-F238E27FC236}">
                <a16:creationId xmlns:a16="http://schemas.microsoft.com/office/drawing/2014/main" id="{885D0BE8-3DF9-42ED-B529-6742E64DFC9A}"/>
              </a:ext>
            </a:extLst>
          </p:cNvPr>
          <p:cNvSpPr>
            <a:spLocks noGrp="1"/>
          </p:cNvSpPr>
          <p:nvPr>
            <p:ph type="title" hasCustomPrompt="1"/>
          </p:nvPr>
        </p:nvSpPr>
        <p:spPr>
          <a:xfrm>
            <a:off x="457200" y="-476249"/>
            <a:ext cx="8229600" cy="424732"/>
          </a:xfrm>
        </p:spPr>
        <p:txBody>
          <a:bodyPr/>
          <a:lstStyle/>
          <a:p>
            <a:r>
              <a:rPr lang="en-US" dirty="0"/>
              <a:t>Enter unique title of slide for accessibility</a:t>
            </a:r>
          </a:p>
        </p:txBody>
      </p:sp>
    </p:spTree>
    <p:extLst>
      <p:ext uri="{BB962C8B-B14F-4D97-AF65-F5344CB8AC3E}">
        <p14:creationId xmlns:p14="http://schemas.microsoft.com/office/powerpoint/2010/main" val="331845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nchor="t" anchorCtr="0"/>
          <a:lstStyle>
            <a:lvl1pPr>
              <a:defRPr sz="3000"/>
            </a:lvl1pPr>
          </a:lstStyle>
          <a:p>
            <a:r>
              <a:rPr lang="en-US" dirty="0"/>
              <a:t>Content with caption layout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457199" y="1294209"/>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Enter descriptive text here</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4657725" y="1285876"/>
            <a:ext cx="4029075" cy="1966692"/>
          </a:xfrm>
        </p:spPr>
        <p:txBody>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44454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hank You - Color set 1 - gradi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8957-C724-4A64-801C-8DF2F525A55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17" name="Picture 16">
            <a:extLst>
              <a:ext uri="{FF2B5EF4-FFF2-40B4-BE49-F238E27FC236}">
                <a16:creationId xmlns:a16="http://schemas.microsoft.com/office/drawing/2014/main" id="{5A09124F-E06F-4B4A-BC10-681DCCFDB48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5" name="TextBox 14">
            <a:extLst>
              <a:ext uri="{FF2B5EF4-FFF2-40B4-BE49-F238E27FC236}">
                <a16:creationId xmlns:a16="http://schemas.microsoft.com/office/drawing/2014/main" id="{47C4B491-619F-403A-8310-1D29C869079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pic>
        <p:nvPicPr>
          <p:cNvPr id="19" name="Picture 18">
            <a:extLst>
              <a:ext uri="{FF2B5EF4-FFF2-40B4-BE49-F238E27FC236}">
                <a16:creationId xmlns:a16="http://schemas.microsoft.com/office/drawing/2014/main" id="{BC2167FA-B358-4BFC-8D58-3474D000E5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029494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ank You - Color set 1 - bar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65D1B79-F67D-4005-9FD4-77597AB306E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18D2D97F-31F9-5645-1DF5-2408297623E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3" name="TextBox 2">
            <a:extLst>
              <a:ext uri="{FF2B5EF4-FFF2-40B4-BE49-F238E27FC236}">
                <a16:creationId xmlns:a16="http://schemas.microsoft.com/office/drawing/2014/main" id="{19741EF2-9394-A5D5-590E-87B5CBE585D6}"/>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57CCD60F-2EC3-8C40-FA1E-EF74E9A810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1078992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ank You - Color set 1 - bar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659D276-0939-4482-8050-C69560EFB8B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C09F6EE-2591-9381-147F-24492EA5E82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3C92A1C6-9D56-0140-2445-5C21341B644F}"/>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8B7312E6-0576-F791-AD71-23C8C5E910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407283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hank You - Color set 1 - dot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B89A3FE-4688-4E6A-B620-1E25934B364B}"/>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8D4C49C-5939-8662-A711-3A9C97A42C0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 y="0"/>
            <a:ext cx="9148572" cy="5148754"/>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E92F5490-4037-65DB-FAD3-6A854856B3C1}"/>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7E3E64E7-C671-E1CA-A9AD-1D39ADA450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1022548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ank You - Color set 1 - dot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89C96-A870-40FB-A2AE-86CC14A91A3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35988816-3FDE-DB97-B53E-3E18B7C41F6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2443DF4D-81EA-4A9B-AB2D-52FA7F3CA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3459486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 Color set 1 - block comp 1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170E12F-C31F-494C-97C5-1C2F133CFF0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36419D4E-1A11-116F-FA08-E57DA663A7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56814AEB-7798-CA6E-E226-B8DE6C72D7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710470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 Color set 1 - block comp 1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C6C0448-E410-4309-A626-898AEE341E61}"/>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36E8984-051A-7661-3156-819A9F6D77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E0F82D8D-CD5C-24C6-F7E6-422731A5F8E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4270280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 Color set 1 - block comp 1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3EAA418-A116-47F3-A86A-2AD959A7ED0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A52CBBB0-2767-53F5-F862-21137BCF06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22CD9880-F6F1-C7E8-2332-B6AFFFB5EB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5698375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ank You - Color set 1 - block comp 2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D5D73BD-D8FF-4648-BD63-A43051413366}"/>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D6C22F59-1296-678F-D968-D34524FADB9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A18E1AF3-7164-587C-51FB-DDBC4E474E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3895071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ank You - Color set 1 - block comp 2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AFDE560-EA3B-45F1-8249-C9855180B4D3}"/>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557F489B-74F1-BBD0-ECD6-2D76BEBE370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82C0E9F-B462-15DB-5BA3-2555B5019F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269958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ank You - Color set 1 - block comp 2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90AC992-CFD3-4172-AABE-751FBE976F8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7DC31D62-8E6D-835D-263D-1E16BA02BF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D7340FF9-2598-7297-1850-1AAF6F75DD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2928429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hank You - Color set 1 - block comp 3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5320B64-E8B6-483A-AE53-8A0176C142AC}"/>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7ED9E0A-41A0-ACC7-3425-9B1C9B202D0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9481697-DF0F-3DB6-50AD-81AA83504B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2948195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hank You - Color set 1 - block comp 3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7CE52F-6359-4FE3-B107-88928AFC3662}"/>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F49B0D50-0903-618A-A2D1-19AB5D1FD5A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66C93A26-8C24-9AFB-B55D-D81F893F64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753460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hank You - Color set 1 - block comp 3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306FC97B-57F5-4ABD-9A32-19EE9451039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E88C0059-31E1-42F5-3800-CDA8EC5427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FCDAAA5-79F5-B7F3-DCD2-627D1F8860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0298238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807247" y="1289237"/>
            <a:ext cx="1879554" cy="3368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2484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012769" y="685800"/>
            <a:ext cx="674031" cy="39719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4840670" y="685800"/>
            <a:ext cx="1588705" cy="39719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0939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p:nvSpPr>
        <p:spPr>
          <a:xfrm>
            <a:off x="2614613" y="1884278"/>
            <a:ext cx="5514975" cy="1390573"/>
          </a:xfrm>
          <a:prstGeom prst="rect">
            <a:avLst/>
          </a:prstGeom>
          <a:noFill/>
        </p:spPr>
        <p:txBody>
          <a:bodyPr wrap="square" rtlCol="0">
            <a:spAutoFit/>
          </a:bodyPr>
          <a:lstStyle/>
          <a:p>
            <a:pPr algn="l">
              <a:lnSpc>
                <a:spcPct val="80000"/>
              </a:lnSpc>
            </a:pPr>
            <a:r>
              <a:rPr lang="en-US" sz="4500" dirty="0">
                <a:latin typeface="+mj-lt"/>
              </a:rPr>
              <a:t>Do not use layouts after this slide.</a:t>
            </a:r>
            <a:br>
              <a:rPr lang="en-US" sz="4500" dirty="0">
                <a:latin typeface="+mj-lt"/>
              </a:rPr>
            </a:br>
            <a:r>
              <a:rPr lang="en-US" sz="1500" dirty="0">
                <a:latin typeface="+mj-lt"/>
              </a:rPr>
              <a:t>They are not part of the official template.</a:t>
            </a:r>
            <a:endParaRPr lang="en-US" sz="45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42938" y="1585912"/>
            <a:ext cx="1971675" cy="1971675"/>
          </a:xfrm>
          <a:prstGeom prst="rect">
            <a:avLst/>
          </a:prstGeom>
        </p:spPr>
      </p:pic>
      <p:sp>
        <p:nvSpPr>
          <p:cNvPr id="8" name="Rectangle 7">
            <a:extLst>
              <a:ext uri="{FF2B5EF4-FFF2-40B4-BE49-F238E27FC236}">
                <a16:creationId xmlns:a16="http://schemas.microsoft.com/office/drawing/2014/main" id="{A56A91D7-A142-41A9-9775-90FA8A0EC8F4}"/>
              </a:ext>
            </a:extLst>
          </p:cNvPr>
          <p:cNvSpPr/>
          <p:nvPr/>
        </p:nvSpPr>
        <p:spPr>
          <a:xfrm>
            <a:off x="285750" y="4752975"/>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F4A252AA-410C-4410-AE45-9D483892FCD8}"/>
              </a:ext>
            </a:extLst>
          </p:cNvPr>
          <p:cNvSpPr/>
          <p:nvPr/>
        </p:nvSpPr>
        <p:spPr>
          <a:xfrm>
            <a:off x="285750" y="122791"/>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5875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Two_Image">
    <p:spTree>
      <p:nvGrpSpPr>
        <p:cNvPr id="1" name=""/>
        <p:cNvGrpSpPr/>
        <p:nvPr/>
      </p:nvGrpSpPr>
      <p:grpSpPr>
        <a:xfrm>
          <a:off x="0" y="0"/>
          <a:ext cx="0" cy="0"/>
          <a:chOff x="0" y="0"/>
          <a:chExt cx="0" cy="0"/>
        </a:xfrm>
      </p:grpSpPr>
      <p:sp>
        <p:nvSpPr>
          <p:cNvPr id="11" name="Title 1"/>
          <p:cNvSpPr>
            <a:spLocks noGrp="1"/>
          </p:cNvSpPr>
          <p:nvPr>
            <p:ph type="title"/>
          </p:nvPr>
        </p:nvSpPr>
        <p:spPr>
          <a:xfrm>
            <a:off x="336789" y="114937"/>
            <a:ext cx="8450024" cy="545741"/>
          </a:xfrm>
        </p:spPr>
        <p:txBody>
          <a:bodyPr>
            <a:normAutofit/>
          </a:bodyPr>
          <a:lstStyle>
            <a:lvl1pPr>
              <a:defRPr sz="2375">
                <a:solidFill>
                  <a:schemeClr val="bg2"/>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342901" y="1028701"/>
            <a:ext cx="5206364" cy="383182"/>
          </a:xfrm>
          <a:prstGeom prst="rect">
            <a:avLst/>
          </a:prstGeom>
        </p:spPr>
        <p:txBody>
          <a:bodyPr/>
          <a:lstStyle>
            <a:lvl1pPr>
              <a:defRPr>
                <a:solidFill>
                  <a:schemeClr val="bg2"/>
                </a:solidFill>
              </a:defRPr>
            </a:lvl1pPr>
          </a:lstStyle>
          <a:p>
            <a:r>
              <a:rPr lang="en-US"/>
              <a:t>Click icon to add picture</a:t>
            </a:r>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5829300" y="1028700"/>
            <a:ext cx="2971800" cy="674031"/>
          </a:xfrm>
          <a:prstGeom prst="rect">
            <a:avLst/>
          </a:prstGeom>
        </p:spPr>
        <p:txBody>
          <a:bodyPr/>
          <a:lstStyle>
            <a:lvl1pPr>
              <a:defRPr>
                <a:solidFill>
                  <a:schemeClr val="bg2"/>
                </a:solidFill>
              </a:defRPr>
            </a:lvl1pPr>
          </a:lstStyle>
          <a:p>
            <a:r>
              <a:rPr lang="en-US"/>
              <a:t>Click icon to add picture</a:t>
            </a:r>
          </a:p>
        </p:txBody>
      </p:sp>
      <p:pic>
        <p:nvPicPr>
          <p:cNvPr id="6" name="Picture 5">
            <a:extLst>
              <a:ext uri="{FF2B5EF4-FFF2-40B4-BE49-F238E27FC236}">
                <a16:creationId xmlns:a16="http://schemas.microsoft.com/office/drawing/2014/main" id="{D91DA9AA-7EB5-BC47-9BD7-3F3BB94BFB6D}"/>
              </a:ext>
            </a:extLst>
          </p:cNvPr>
          <p:cNvPicPr>
            <a:picLocks noChangeAspect="1"/>
          </p:cNvPicPr>
          <p:nvPr/>
        </p:nvPicPr>
        <p:blipFill>
          <a:blip r:embed="rId2"/>
          <a:srcRect/>
          <a:stretch/>
        </p:blipFill>
        <p:spPr>
          <a:xfrm>
            <a:off x="8343509" y="4706911"/>
            <a:ext cx="443245" cy="265064"/>
          </a:xfrm>
          <a:prstGeom prst="rect">
            <a:avLst/>
          </a:prstGeom>
        </p:spPr>
      </p:pic>
    </p:spTree>
    <p:extLst>
      <p:ext uri="{BB962C8B-B14F-4D97-AF65-F5344CB8AC3E}">
        <p14:creationId xmlns:p14="http://schemas.microsoft.com/office/powerpoint/2010/main" val="381861411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Relationships xmlns="http://schemas.openxmlformats.org/package/2006/relationships"><Relationship Id="rId26" Target="../slideLayouts/slideLayout26.xml" Type="http://schemas.openxmlformats.org/officeDocument/2006/relationships/slideLayout" /><Relationship Id="rId21" Target="../slideLayouts/slideLayout21.xml" Type="http://schemas.openxmlformats.org/officeDocument/2006/relationships/slideLayout" /><Relationship Id="rId42" Target="../slideLayouts/slideLayout42.xml" Type="http://schemas.openxmlformats.org/officeDocument/2006/relationships/slideLayout" /><Relationship Id="rId47" Target="../slideLayouts/slideLayout47.xml" Type="http://schemas.openxmlformats.org/officeDocument/2006/relationships/slideLayout" /><Relationship Id="rId63" Target="../slideLayouts/slideLayout63.xml" Type="http://schemas.openxmlformats.org/officeDocument/2006/relationships/slideLayout" /><Relationship Id="rId68" Target="../slideLayouts/slideLayout68.xml" Type="http://schemas.openxmlformats.org/officeDocument/2006/relationships/slideLayout" /><Relationship Id="rId84" Target="../slideLayouts/slideLayout84.xml" Type="http://schemas.openxmlformats.org/officeDocument/2006/relationships/slideLayout" /><Relationship Id="rId89" Target="../slideLayouts/slideLayout89.xml" Type="http://schemas.openxmlformats.org/officeDocument/2006/relationships/slideLayout" /><Relationship Id="rId16" Target="../slideLayouts/slideLayout16.xml" Type="http://schemas.openxmlformats.org/officeDocument/2006/relationships/slideLayout" /><Relationship Id="rId11" Target="../slideLayouts/slideLayout11.xml" Type="http://schemas.openxmlformats.org/officeDocument/2006/relationships/slideLayout" /><Relationship Id="rId32" Target="../slideLayouts/slideLayout32.xml" Type="http://schemas.openxmlformats.org/officeDocument/2006/relationships/slideLayout" /><Relationship Id="rId37" Target="../slideLayouts/slideLayout37.xml" Type="http://schemas.openxmlformats.org/officeDocument/2006/relationships/slideLayout" /><Relationship Id="rId53" Target="../slideLayouts/slideLayout53.xml" Type="http://schemas.openxmlformats.org/officeDocument/2006/relationships/slideLayout" /><Relationship Id="rId58" Target="../slideLayouts/slideLayout58.xml" Type="http://schemas.openxmlformats.org/officeDocument/2006/relationships/slideLayout" /><Relationship Id="rId74" Target="../slideLayouts/slideLayout74.xml" Type="http://schemas.openxmlformats.org/officeDocument/2006/relationships/slideLayout" /><Relationship Id="rId79" Target="../slideLayouts/slideLayout79.xml" Type="http://schemas.openxmlformats.org/officeDocument/2006/relationships/slideLayout" /><Relationship Id="rId5" Target="../slideLayouts/slideLayout5.xml" Type="http://schemas.openxmlformats.org/officeDocument/2006/relationships/slideLayout" /><Relationship Id="rId90" Target="../theme/theme1.xml" Type="http://schemas.openxmlformats.org/officeDocument/2006/relationships/theme"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slideLayouts/slideLayout35.xml" Type="http://schemas.openxmlformats.org/officeDocument/2006/relationships/slideLayout" /><Relationship Id="rId43" Target="../slideLayouts/slideLayout43.xml" Type="http://schemas.openxmlformats.org/officeDocument/2006/relationships/slideLayout" /><Relationship Id="rId48" Target="../slideLayouts/slideLayout48.xml" Type="http://schemas.openxmlformats.org/officeDocument/2006/relationships/slideLayout" /><Relationship Id="rId56" Target="../slideLayouts/slideLayout56.xml" Type="http://schemas.openxmlformats.org/officeDocument/2006/relationships/slideLayout" /><Relationship Id="rId64" Target="../slideLayouts/slideLayout64.xml" Type="http://schemas.openxmlformats.org/officeDocument/2006/relationships/slideLayout" /><Relationship Id="rId69" Target="../slideLayouts/slideLayout69.xml" Type="http://schemas.openxmlformats.org/officeDocument/2006/relationships/slideLayout" /><Relationship Id="rId77" Target="../slideLayouts/slideLayout77.xml" Type="http://schemas.openxmlformats.org/officeDocument/2006/relationships/slideLayout" /><Relationship Id="rId8" Target="../slideLayouts/slideLayout8.xml" Type="http://schemas.openxmlformats.org/officeDocument/2006/relationships/slideLayout" /><Relationship Id="rId51" Target="../slideLayouts/slideLayout51.xml" Type="http://schemas.openxmlformats.org/officeDocument/2006/relationships/slideLayout" /><Relationship Id="rId72" Target="../slideLayouts/slideLayout72.xml" Type="http://schemas.openxmlformats.org/officeDocument/2006/relationships/slideLayout" /><Relationship Id="rId80" Target="../slideLayouts/slideLayout80.xml" Type="http://schemas.openxmlformats.org/officeDocument/2006/relationships/slideLayout" /><Relationship Id="rId85" Target="../slideLayouts/slideLayout85.xml" Type="http://schemas.openxmlformats.org/officeDocument/2006/relationships/slideLayout" /><Relationship Id="rId3" Target="../slideLayouts/slideLayout3.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slideLayouts/slideLayout33.xml" Type="http://schemas.openxmlformats.org/officeDocument/2006/relationships/slideLayout" /><Relationship Id="rId38" Target="../slideLayouts/slideLayout38.xml" Type="http://schemas.openxmlformats.org/officeDocument/2006/relationships/slideLayout" /><Relationship Id="rId46" Target="../slideLayouts/slideLayout46.xml" Type="http://schemas.openxmlformats.org/officeDocument/2006/relationships/slideLayout" /><Relationship Id="rId59" Target="../slideLayouts/slideLayout59.xml" Type="http://schemas.openxmlformats.org/officeDocument/2006/relationships/slideLayout" /><Relationship Id="rId67" Target="../slideLayouts/slideLayout67.xml" Type="http://schemas.openxmlformats.org/officeDocument/2006/relationships/slideLayout" /><Relationship Id="rId20" Target="../slideLayouts/slideLayout20.xml" Type="http://schemas.openxmlformats.org/officeDocument/2006/relationships/slideLayout" /><Relationship Id="rId41" Target="../slideLayouts/slideLayout41.xml" Type="http://schemas.openxmlformats.org/officeDocument/2006/relationships/slideLayout" /><Relationship Id="rId54" Target="../slideLayouts/slideLayout54.xml" Type="http://schemas.openxmlformats.org/officeDocument/2006/relationships/slideLayout" /><Relationship Id="rId62" Target="../slideLayouts/slideLayout62.xml" Type="http://schemas.openxmlformats.org/officeDocument/2006/relationships/slideLayout" /><Relationship Id="rId70" Target="../slideLayouts/slideLayout70.xml" Type="http://schemas.openxmlformats.org/officeDocument/2006/relationships/slideLayout" /><Relationship Id="rId75" Target="../slideLayouts/slideLayout75.xml" Type="http://schemas.openxmlformats.org/officeDocument/2006/relationships/slideLayout" /><Relationship Id="rId83" Target="../slideLayouts/slideLayout83.xml" Type="http://schemas.openxmlformats.org/officeDocument/2006/relationships/slideLayout" /><Relationship Id="rId88" Target="../slideLayouts/slideLayout88.xml" Type="http://schemas.openxmlformats.org/officeDocument/2006/relationships/slideLayout" /><Relationship Id="rId91" Target="../media/image1.emf"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slideLayouts/slideLayout36.xml" Type="http://schemas.openxmlformats.org/officeDocument/2006/relationships/slideLayout" /><Relationship Id="rId49" Target="../slideLayouts/slideLayout49.xml" Type="http://schemas.openxmlformats.org/officeDocument/2006/relationships/slideLayout" /><Relationship Id="rId57" Target="../slideLayouts/slideLayout57.xml" Type="http://schemas.openxmlformats.org/officeDocument/2006/relationships/slideLayout" /><Relationship Id="rId10" Target="../slideLayouts/slideLayout10.xml" Type="http://schemas.openxmlformats.org/officeDocument/2006/relationships/slideLayout" /><Relationship Id="rId31" Target="../slideLayouts/slideLayout31.xml" Type="http://schemas.openxmlformats.org/officeDocument/2006/relationships/slideLayout" /><Relationship Id="rId44" Target="../slideLayouts/slideLayout44.xml" Type="http://schemas.openxmlformats.org/officeDocument/2006/relationships/slideLayout" /><Relationship Id="rId52" Target="../slideLayouts/slideLayout52.xml" Type="http://schemas.openxmlformats.org/officeDocument/2006/relationships/slideLayout" /><Relationship Id="rId60" Target="../slideLayouts/slideLayout60.xml" Type="http://schemas.openxmlformats.org/officeDocument/2006/relationships/slideLayout" /><Relationship Id="rId65" Target="../slideLayouts/slideLayout65.xml" Type="http://schemas.openxmlformats.org/officeDocument/2006/relationships/slideLayout" /><Relationship Id="rId73" Target="../slideLayouts/slideLayout73.xml" Type="http://schemas.openxmlformats.org/officeDocument/2006/relationships/slideLayout" /><Relationship Id="rId78" Target="../slideLayouts/slideLayout78.xml" Type="http://schemas.openxmlformats.org/officeDocument/2006/relationships/slideLayout" /><Relationship Id="rId81" Target="../slideLayouts/slideLayout81.xml" Type="http://schemas.openxmlformats.org/officeDocument/2006/relationships/slideLayout" /><Relationship Id="rId86" Target="../slideLayouts/slideLayout86.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39" Target="../slideLayouts/slideLayout39.xml" Type="http://schemas.openxmlformats.org/officeDocument/2006/relationships/slideLayout" /><Relationship Id="rId34" Target="../slideLayouts/slideLayout34.xml" Type="http://schemas.openxmlformats.org/officeDocument/2006/relationships/slideLayout" /><Relationship Id="rId50" Target="../slideLayouts/slideLayout50.xml" Type="http://schemas.openxmlformats.org/officeDocument/2006/relationships/slideLayout" /><Relationship Id="rId55" Target="../slideLayouts/slideLayout55.xml" Type="http://schemas.openxmlformats.org/officeDocument/2006/relationships/slideLayout" /><Relationship Id="rId76" Target="../slideLayouts/slideLayout76.xml" Type="http://schemas.openxmlformats.org/officeDocument/2006/relationships/slideLayout" /><Relationship Id="rId7" Target="../slideLayouts/slideLayout7.xml" Type="http://schemas.openxmlformats.org/officeDocument/2006/relationships/slideLayout" /><Relationship Id="rId71" Target="../slideLayouts/slideLayout71.xml" Type="http://schemas.openxmlformats.org/officeDocument/2006/relationships/slideLayout" /><Relationship Id="rId2" Target="../slideLayouts/slideLayout2.xml" Type="http://schemas.openxmlformats.org/officeDocument/2006/relationships/slideLayout" /><Relationship Id="rId29" Target="../slideLayouts/slideLayout29.xml" Type="http://schemas.openxmlformats.org/officeDocument/2006/relationships/slideLayout" /><Relationship Id="rId24" Target="../slideLayouts/slideLayout24.xml" Type="http://schemas.openxmlformats.org/officeDocument/2006/relationships/slideLayout" /><Relationship Id="rId40" Target="../slideLayouts/slideLayout40.xml" Type="http://schemas.openxmlformats.org/officeDocument/2006/relationships/slideLayout" /><Relationship Id="rId45" Target="../slideLayouts/slideLayout45.xml" Type="http://schemas.openxmlformats.org/officeDocument/2006/relationships/slideLayout" /><Relationship Id="rId66" Target="../slideLayouts/slideLayout66.xml" Type="http://schemas.openxmlformats.org/officeDocument/2006/relationships/slideLayout" /><Relationship Id="rId87" Target="../slideLayouts/slideLayout87.xml" Type="http://schemas.openxmlformats.org/officeDocument/2006/relationships/slideLayout" /><Relationship Id="rId61" Target="../slideLayouts/slideLayout61.xml" Type="http://schemas.openxmlformats.org/officeDocument/2006/relationships/slideLayout" /><Relationship Id="rId82" Target="../slideLayouts/slideLayout82.xml" Type="http://schemas.openxmlformats.org/officeDocument/2006/relationships/slideLayout" /><Relationship Id="rId19" Target="../slideLayouts/slideLayout1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457200" y="685801"/>
            <a:ext cx="8229600" cy="424732"/>
          </a:xfrm>
          <a:prstGeom prst="rect">
            <a:avLst/>
          </a:prstGeom>
        </p:spPr>
        <p:txBody>
          <a:bodyPr anchor="t" anchorCtr="0" bIns="45720" lIns="0" rIns="0" rtlCol="0" tIns="45720" vert="horz" wrap="square">
            <a:spAutoFit/>
          </a:bodyPr>
          <a:lstStyle/>
          <a:p>
            <a:r>
              <a:rPr lang="en-US"/>
              <a:t>Click to edit Master title style</a:t>
            </a:r>
            <a:endParaRPr dirty="0" lang="en-US"/>
          </a:p>
        </p:txBody>
      </p:sp>
      <p:sp>
        <p:nvSpPr>
          <p:cNvPr id="3" name="Text Placeholder 2">
            <a:extLst>
              <a:ext uri="{FF2B5EF4-FFF2-40B4-BE49-F238E27FC236}">
                <a16:creationId xmlns:a16="http://schemas.microsoft.com/office/drawing/2014/main" id="{F4928EF9-1BCD-42D2-8B21-6150BBD86FBB}"/>
              </a:ext>
            </a:extLst>
          </p:cNvPr>
          <p:cNvSpPr>
            <a:spLocks noGrp="1"/>
          </p:cNvSpPr>
          <p:nvPr>
            <p:ph idx="1" type="body"/>
          </p:nvPr>
        </p:nvSpPr>
        <p:spPr>
          <a:xfrm>
            <a:off x="457200" y="1289237"/>
            <a:ext cx="8229600" cy="1675843"/>
          </a:xfrm>
          <a:prstGeom prst="rect">
            <a:avLst/>
          </a:prstGeom>
        </p:spPr>
        <p:txBody>
          <a:bodyPr bIns="45720" lIns="0" rIns="0" rtlCol="0" tIns="45720" vert="horz"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9" name="Text Placeholder 10">
            <a:extLst>
              <a:ext uri="{FF2B5EF4-FFF2-40B4-BE49-F238E27FC236}">
                <a16:creationId xmlns:a16="http://schemas.microsoft.com/office/drawing/2014/main" id="{AB08AA2C-B509-4BA9-B3D5-46E288298CEC}"/>
              </a:ext>
            </a:extLst>
          </p:cNvPr>
          <p:cNvSpPr txBox="1">
            <a:spLocks/>
          </p:cNvSpPr>
          <p:nvPr/>
        </p:nvSpPr>
        <p:spPr>
          <a:xfrm>
            <a:off x="457200" y="243211"/>
            <a:ext cx="8229600" cy="180975"/>
          </a:xfrm>
          <a:prstGeom prst="rect">
            <a:avLst/>
          </a:prstGeom>
          <a:solidFill>
            <a:schemeClr val="bg2"/>
          </a:solidFill>
        </p:spPr>
        <p:txBody>
          <a:bodyPr lIns="0"/>
          <a:lstStyle>
            <a:lvl1pPr algn="l" defTabSz="914400" eaLnBrk="1" hangingPunct="1" indent="0" latinLnBrk="0" marL="0" rtl="0">
              <a:lnSpc>
                <a:spcPct val="90000"/>
              </a:lnSpc>
              <a:spcBef>
                <a:spcPts val="0"/>
              </a:spcBef>
              <a:spcAft>
                <a:spcPts val="900"/>
              </a:spcAft>
              <a:buClr>
                <a:schemeClr val="tx1"/>
              </a:buClr>
              <a:buSzPct val="90000"/>
              <a:buFont charset="0" panose="020B0603020204020204" pitchFamily="34" typeface="Amazon Ember"/>
              <a:buNone/>
              <a:defRPr b="0" baseline="0" cap="all" kern="1200" spc="0" sz="1000">
                <a:solidFill>
                  <a:schemeClr val="tx1"/>
                </a:solidFill>
                <a:latin typeface="+mn-lt"/>
                <a:ea typeface="+mn-ea"/>
                <a:cs typeface="+mn-cs"/>
              </a:defRPr>
            </a:lvl1pPr>
            <a:lvl2pPr algn="l" defTabSz="914400" eaLnBrk="1" hangingPunct="1" indent="-228600" latinLnBrk="0" marL="457200" rtl="0">
              <a:lnSpc>
                <a:spcPct val="90000"/>
              </a:lnSpc>
              <a:spcBef>
                <a:spcPts val="0"/>
              </a:spcBef>
              <a:spcAft>
                <a:spcPts val="900"/>
              </a:spcAft>
              <a:buClr>
                <a:schemeClr val="tx1"/>
              </a:buClr>
              <a:buSzPct val="90000"/>
              <a:buFont charset="2" panose="05000000000000000000" pitchFamily="2" typeface="Wingdings"/>
              <a:buChar char="§"/>
              <a:defRPr kern="1200" sz="2400">
                <a:solidFill>
                  <a:schemeClr val="tx1"/>
                </a:solidFill>
                <a:latin typeface="+mn-lt"/>
                <a:ea typeface="+mn-ea"/>
                <a:cs typeface="+mn-cs"/>
              </a:defRPr>
            </a:lvl2pPr>
            <a:lvl3pPr algn="l" defTabSz="914400" eaLnBrk="1" hangingPunct="1" indent="-228600" latinLnBrk="0" marL="731520" rtl="0">
              <a:lnSpc>
                <a:spcPct val="90000"/>
              </a:lnSpc>
              <a:spcBef>
                <a:spcPts val="0"/>
              </a:spcBef>
              <a:spcAft>
                <a:spcPts val="600"/>
              </a:spcAft>
              <a:buClr>
                <a:schemeClr val="tx1"/>
              </a:buClr>
              <a:buFont charset="0" panose="020B0603020204020204" pitchFamily="34" typeface="Amazon Ember"/>
              <a:buChar char="–"/>
              <a:defRPr kern="1200" sz="2000">
                <a:solidFill>
                  <a:schemeClr val="tx1"/>
                </a:solidFill>
                <a:latin typeface="+mn-lt"/>
                <a:ea typeface="+mn-ea"/>
                <a:cs typeface="+mn-cs"/>
              </a:defRPr>
            </a:lvl3pPr>
            <a:lvl4pPr algn="l" defTabSz="914400" eaLnBrk="1" hangingPunct="1" indent="-228600" latinLnBrk="0" marL="1005840" rtl="0">
              <a:lnSpc>
                <a:spcPct val="90000"/>
              </a:lnSpc>
              <a:spcBef>
                <a:spcPts val="0"/>
              </a:spcBef>
              <a:spcAft>
                <a:spcPts val="600"/>
              </a:spcAft>
              <a:buClr>
                <a:schemeClr val="tx1"/>
              </a:buClr>
              <a:buFont charset="0" panose="020B0603020204020204" pitchFamily="34" typeface="Amazon Ember"/>
              <a:buChar char="•"/>
              <a:defRPr kern="1200" sz="1800">
                <a:solidFill>
                  <a:schemeClr val="tx1"/>
                </a:solidFill>
                <a:latin typeface="+mn-lt"/>
                <a:ea typeface="+mn-ea"/>
                <a:cs typeface="+mn-cs"/>
              </a:defRPr>
            </a:lvl4pPr>
            <a:lvl5pPr algn="l" defTabSz="914400" eaLnBrk="1" hangingPunct="1" indent="-228600" latinLnBrk="0" marL="1280160" rtl="0">
              <a:lnSpc>
                <a:spcPct val="90000"/>
              </a:lnSpc>
              <a:spcBef>
                <a:spcPts val="0"/>
              </a:spcBef>
              <a:spcAft>
                <a:spcPts val="600"/>
              </a:spcAft>
              <a:buClr>
                <a:schemeClr val="tx1"/>
              </a:buClr>
              <a:buFont charset="0" panose="020B0603020204020204" pitchFamily="34" typeface="Amazon Ember"/>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9pPr>
          </a:lstStyle>
          <a:p>
            <a:endParaRPr dirty="0" lang="en-US" sz="750">
              <a:solidFill>
                <a:schemeClr val="tx2"/>
              </a:solidFill>
            </a:endParaRPr>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idx="4" sz="quarter" type="sldNum"/>
          </p:nvPr>
        </p:nvSpPr>
        <p:spPr>
          <a:xfrm>
            <a:off x="6696900" y="4717125"/>
            <a:ext cx="2057400" cy="273844"/>
          </a:xfrm>
          <a:prstGeom prst="rect">
            <a:avLst/>
          </a:prstGeom>
        </p:spPr>
        <p:txBody>
          <a:bodyPr anchor="ctr" bIns="45720" lIns="91440" rIns="91440" rtlCol="0" tIns="45720" vert="horz"/>
          <a:lstStyle>
            <a:lvl1pPr algn="r">
              <a:defRPr sz="675">
                <a:solidFill>
                  <a:schemeClr val="tx2"/>
                </a:solidFill>
              </a:defRPr>
            </a:lvl1pPr>
          </a:lstStyle>
          <a:p>
            <a:fld id="{C5EF2332-01BF-834F-8236-50238282D533}" type="slidenum">
              <a:rPr lang="en-US" smtClean="0"/>
              <a:t>‹#›</a:t>
            </a:fld>
            <a:endParaRPr lang="en-US"/>
          </a:p>
        </p:txBody>
      </p:sp>
      <p:sp>
        <p:nvSpPr>
          <p:cNvPr id="13" name="TextBox 12">
            <a:extLst>
              <a:ext uri="{FF2B5EF4-FFF2-40B4-BE49-F238E27FC236}">
                <a16:creationId xmlns:a16="http://schemas.microsoft.com/office/drawing/2014/main" id="{123D8171-6606-4DC3-AA28-D2EE5F0EC812}"/>
              </a:ext>
            </a:extLst>
          </p:cNvPr>
          <p:cNvSpPr txBox="1"/>
          <p:nvPr/>
        </p:nvSpPr>
        <p:spPr>
          <a:xfrm>
            <a:off x="855814" y="4792360"/>
            <a:ext cx="2981907" cy="161583"/>
          </a:xfrm>
          <a:prstGeom prst="rect">
            <a:avLst/>
          </a:prstGeom>
          <a:noFill/>
        </p:spPr>
        <p:txBody>
          <a:bodyPr rtlCol="0" wrap="none">
            <a:spAutoFit/>
          </a:bodyPr>
          <a:lstStyle/>
          <a:p>
            <a:pPr algn="l"/>
            <a:r>
              <a:rPr dirty="0" lang="en-US" sz="450">
                <a:solidFill>
                  <a:schemeClr val="tx2"/>
                </a:solidFill>
              </a:rPr>
              <a:t>© </a:t>
            </a:r>
            <a:fld id="{C09C7244-04FA-4945-8501-81AE75998B9F}" type="datetimeyyyy">
              <a:rPr lang="en-US" smtClean="0" sz="450">
                <a:solidFill>
                  <a:schemeClr val="tx2"/>
                </a:solidFill>
              </a:rPr>
              <a:t>2026</a:t>
            </a:fld>
            <a:r>
              <a:rPr dirty="0" lang="en-US" sz="450">
                <a:solidFill>
                  <a:schemeClr val="tx2"/>
                </a:solidFill>
              </a:rPr>
              <a:t>,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p:nvPicPr>
        <p:blipFill>
          <a:blip r:embed="rId91">
            <a:extLst>
              <a:ext uri="{28A0092B-C50C-407E-A947-70E740481C1C}">
                <a14:useLocalDpi xmlns:a14="http://schemas.microsoft.com/office/drawing/2010/main" val="0"/>
              </a:ext>
            </a:extLst>
          </a:blip>
          <a:srcRect/>
          <a:stretch/>
        </p:blipFill>
        <p:spPr>
          <a:xfrm>
            <a:off x="446471" y="4753622"/>
            <a:ext cx="274320" cy="164045"/>
          </a:xfrm>
          <a:prstGeom prst="rect">
            <a:avLst/>
          </a:prstGeom>
        </p:spPr>
      </p:pic>
    </p:spTree>
    <p:extLst>
      <p:ext uri="{BB962C8B-B14F-4D97-AF65-F5344CB8AC3E}">
        <p14:creationId xmlns:p14="http://schemas.microsoft.com/office/powerpoint/2010/main" val="228595122"/>
      </p:ext>
    </p:extLst>
  </p:cSld>
  <p:clrMap accent1="accent1" accent2="accent2" accent3="accent3" accent4="accent4" accent5="accent5" accent6="accent6" bg1="lt1" bg2="lt2" folHlink="folHlink" hlink="hlink" tx1="dk1" tx2="dk2"/>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18" r:id="rId46"/>
    <p:sldLayoutId id="2147483719" r:id="rId47"/>
    <p:sldLayoutId id="2147483720" r:id="rId48"/>
    <p:sldLayoutId id="2147483721" r:id="rId49"/>
    <p:sldLayoutId id="2147483722"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 id="2147483738" r:id="rId66"/>
    <p:sldLayoutId id="2147483739" r:id="rId67"/>
    <p:sldLayoutId id="2147483740" r:id="rId68"/>
    <p:sldLayoutId id="2147483741" r:id="rId69"/>
    <p:sldLayoutId id="2147483742" r:id="rId70"/>
    <p:sldLayoutId id="2147483743" r:id="rId71"/>
    <p:sldLayoutId id="2147483744" r:id="rId72"/>
    <p:sldLayoutId id="2147483745" r:id="rId73"/>
    <p:sldLayoutId id="2147483746" r:id="rId74"/>
    <p:sldLayoutId id="2147483747" r:id="rId75"/>
    <p:sldLayoutId id="2147483748" r:id="rId76"/>
    <p:sldLayoutId id="2147483749" r:id="rId77"/>
    <p:sldLayoutId id="2147483750" r:id="rId78"/>
    <p:sldLayoutId id="2147483751" r:id="rId79"/>
    <p:sldLayoutId id="2147483752" r:id="rId80"/>
    <p:sldLayoutId id="2147483753" r:id="rId81"/>
    <p:sldLayoutId id="2147483754" r:id="rId82"/>
    <p:sldLayoutId id="2147483755" r:id="rId83"/>
    <p:sldLayoutId id="2147483756" r:id="rId84"/>
    <p:sldLayoutId id="2147483757" r:id="rId85"/>
    <p:sldLayoutId id="2147483758" r:id="rId86"/>
    <p:sldLayoutId id="2147483759" r:id="rId87"/>
    <p:sldLayoutId id="2147483760" r:id="rId88"/>
    <p:sldLayoutId id="2147483761" r:id="rId8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eaLnBrk="1" hangingPunct="1" latinLnBrk="0" rtl="0">
        <a:lnSpc>
          <a:spcPct val="90000"/>
        </a:lnSpc>
        <a:spcBef>
          <a:spcPct val="0"/>
        </a:spcBef>
        <a:buNone/>
        <a:defRPr b="1" baseline="0" i="0" kern="1200" sz="2400">
          <a:solidFill>
            <a:schemeClr val="tx2"/>
          </a:solidFill>
          <a:latin charset="0" panose="020F0603020204020204" pitchFamily="34" typeface="Amazon Ember Display"/>
          <a:ea typeface="+mj-ea"/>
          <a:cs typeface="+mj-cs"/>
        </a:defRPr>
      </a:lvl1pPr>
    </p:titleStyle>
    <p:bodyStyle>
      <a:lvl1pPr algn="l" defTabSz="685800" eaLnBrk="1" hangingPunct="1" indent="-171450" latinLnBrk="0" marL="171450" rtl="0">
        <a:lnSpc>
          <a:spcPct val="90000"/>
        </a:lnSpc>
        <a:spcBef>
          <a:spcPts val="0"/>
        </a:spcBef>
        <a:spcAft>
          <a:spcPts val="900"/>
        </a:spcAft>
        <a:buSzPct val="90000"/>
        <a:buFont charset="0" panose="020B0604020202020204" pitchFamily="34" typeface="Arial"/>
        <a:buChar char="•"/>
        <a:defRPr baseline="0" kern="1200" sz="2100">
          <a:solidFill>
            <a:schemeClr val="tx2"/>
          </a:solidFill>
          <a:latin charset="0" panose="020F0603020204020204" pitchFamily="34" typeface="Amazon Ember Display"/>
          <a:ea typeface="+mn-ea"/>
          <a:cs typeface="+mn-cs"/>
        </a:defRPr>
      </a:lvl1pPr>
      <a:lvl2pPr algn="l" defTabSz="685800" eaLnBrk="1" hangingPunct="1" indent="-171450" latinLnBrk="0" marL="385763" rtl="0">
        <a:lnSpc>
          <a:spcPct val="90000"/>
        </a:lnSpc>
        <a:spcBef>
          <a:spcPts val="0"/>
        </a:spcBef>
        <a:spcAft>
          <a:spcPts val="900"/>
        </a:spcAft>
        <a:buSzPct val="90000"/>
        <a:buFont charset="2" panose="05000000000000000000" pitchFamily="2" typeface="Wingdings"/>
        <a:buChar char="§"/>
        <a:defRPr baseline="0" kern="1200" sz="1800">
          <a:solidFill>
            <a:schemeClr val="tx2"/>
          </a:solidFill>
          <a:latin charset="0" panose="020F0603020204020204" pitchFamily="34" typeface="Amazon Ember Display"/>
          <a:ea typeface="+mn-ea"/>
          <a:cs typeface="+mn-cs"/>
        </a:defRPr>
      </a:lvl2pPr>
      <a:lvl3pPr algn="l" defTabSz="685800" eaLnBrk="1" hangingPunct="1" indent="-171450" latinLnBrk="0" marL="642938" rtl="0">
        <a:lnSpc>
          <a:spcPct val="90000"/>
        </a:lnSpc>
        <a:spcBef>
          <a:spcPts val="0"/>
        </a:spcBef>
        <a:spcAft>
          <a:spcPts val="900"/>
        </a:spcAft>
        <a:buFont charset="0" panose="020B0603020204020204" pitchFamily="34" typeface="Amazon Ember"/>
        <a:buChar char="–"/>
        <a:defRPr baseline="0" kern="1200" sz="1500">
          <a:solidFill>
            <a:schemeClr val="tx2"/>
          </a:solidFill>
          <a:latin charset="0" panose="020F0603020204020204" pitchFamily="34" typeface="Amazon Ember Display"/>
          <a:ea typeface="+mn-ea"/>
          <a:cs typeface="+mn-cs"/>
        </a:defRPr>
      </a:lvl3pPr>
      <a:lvl4pPr algn="l" defTabSz="685800" eaLnBrk="1" hangingPunct="1" indent="-128588" latinLnBrk="0" marL="772716" rtl="0">
        <a:lnSpc>
          <a:spcPct val="90000"/>
        </a:lnSpc>
        <a:spcBef>
          <a:spcPts val="0"/>
        </a:spcBef>
        <a:spcAft>
          <a:spcPts val="900"/>
        </a:spcAft>
        <a:buFont charset="0" panose="020B0604020202020204" pitchFamily="34" typeface="Arial"/>
        <a:buChar char="•"/>
        <a:defRPr baseline="0" kern="1200" sz="1350">
          <a:solidFill>
            <a:schemeClr val="tx2"/>
          </a:solidFill>
          <a:latin charset="0" panose="020F0603020204020204" pitchFamily="34" typeface="Amazon Ember Display"/>
          <a:ea typeface="+mn-ea"/>
          <a:cs typeface="+mn-cs"/>
        </a:defRPr>
      </a:lvl4pPr>
      <a:lvl5pPr algn="l" defTabSz="685800" eaLnBrk="1" hangingPunct="1" indent="-128588" latinLnBrk="0" marL="901304" rtl="0">
        <a:lnSpc>
          <a:spcPct val="90000"/>
        </a:lnSpc>
        <a:spcBef>
          <a:spcPts val="0"/>
        </a:spcBef>
        <a:spcAft>
          <a:spcPts val="900"/>
        </a:spcAft>
        <a:buFont charset="0" panose="020B0604020202020204" pitchFamily="34" typeface="Arial"/>
        <a:buChar char="•"/>
        <a:defRPr baseline="0" kern="1200" sz="1350">
          <a:solidFill>
            <a:schemeClr val="tx2"/>
          </a:solidFill>
          <a:latin charset="0" panose="020F0603020204020204" pitchFamily="34" typeface="Amazon Ember Display"/>
          <a:ea typeface="+mn-ea"/>
          <a:cs typeface="+mn-cs"/>
        </a:defRPr>
      </a:lvl5pPr>
      <a:lvl6pPr algn="l" defTabSz="685800" eaLnBrk="1" hangingPunct="1" indent="-171450" latinLnBrk="0" marL="18859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6pPr>
      <a:lvl7pPr algn="l" defTabSz="685800" eaLnBrk="1" hangingPunct="1" indent="-171450" latinLnBrk="0" marL="22288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7pPr>
      <a:lvl8pPr algn="l" defTabSz="685800" eaLnBrk="1" hangingPunct="1" indent="-171450" latinLnBrk="0" marL="25717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8pPr>
      <a:lvl9pPr algn="l" defTabSz="685800" eaLnBrk="1" hangingPunct="1" indent="-171450" latinLnBrk="0" marL="29146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9pPr>
    </p:bodyStyle>
    <p:otherStyle>
      <a:defPPr>
        <a:defRPr lang="en-US"/>
      </a:defPPr>
      <a:lvl1pPr algn="l" defTabSz="685800" eaLnBrk="1" hangingPunct="1" latinLnBrk="0" marL="0" rtl="0">
        <a:defRPr kern="1200" sz="1350">
          <a:solidFill>
            <a:schemeClr val="tx1"/>
          </a:solidFill>
          <a:latin typeface="+mn-lt"/>
          <a:ea typeface="+mn-ea"/>
          <a:cs typeface="+mn-cs"/>
        </a:defRPr>
      </a:lvl1pPr>
      <a:lvl2pPr algn="l" defTabSz="685800" eaLnBrk="1" hangingPunct="1" latinLnBrk="0" marL="342900" rtl="0">
        <a:defRPr kern="1200" sz="1350">
          <a:solidFill>
            <a:schemeClr val="tx1"/>
          </a:solidFill>
          <a:latin typeface="+mn-lt"/>
          <a:ea typeface="+mn-ea"/>
          <a:cs typeface="+mn-cs"/>
        </a:defRPr>
      </a:lvl2pPr>
      <a:lvl3pPr algn="l" defTabSz="685800" eaLnBrk="1" hangingPunct="1" latinLnBrk="0" marL="685800" rtl="0">
        <a:defRPr kern="1200" sz="1350">
          <a:solidFill>
            <a:schemeClr val="tx1"/>
          </a:solidFill>
          <a:latin typeface="+mn-lt"/>
          <a:ea typeface="+mn-ea"/>
          <a:cs typeface="+mn-cs"/>
        </a:defRPr>
      </a:lvl3pPr>
      <a:lvl4pPr algn="l" defTabSz="685800" eaLnBrk="1" hangingPunct="1" latinLnBrk="0" marL="1028700" rtl="0">
        <a:defRPr kern="1200" sz="1350">
          <a:solidFill>
            <a:schemeClr val="tx1"/>
          </a:solidFill>
          <a:latin typeface="+mn-lt"/>
          <a:ea typeface="+mn-ea"/>
          <a:cs typeface="+mn-cs"/>
        </a:defRPr>
      </a:lvl4pPr>
      <a:lvl5pPr algn="l" defTabSz="685800" eaLnBrk="1" hangingPunct="1" latinLnBrk="0" marL="1371600" rtl="0">
        <a:defRPr kern="1200" sz="1350">
          <a:solidFill>
            <a:schemeClr val="tx1"/>
          </a:solidFill>
          <a:latin typeface="+mn-lt"/>
          <a:ea typeface="+mn-ea"/>
          <a:cs typeface="+mn-cs"/>
        </a:defRPr>
      </a:lvl5pPr>
      <a:lvl6pPr algn="l" defTabSz="685800" eaLnBrk="1" hangingPunct="1" latinLnBrk="0" marL="1714500" rtl="0">
        <a:defRPr kern="1200" sz="1350">
          <a:solidFill>
            <a:schemeClr val="tx1"/>
          </a:solidFill>
          <a:latin typeface="+mn-lt"/>
          <a:ea typeface="+mn-ea"/>
          <a:cs typeface="+mn-cs"/>
        </a:defRPr>
      </a:lvl6pPr>
      <a:lvl7pPr algn="l" defTabSz="685800" eaLnBrk="1" hangingPunct="1" latinLnBrk="0" marL="2057400" rtl="0">
        <a:defRPr kern="1200" sz="1350">
          <a:solidFill>
            <a:schemeClr val="tx1"/>
          </a:solidFill>
          <a:latin typeface="+mn-lt"/>
          <a:ea typeface="+mn-ea"/>
          <a:cs typeface="+mn-cs"/>
        </a:defRPr>
      </a:lvl7pPr>
      <a:lvl8pPr algn="l" defTabSz="685800" eaLnBrk="1" hangingPunct="1" latinLnBrk="0" marL="2400300" rtl="0">
        <a:defRPr kern="1200" sz="1350">
          <a:solidFill>
            <a:schemeClr val="tx1"/>
          </a:solidFill>
          <a:latin typeface="+mn-lt"/>
          <a:ea typeface="+mn-ea"/>
          <a:cs typeface="+mn-cs"/>
        </a:defRPr>
      </a:lvl8pPr>
      <a:lvl9pPr algn="l" defTabSz="6858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image" Target="../media/image26.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5.xml" /><Relationship Id="rId3" Type="http://schemas.openxmlformats.org/officeDocument/2006/relationships/image" Target="../media/image2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7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0.xml" /><Relationship Id="rId3" Type="http://schemas.openxmlformats.org/officeDocument/2006/relationships/image" Target="../media/image2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71.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4.xml" /><Relationship Id="rId3" Type="http://schemas.openxmlformats.org/officeDocument/2006/relationships/image" Target="../media/image29.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5.xml" /><Relationship Id="rId3" Type="http://schemas.openxmlformats.org/officeDocument/2006/relationships/image" Target="../media/image30.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6.xml" /><Relationship Id="rId3" Type="http://schemas.openxmlformats.org/officeDocument/2006/relationships/image" Target="../media/image31.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71.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7.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7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3.xml" /><Relationship Id="rId3" Type="http://schemas.openxmlformats.org/officeDocument/2006/relationships/image" Target="../media/image32.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Teaching a Small LLM to Solve Math with RL</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GRPO Training on GSM8K — From Scratch to Production</a:t>
            </a:r>
            <a:br/>
            <a:br/>
            <a:r>
              <a:rPr/>
              <a:t>Harish VS</a:t>
            </a:r>
          </a:p>
        </p:txBody>
      </p:sp>
      <p:sp>
        <p:nvSpPr>
          <p:cNvPr id="4" name="Date Placeholder 3"/>
          <p:cNvSpPr>
            <a:spLocks noGrp="1"/>
          </p:cNvSpPr>
          <p:nvPr>
            <p:ph idx="10" sz="half" type="dt"/>
          </p:nvPr>
        </p:nvSpPr>
        <p:spPr/>
        <p:txBody>
          <a:bodyPr/>
          <a:lstStyle/>
          <a:p>
            <a:pPr lvl="0" indent="0" marL="0">
              <a:buNone/>
            </a:pPr>
            <a:r>
              <a:rPr/>
              <a:t>February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 is Reinforcement Learning?</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A way to train models by </a:t>
            </a:r>
            <a:r>
              <a:rPr b="1"/>
              <a:t>trial and error</a:t>
            </a:r>
            <a:r>
              <a:rPr/>
              <a:t> instead of showing them the right answer.</a:t>
            </a:r>
          </a:p>
          <a:p>
            <a:pPr lvl="0"/>
            <a:r>
              <a:rPr b="1"/>
              <a:t>Supervised learning</a:t>
            </a:r>
            <a:r>
              <a:rPr/>
              <a:t>: here’s the question, here’s the correct answer — learn to copy it</a:t>
            </a:r>
          </a:p>
          <a:p>
            <a:pPr lvl="0"/>
            <a:r>
              <a:rPr b="1"/>
              <a:t>Reinforcement learning</a:t>
            </a:r>
            <a:r>
              <a:rPr/>
              <a:t>: here’s the question, try something, I’ll tell you if it worked — figure out how to get it right</a:t>
            </a:r>
          </a:p>
          <a:p>
            <a:pPr lvl="0" indent="0" marL="0">
              <a:buNone/>
            </a:pPr>
            <a:r>
              <a:rPr/>
              <a:t>The model explores on its own, gets a reward signal (right/wrong), and gradually improves. No hand-crafted solutions needed — just a way to check the answer.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The Goal</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Train Qwen2.5-1.5B / 7B on GSM8K math reasoning using </a:t>
            </a:r>
            <a:r>
              <a:rPr b="1"/>
              <a:t>GRPO</a:t>
            </a:r>
            <a:r>
              <a:rPr/>
              <a:t> (DeepSeek-R1).</a:t>
            </a:r>
          </a:p>
          <a:p>
            <a:pPr lvl="0"/>
            <a:r>
              <a:rPr b="1"/>
              <a:t>Dataset</a:t>
            </a:r>
            <a:r>
              <a:rPr/>
              <a:t>: GSM8K — 7,473 train / 1,319 test, binary reward (correct = 1.0)</a:t>
            </a:r>
          </a:p>
          <a:p>
            <a:pPr lvl="0"/>
            <a:r>
              <a:rPr b="1"/>
              <a:t>Infrastructure</a:t>
            </a:r>
            <a:r>
              <a:rPr/>
              <a:t>: EKS, 2× p4d.24xlarge (16× A100 40GB)</a:t>
            </a:r>
          </a:p>
          <a:p>
            <a:pPr lvl="0"/>
            <a:r>
              <a:rPr b="1"/>
              <a:t>Two approaches</a:t>
            </a:r>
            <a:r>
              <a:rPr/>
              <a:t>: Hand-rolled GRPO trainer (learning exercise) → veRL framework (production)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GRPO Setup</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b="1"/>
              <a:t>GSM8K example:</a:t>
            </a:r>
          </a:p>
          <a:p>
            <a:pPr lvl="0" indent="0" marL="0">
              <a:buNone/>
            </a:pPr>
            <a:r>
              <a:rPr b="1"/>
              <a:t>Q:</a:t>
            </a:r>
            <a:r>
              <a:rPr/>
              <a:t> Janet’s ducks lay 16 eggs per day. She eats three for breakfast every morning and bakes muffins for her friends every day with four. She sells the remainder at the farmers’ market daily for $2 per fresh duck egg. How much in dollars does she make every day at the farmers’ market?</a:t>
            </a:r>
          </a:p>
          <a:p>
            <a:pPr lvl="0" indent="0" marL="0">
              <a:buNone/>
            </a:pPr>
            <a:r>
              <a:rPr b="1"/>
              <a:t>A:</a:t>
            </a:r>
            <a:r>
              <a:rPr/>
              <a:t> Janet sells 16 - 3 - 4 = 9 duck eggs a day. She makes 9 * 2 = $18 every day at the farmer’s market. </a:t>
            </a:r>
            <a:r>
              <a:rPr b="1"/>
              <a:t>#### 18</a:t>
            </a:r>
          </a:p>
          <a:p>
            <a:pPr lvl="0" indent="0" marL="0">
              <a:buNone/>
            </a:pPr>
            <a:r>
              <a:rPr/>
              <a:t>We only extract the number after </a:t>
            </a:r>
            <a:r>
              <a:rPr>
                <a:latin typeface="Courier"/>
              </a:rPr>
              <a:t>####</a:t>
            </a:r>
            <a:r>
              <a:rPr/>
              <a:t> — the solution text is never shown to the model</a:t>
            </a:r>
          </a:p>
        </p:txBody>
      </p:sp>
      <p:pic>
        <p:nvPicPr>
          <p:cNvPr descr="grpo_rl_loop.png" id="0" name="Picture 1"/>
          <p:cNvPicPr>
            <a:picLocks noGrp="1" noChangeAspect="1"/>
          </p:cNvPicPr>
          <p:nvPr/>
        </p:nvPicPr>
        <p:blipFill>
          <a:blip r:embed="rId2"/>
          <a:stretch>
            <a:fillRect/>
          </a:stretch>
        </p:blipFill>
        <p:spPr bwMode="auto">
          <a:xfrm>
            <a:off x="4648200" y="1473200"/>
            <a:ext cx="4025900" cy="15875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No critic needed</a:t>
            </a:r>
            <a:r>
              <a:rPr/>
              <a:t> — instead of training a separate model to estimate “how good is this state?” (like PPO), GRPO compares each attempt against the group average. If 3 out of 8 are correct, those 3 score above average and get reinforced.</a:t>
            </a:r>
          </a:p>
          <a:p>
            <a:pPr lvl="0"/>
            <a:r>
              <a:rPr b="1"/>
              <a:t>Safety guardrails</a:t>
            </a:r>
            <a:r>
              <a:rPr/>
              <a:t> — two mechanisms prevent the model from changing too drastically in one step:</a:t>
            </a:r>
          </a:p>
          <a:p>
            <a:pPr lvl="1"/>
            <a:r>
              <a:rPr i="1"/>
              <a:t>Clipping</a:t>
            </a:r>
            <a:r>
              <a:rPr/>
              <a:t> (ε=0.2): caps how much any single update can shift the model</a:t>
            </a:r>
          </a:p>
          <a:p>
            <a:pPr lvl="1"/>
            <a:r>
              <a:rPr i="1"/>
              <a:t>KL penalty</a:t>
            </a:r>
            <a:r>
              <a:rPr/>
              <a:t> (β=0.1): measures drift from the starting point and pushes back if it strays too far</a:t>
            </a:r>
          </a:p>
          <a:p>
            <a:pPr lvl="0"/>
            <a:r>
              <a:rPr b="1"/>
              <a:t>8 attempts per problem</a:t>
            </a:r>
            <a:r>
              <a:rPr/>
              <a:t> — the model generates 8 solutions per question, learns by comparing winners vs losers within each group</a:t>
            </a:r>
          </a:p>
          <a:p>
            <a:pPr lvl="0"/>
            <a:r>
              <a:rPr b="1"/>
              <a:t>No human solutions needed</a:t>
            </a:r>
            <a:r>
              <a:rPr/>
              <a:t> — GSM8K includes step-by-step solutions, but we throw those away. We only check the final number. The model figures out its own reasoning.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Two Approaches</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Custom Trainer</a:t>
                      </a:r>
                    </a:p>
                  </a:txBody>
                  <a:tcPr/>
                </a:tc>
                <a:tc>
                  <a:txBody>
                    <a:bodyPr/>
                    <a:lstStyle/>
                    <a:p>
                      <a:pPr lvl="0" indent="0" marL="0">
                        <a:buNone/>
                      </a:pPr>
                      <a:r>
                        <a:rPr/>
                        <a:t>veRL Framework</a:t>
                      </a:r>
                    </a:p>
                  </a:txBody>
                  <a:tcPr/>
                </a:tc>
              </a:tr>
              <a:tr h="0">
                <a:tc>
                  <a:txBody>
                    <a:bodyPr/>
                    <a:lstStyle/>
                    <a:p>
                      <a:pPr lvl="0" indent="0" marL="0">
                        <a:buNone/>
                      </a:pPr>
                      <a:r>
                        <a:rPr/>
                        <a:t>Code</a:t>
                      </a:r>
                    </a:p>
                  </a:txBody>
                </a:tc>
                <a:tc>
                  <a:txBody>
                    <a:bodyPr/>
                    <a:lstStyle/>
                    <a:p>
                      <a:pPr lvl="0" indent="0" marL="0">
                        <a:buNone/>
                      </a:pPr>
                      <a:r>
                        <a:rPr/>
                        <a:t>~800 lines, hand-rolled</a:t>
                      </a:r>
                    </a:p>
                  </a:txBody>
                </a:tc>
                <a:tc>
                  <a:txBody>
                    <a:bodyPr/>
                    <a:lstStyle/>
                    <a:p>
                      <a:pPr lvl="0" indent="0" marL="0">
                        <a:buNone/>
                      </a:pPr>
                      <a:r>
                        <a:rPr/>
                        <a:t>~50 lines config</a:t>
                      </a:r>
                    </a:p>
                  </a:txBody>
                </a:tc>
              </a:tr>
              <a:tr h="0">
                <a:tc>
                  <a:txBody>
                    <a:bodyPr/>
                    <a:lstStyle/>
                    <a:p>
                      <a:pPr lvl="0" indent="0" marL="0">
                        <a:buNone/>
                      </a:pPr>
                      <a:r>
                        <a:rPr/>
                        <a:t>Debug time</a:t>
                      </a:r>
                    </a:p>
                  </a:txBody>
                </a:tc>
                <a:tc>
                  <a:txBody>
                    <a:bodyPr/>
                    <a:lstStyle/>
                    <a:p>
                      <a:pPr lvl="0" indent="0" marL="0">
                        <a:buNone/>
                      </a:pPr>
                      <a:r>
                        <a:rPr/>
                        <a:t>12 hours, 5 attempts</a:t>
                      </a:r>
                    </a:p>
                  </a:txBody>
                </a:tc>
                <a:tc>
                  <a:txBody>
                    <a:bodyPr/>
                    <a:lstStyle/>
                    <a:p>
                      <a:pPr lvl="0" indent="0" marL="0">
                        <a:buNone/>
                      </a:pPr>
                      <a:r>
                        <a:rPr/>
                        <a:t>Worked first try</a:t>
                      </a:r>
                    </a:p>
                  </a:txBody>
                </a:tc>
              </a:tr>
              <a:tr h="0">
                <a:tc>
                  <a:txBody>
                    <a:bodyPr/>
                    <a:lstStyle/>
                    <a:p>
                      <a:pPr lvl="0" indent="0" marL="0">
                        <a:buNone/>
                      </a:pPr>
                      <a:r>
                        <a:rPr/>
                        <a:t>Throughput</a:t>
                      </a:r>
                    </a:p>
                  </a:txBody>
                </a:tc>
                <a:tc>
                  <a:txBody>
                    <a:bodyPr/>
                    <a:lstStyle/>
                    <a:p>
                      <a:pPr lvl="0" indent="0" marL="0">
                        <a:buNone/>
                      </a:pPr>
                      <a:r>
                        <a:rPr/>
                        <a:t>2,304 seq/hr</a:t>
                      </a:r>
                    </a:p>
                  </a:txBody>
                </a:tc>
                <a:tc>
                  <a:txBody>
                    <a:bodyPr/>
                    <a:lstStyle/>
                    <a:p>
                      <a:pPr lvl="0" indent="0" marL="0">
                        <a:buNone/>
                      </a:pPr>
                      <a:r>
                        <a:rPr/>
                        <a:t>104,448 seq/hr</a:t>
                      </a:r>
                    </a:p>
                  </a:txBody>
                </a:tc>
              </a:tr>
              <a:tr h="0">
                <a:tc>
                  <a:txBody>
                    <a:bodyPr/>
                    <a:lstStyle/>
                    <a:p>
                      <a:pPr lvl="0" indent="0" marL="0">
                        <a:buNone/>
                      </a:pPr>
                      <a:r>
                        <a:rPr/>
                        <a:t>1 epoch</a:t>
                      </a:r>
                    </a:p>
                  </a:txBody>
                </a:tc>
                <a:tc>
                  <a:txBody>
                    <a:bodyPr/>
                    <a:lstStyle/>
                    <a:p>
                      <a:pPr lvl="0" indent="0" marL="0">
                        <a:buNone/>
                      </a:pPr>
                      <a:r>
                        <a:rPr/>
                        <a:t>~26 hours</a:t>
                      </a:r>
                    </a:p>
                  </a:txBody>
                </a:tc>
                <a:tc>
                  <a:txBody>
                    <a:bodyPr/>
                    <a:lstStyle/>
                    <a:p>
                      <a:pPr lvl="0" indent="0" marL="0">
                        <a:buNone/>
                      </a:pPr>
                      <a:r>
                        <a:rPr b="1"/>
                        <a:t>35 minutes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Built the custom trainer first to understand GRPO internals, then switched to veRL for actual training.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Experiment 1: Custom Trainer — The Journey</a:t>
            </a:r>
          </a:p>
        </p:txBody>
      </p:sp>
      <p:pic>
        <p:nvPicPr>
          <p:cNvPr descr="custom_trainer_architecture.png" id="0" name="Picture 1"/>
          <p:cNvPicPr>
            <a:picLocks noGrp="1" noChangeAspect="1"/>
          </p:cNvPicPr>
          <p:nvPr/>
        </p:nvPicPr>
        <p:blipFill>
          <a:blip r:embed="rId3"/>
          <a:stretch>
            <a:fillRect/>
          </a:stretch>
        </p:blipFill>
        <p:spPr bwMode="auto">
          <a:xfrm>
            <a:off x="2870200" y="1282700"/>
            <a:ext cx="3390900" cy="19304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1: OOM Immediately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a:t>batch_size=8, group_size=8 → 64 sequences/step</a:t>
            </a:r>
          </a:p>
          <a:p>
            <a:pPr lvl="0"/>
            <a:r>
              <a:rPr/>
              <a:t>Rank 0 holds FSDP shard + full generation model</a:t>
            </a:r>
          </a:p>
          <a:p>
            <a:pPr lvl="0"/>
            <a:r>
              <a:rPr b="1"/>
              <a:t>Crashed on step 1</a:t>
            </a:r>
            <a:r>
              <a:rPr/>
              <a:t> — GPU 0 out of memory</a:t>
            </a:r>
          </a:p>
          <a:p>
            <a:pPr lvl="0" indent="0" marL="0">
              <a:buNone/>
            </a:pPr>
            <a:r>
              <a:rPr/>
              <a:t>Fix: Reduce batch_size to 4.</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2: KL Explosion</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Step</a:t>
                      </a:r>
                    </a:p>
                  </a:txBody>
                  <a:tcPr/>
                </a:tc>
                <a:tc>
                  <a:txBody>
                    <a:bodyPr/>
                    <a:lstStyle/>
                    <a:p>
                      <a:pPr lvl="0" indent="0" marL="0">
                        <a:buNone/>
                      </a:pPr>
                      <a:r>
                        <a:rPr/>
                        <a:t>KL Divergence</a:t>
                      </a:r>
                    </a:p>
                  </a:txBody>
                  <a:tcPr/>
                </a:tc>
              </a:tr>
              <a:tr h="0">
                <a:tc>
                  <a:txBody>
                    <a:bodyPr/>
                    <a:lstStyle/>
                    <a:p>
                      <a:pPr lvl="0" indent="0" marL="0">
                        <a:buNone/>
                      </a:pPr>
                      <a:r>
                        <a:rPr/>
                        <a:t>1</a:t>
                      </a:r>
                    </a:p>
                  </a:txBody>
                </a:tc>
                <a:tc>
                  <a:txBody>
                    <a:bodyPr/>
                    <a:lstStyle/>
                    <a:p>
                      <a:pPr lvl="0" indent="0" marL="0">
                        <a:buNone/>
                      </a:pPr>
                      <a:r>
                        <a:rPr/>
                        <a:t>0.42</a:t>
                      </a:r>
                    </a:p>
                  </a:txBody>
                </a:tc>
              </a:tr>
              <a:tr h="0">
                <a:tc>
                  <a:txBody>
                    <a:bodyPr/>
                    <a:lstStyle/>
                    <a:p>
                      <a:pPr lvl="0" indent="0" marL="0">
                        <a:buNone/>
                      </a:pPr>
                      <a:r>
                        <a:rPr/>
                        <a:t>2</a:t>
                      </a:r>
                    </a:p>
                  </a:txBody>
                </a:tc>
                <a:tc>
                  <a:txBody>
                    <a:bodyPr/>
                    <a:lstStyle/>
                    <a:p>
                      <a:pPr lvl="0" indent="0" marL="0">
                        <a:buNone/>
                      </a:pPr>
                      <a:r>
                        <a:rPr b="1"/>
                        <a:t>194.8</a:t>
                      </a:r>
                      <a:r>
                        <a:rPr/>
                        <a:t> 💥</a:t>
                      </a:r>
                    </a:p>
                  </a:txBody>
                </a:tc>
              </a:tr>
              <a:tr h="0">
                <a:tc>
                  <a:txBody>
                    <a:bodyPr/>
                    <a:lstStyle/>
                    <a:p>
                      <a:pPr lvl="0" indent="0" marL="0">
                        <a:buNone/>
                      </a:pPr>
                      <a:r>
                        <a:rPr/>
                        <a:t>3</a:t>
                      </a:r>
                    </a:p>
                  </a:txBody>
                </a:tc>
                <a:tc>
                  <a:txBody>
                    <a:bodyPr/>
                    <a:lstStyle/>
                    <a:p>
                      <a:pPr lvl="0" indent="0" marL="0">
                        <a:buNone/>
                      </a:pPr>
                      <a:r>
                        <a:rPr/>
                        <a:t>OOM crash</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b="1"/>
              <a:t>Root cause</a:t>
            </a:r>
            <a:r>
              <a:rPr/>
              <a:t>: Computing importance ratio on sequence-level summed log probs.</a:t>
            </a:r>
          </a:p>
          <a:p>
            <a:pPr lvl="0" indent="0" marL="0">
              <a:buNone/>
            </a:pPr>
            <a:r>
              <a:rPr>
                <a:latin typeface="Courier"/>
              </a:rPr>
              <a:t>exp(sum of 200 token shifts)</a:t>
            </a:r>
            <a:r>
              <a:rPr/>
              <a:t> → exponential blowup.</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2: The Fix</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Per-token importance ratio instead of sequence-level:</a:t>
            </a:r>
          </a:p>
          <a:p>
            <a:pPr lvl="0" indent="0">
              <a:buNone/>
            </a:pPr>
            <a:r>
              <a:rPr>
                <a:latin typeface="Courier"/>
              </a:rPr>
              <a:t>Broken (sequence-level):
ratio = exp(-448 - (-450)) = exp(2.0) = 7.4  ← unstable
Fixed (per-token):
ratio = exp(0.01) = 1.01  ← stable</a:t>
            </a:r>
          </a:p>
          <a:p>
            <a:pPr lvl="0" indent="0" marL="0">
              <a:buNone/>
            </a:pPr>
            <a:r>
              <a:rPr/>
              <a:t>After fix: KL stayed at 0.0004–0.0009 ✓</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3: Too Slow</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a:t>Per-token fix worked — KL stable, no OOM</a:t>
            </a:r>
          </a:p>
          <a:p>
            <a:pPr lvl="0"/>
            <a:r>
              <a:rPr/>
              <a:t>But: </a:t>
            </a:r>
            <a:r>
              <a:rPr b="1"/>
              <a:t>5 min/step</a:t>
            </a:r>
            <a:r>
              <a:rPr/>
              <a:t>, 12 steps/hr</a:t>
            </a:r>
          </a:p>
          <a:p>
            <a:pPr lvl="0"/>
            <a:r>
              <a:rPr/>
              <a:t>1,868 total steps → </a:t>
            </a:r>
            <a:r>
              <a:rPr b="1"/>
              <a:t>156 hours</a:t>
            </a:r>
            <a:r>
              <a:rPr/>
              <a:t> for 1 epoch</a:t>
            </a:r>
          </a:p>
          <a:p>
            <a:pPr lvl="0"/>
            <a:r>
              <a:rPr/>
              <a:t>Capacity block: 32 hours</a:t>
            </a:r>
          </a:p>
          <a:p>
            <a:pPr lvl="0" indent="0" marL="0">
              <a:buNone/>
            </a:pPr>
            <a:r>
              <a:rPr/>
              <a:t>Problem: 32 sequential HuggingFace </a:t>
            </a:r>
            <a:r>
              <a:rPr>
                <a:latin typeface="Courier"/>
              </a:rPr>
              <a:t>model.generate()</a:t>
            </a:r>
            <a:r>
              <a:rPr/>
              <a:t> calls per step (one per rollout, no batching).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Attempt 4: Batched Generation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Used </a:t>
            </a:r>
            <a:r>
              <a:rPr>
                <a:latin typeface="Courier"/>
              </a:rPr>
              <a:t>num_return_sequences=8</a:t>
            </a:r>
            <a:r>
              <a:rPr/>
              <a:t> in HuggingFace </a:t>
            </a:r>
            <a:r>
              <a:rPr>
                <a:latin typeface="Courier"/>
              </a:rPr>
              <a:t>model.generate()</a:t>
            </a:r>
            <a:r>
              <a:rPr/>
              <a:t> — generates all 8 completions per prompt in one call, sharing the KV cache.</a:t>
            </a:r>
          </a:p>
          <a:p>
            <a:pPr lvl="0" indent="0" marL="0">
              <a:buNone/>
            </a:pPr>
            <a:r>
              <a:rPr/>
              <a:t>4 generate calls instead of 32 → </a:t>
            </a:r>
            <a:r>
              <a:rPr b="1"/>
              <a:t>3× speedup</a:t>
            </a:r>
            <a:r>
              <a:rPr/>
              <a:t>.</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Before</a:t>
                      </a:r>
                    </a:p>
                  </a:txBody>
                  <a:tcPr/>
                </a:tc>
                <a:tc>
                  <a:txBody>
                    <a:bodyPr/>
                    <a:lstStyle/>
                    <a:p>
                      <a:pPr lvl="0" indent="0" marL="0">
                        <a:buNone/>
                      </a:pPr>
                      <a:r>
                        <a:rPr/>
                        <a:t>After</a:t>
                      </a:r>
                    </a:p>
                  </a:txBody>
                  <a:tcPr/>
                </a:tc>
              </a:tr>
              <a:tr h="0">
                <a:tc>
                  <a:txBody>
                    <a:bodyPr/>
                    <a:lstStyle/>
                    <a:p>
                      <a:pPr lvl="0" indent="0" marL="0">
                        <a:buNone/>
                      </a:pPr>
                      <a:r>
                        <a:rPr/>
                        <a:t>Step time</a:t>
                      </a:r>
                    </a:p>
                  </a:txBody>
                </a:tc>
                <a:tc>
                  <a:txBody>
                    <a:bodyPr/>
                    <a:lstStyle/>
                    <a:p>
                      <a:pPr lvl="0" indent="0" marL="0">
                        <a:buNone/>
                      </a:pPr>
                      <a:r>
                        <a:rPr/>
                        <a:t>5 min</a:t>
                      </a:r>
                    </a:p>
                  </a:txBody>
                </a:tc>
                <a:tc>
                  <a:txBody>
                    <a:bodyPr/>
                    <a:lstStyle/>
                    <a:p>
                      <a:pPr lvl="0" indent="0" marL="0">
                        <a:buNone/>
                      </a:pPr>
                      <a:r>
                        <a:rPr/>
                        <a:t>1.5 min</a:t>
                      </a:r>
                    </a:p>
                  </a:txBody>
                </a:tc>
              </a:tr>
              <a:tr h="0">
                <a:tc>
                  <a:txBody>
                    <a:bodyPr/>
                    <a:lstStyle/>
                    <a:p>
                      <a:pPr lvl="0" indent="0" marL="0">
                        <a:buNone/>
                      </a:pPr>
                      <a:r>
                        <a:rPr/>
                        <a:t>Steps/hr</a:t>
                      </a:r>
                    </a:p>
                  </a:txBody>
                </a:tc>
                <a:tc>
                  <a:txBody>
                    <a:bodyPr/>
                    <a:lstStyle/>
                    <a:p>
                      <a:pPr lvl="0" indent="0" marL="0">
                        <a:buNone/>
                      </a:pPr>
                      <a:r>
                        <a:rPr/>
                        <a:t>12</a:t>
                      </a:r>
                    </a:p>
                  </a:txBody>
                </a:tc>
                <a:tc>
                  <a:txBody>
                    <a:bodyPr/>
                    <a:lstStyle/>
                    <a:p>
                      <a:pPr lvl="0" indent="0" marL="0">
                        <a:buNone/>
                      </a:pPr>
                      <a:r>
                        <a:rPr/>
                        <a:t>40</a:t>
                      </a:r>
                    </a:p>
                  </a:txBody>
                </a:tc>
              </a:tr>
              <a:tr h="0">
                <a:tc>
                  <a:txBody>
                    <a:bodyPr/>
                    <a:lstStyle/>
                    <a:p>
                      <a:pPr lvl="0" indent="0" marL="0">
                        <a:buNone/>
                      </a:pPr>
                      <a:r>
                        <a:rPr/>
                        <a:t>1 epoch</a:t>
                      </a:r>
                    </a:p>
                  </a:txBody>
                </a:tc>
                <a:tc>
                  <a:txBody>
                    <a:bodyPr/>
                    <a:lstStyle/>
                    <a:p>
                      <a:pPr lvl="0" indent="0" marL="0">
                        <a:buNone/>
                      </a:pPr>
                      <a:r>
                        <a:rPr/>
                        <a:t>156 hours</a:t>
                      </a:r>
                    </a:p>
                  </a:txBody>
                </a:tc>
                <a:tc>
                  <a:txBody>
                    <a:bodyPr/>
                    <a:lstStyle/>
                    <a:p>
                      <a:pPr lvl="0" indent="0" marL="0">
                        <a:buNone/>
                      </a:pPr>
                      <a:r>
                        <a:rPr/>
                        <a:t>47 hours</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run-2026-02-19/training_progress_step18.png" id="0" name="Picture 1"/>
          <p:cNvPicPr>
            <a:picLocks noGrp="1" noChangeAspect="1"/>
          </p:cNvPicPr>
          <p:nvPr/>
        </p:nvPicPr>
        <p:blipFill>
          <a:blip r:embed="rId3"/>
          <a:stretch>
            <a:fillRect/>
          </a:stretch>
        </p:blipFill>
        <p:spPr bwMode="auto">
          <a:xfrm>
            <a:off x="3568700" y="1282700"/>
            <a:ext cx="2006600" cy="1422400"/>
          </a:xfrm>
          <a:prstGeom prst="rect">
            <a:avLst/>
          </a:prstGeom>
          <a:noFill/>
          <a:ln w="9525">
            <a:noFill/>
            <a:headEnd/>
            <a:tailEnd/>
          </a:ln>
        </p:spPr>
      </p:pic>
      <p:sp>
        <p:nvSpPr>
          <p:cNvPr id="1" name="TextBox 3"/>
          <p:cNvSpPr txBox="1"/>
          <p:nvPr>
            <p:ph idx="1"/>
          </p:nvPr>
        </p:nvSpPr>
        <p:spPr>
          <a:xfrm>
            <a:off x="457200" y="2705100"/>
            <a:ext cx="8229600" cy="508000"/>
          </a:xfrm>
          <a:prstGeom prst="rect">
            <a:avLst/>
          </a:prstGeom>
          <a:noFill/>
        </p:spPr>
        <p:txBody>
          <a:bodyPr/>
          <a:lstStyle/>
          <a:p>
            <a:pPr lvl="0" indent="0" marL="0" algn="ctr">
              <a:buNone/>
            </a:pPr>
            <a:r>
              <a:rPr/>
              <a:t>Training Progress — Attempt 4</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Attempt 5: vLLM Server</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Deployed vLLM as separate K8s pod with HTTP weight sync.</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HF Batched</a:t>
                      </a:r>
                    </a:p>
                  </a:txBody>
                  <a:tcPr/>
                </a:tc>
                <a:tc>
                  <a:txBody>
                    <a:bodyPr/>
                    <a:lstStyle/>
                    <a:p>
                      <a:pPr lvl="0" indent="0" marL="0">
                        <a:buNone/>
                      </a:pPr>
                      <a:r>
                        <a:rPr/>
                        <a:t>vLLM Server</a:t>
                      </a:r>
                    </a:p>
                  </a:txBody>
                  <a:tcPr/>
                </a:tc>
              </a:tr>
              <a:tr h="0">
                <a:tc>
                  <a:txBody>
                    <a:bodyPr/>
                    <a:lstStyle/>
                    <a:p>
                      <a:pPr lvl="0" indent="0" marL="0">
                        <a:buNone/>
                      </a:pPr>
                      <a:r>
                        <a:rPr/>
                        <a:t>Step time</a:t>
                      </a:r>
                    </a:p>
                  </a:txBody>
                </a:tc>
                <a:tc>
                  <a:txBody>
                    <a:bodyPr/>
                    <a:lstStyle/>
                    <a:p>
                      <a:pPr lvl="0" indent="0" marL="0">
                        <a:buNone/>
                      </a:pPr>
                      <a:r>
                        <a:rPr/>
                        <a:t>1.5 min</a:t>
                      </a:r>
                    </a:p>
                  </a:txBody>
                </a:tc>
                <a:tc>
                  <a:txBody>
                    <a:bodyPr/>
                    <a:lstStyle/>
                    <a:p>
                      <a:pPr lvl="0" indent="0" marL="0">
                        <a:buNone/>
                      </a:pPr>
                      <a:r>
                        <a:rPr/>
                        <a:t>50s</a:t>
                      </a:r>
                    </a:p>
                  </a:txBody>
                </a:tc>
              </a:tr>
              <a:tr h="0">
                <a:tc>
                  <a:txBody>
                    <a:bodyPr/>
                    <a:lstStyle/>
                    <a:p>
                      <a:pPr lvl="0" indent="0" marL="0">
                        <a:buNone/>
                      </a:pPr>
                      <a:r>
                        <a:rPr/>
                        <a:t>Steps/hr</a:t>
                      </a:r>
                    </a:p>
                  </a:txBody>
                </a:tc>
                <a:tc>
                  <a:txBody>
                    <a:bodyPr/>
                    <a:lstStyle/>
                    <a:p>
                      <a:pPr lvl="0" indent="0" marL="0">
                        <a:buNone/>
                      </a:pPr>
                      <a:r>
                        <a:rPr/>
                        <a:t>40</a:t>
                      </a:r>
                    </a:p>
                  </a:txBody>
                </a:tc>
                <a:tc>
                  <a:txBody>
                    <a:bodyPr/>
                    <a:lstStyle/>
                    <a:p>
                      <a:pPr lvl="0" indent="0" marL="0">
                        <a:buNone/>
                      </a:pPr>
                      <a:r>
                        <a:rPr/>
                        <a:t>72</a:t>
                      </a:r>
                    </a:p>
                  </a:txBody>
                </a:tc>
              </a:tr>
              <a:tr h="0">
                <a:tc>
                  <a:txBody>
                    <a:bodyPr/>
                    <a:lstStyle/>
                    <a:p>
                      <a:pPr lvl="0" indent="0" marL="0">
                        <a:buNone/>
                      </a:pPr>
                      <a:r>
                        <a:rPr/>
                        <a:t>1 epoch</a:t>
                      </a:r>
                    </a:p>
                  </a:txBody>
                </a:tc>
                <a:tc>
                  <a:txBody>
                    <a:bodyPr/>
                    <a:lstStyle/>
                    <a:p>
                      <a:pPr lvl="0" indent="0" marL="0">
                        <a:buNone/>
                      </a:pPr>
                      <a:r>
                        <a:rPr/>
                        <a:t>47 hours</a:t>
                      </a:r>
                    </a:p>
                  </a:txBody>
                </a:tc>
                <a:tc>
                  <a:txBody>
                    <a:bodyPr/>
                    <a:lstStyle/>
                    <a:p>
                      <a:pPr lvl="0" indent="0" marL="0">
                        <a:buNone/>
                      </a:pPr>
                      <a:r>
                        <a:rPr/>
                        <a:t>26 hours</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b="1"/>
              <a:t>Crashed at step 50</a:t>
            </a:r>
            <a:r>
              <a:rPr/>
              <a:t> — checkpoint save bug (</a:t>
            </a:r>
            <a:r>
              <a:rPr>
                <a:latin typeface="Courier"/>
              </a:rPr>
              <a:t>local_rank</a:t>
            </a:r>
            <a:r>
              <a:rPr/>
              <a:t> vs </a:t>
            </a:r>
            <a:r>
              <a:rPr>
                <a:latin typeface="Courier"/>
              </a:rPr>
              <a:t>global_rank</a:t>
            </a:r>
            <a:r>
              <a:rPr/>
              <a:t>).</a:t>
            </a:r>
          </a:p>
          <a:p>
            <a:pPr lvl="0" indent="0" marL="0">
              <a:buNone/>
            </a:pPr>
            <a:r>
              <a:rPr/>
              <a:t>After 49 steps: reward oscillating 0.31–0.56, no clear trend. Batch too small (32 seq/step).</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Custom Trainer: Speed Evolution</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Attempt</a:t>
                      </a:r>
                    </a:p>
                  </a:txBody>
                  <a:tcPr/>
                </a:tc>
                <a:tc>
                  <a:txBody>
                    <a:bodyPr/>
                    <a:lstStyle/>
                    <a:p>
                      <a:pPr lvl="0" indent="0" marL="0">
                        <a:buNone/>
                      </a:pPr>
                      <a:r>
                        <a:rPr/>
                        <a:t>Method</a:t>
                      </a:r>
                    </a:p>
                  </a:txBody>
                  <a:tcPr/>
                </a:tc>
                <a:tc>
                  <a:txBody>
                    <a:bodyPr/>
                    <a:lstStyle/>
                    <a:p>
                      <a:pPr lvl="0" indent="0" marL="0">
                        <a:buNone/>
                      </a:pPr>
                      <a:r>
                        <a:rPr/>
                        <a:t>Step Time</a:t>
                      </a:r>
                    </a:p>
                  </a:txBody>
                  <a:tcPr/>
                </a:tc>
                <a:tc>
                  <a:txBody>
                    <a:bodyPr/>
                    <a:lstStyle/>
                    <a:p>
                      <a:pPr lvl="0" indent="0" marL="0">
                        <a:buNone/>
                      </a:pPr>
                      <a:r>
                        <a:rPr/>
                        <a:t>Steps/hr</a:t>
                      </a:r>
                    </a:p>
                  </a:txBody>
                  <a:tcPr/>
                </a:tc>
              </a:tr>
              <a:tr h="0">
                <a:tc>
                  <a:txBody>
                    <a:bodyPr/>
                    <a:lstStyle/>
                    <a:p>
                      <a:pPr lvl="0" indent="0" marL="0">
                        <a:buNone/>
                      </a:pPr>
                      <a:r>
                        <a:rPr/>
                        <a:t>3</a:t>
                      </a:r>
                    </a:p>
                  </a:txBody>
                </a:tc>
                <a:tc>
                  <a:txBody>
                    <a:bodyPr/>
                    <a:lstStyle/>
                    <a:p>
                      <a:pPr lvl="0" indent="0" marL="0">
                        <a:buNone/>
                      </a:pPr>
                      <a:r>
                        <a:rPr/>
                        <a:t>Sequential </a:t>
                      </a:r>
                      <a:r>
                        <a:rPr>
                          <a:latin typeface="Courier"/>
                        </a:rPr>
                        <a:t>model.generate()</a:t>
                      </a:r>
                      <a:r>
                        <a:rPr/>
                        <a:t> — 1 call per rollout</a:t>
                      </a:r>
                    </a:p>
                  </a:txBody>
                </a:tc>
                <a:tc>
                  <a:txBody>
                    <a:bodyPr/>
                    <a:lstStyle/>
                    <a:p>
                      <a:pPr lvl="0" indent="0" marL="0">
                        <a:buNone/>
                      </a:pPr>
                      <a:r>
                        <a:rPr/>
                        <a:t>5 min</a:t>
                      </a:r>
                    </a:p>
                  </a:txBody>
                </a:tc>
                <a:tc>
                  <a:txBody>
                    <a:bodyPr/>
                    <a:lstStyle/>
                    <a:p>
                      <a:pPr lvl="0" indent="0" marL="0">
                        <a:buNone/>
                      </a:pPr>
                      <a:r>
                        <a:rPr/>
                        <a:t>12</a:t>
                      </a:r>
                    </a:p>
                  </a:txBody>
                </a:tc>
              </a:tr>
              <a:tr h="0">
                <a:tc>
                  <a:txBody>
                    <a:bodyPr/>
                    <a:lstStyle/>
                    <a:p>
                      <a:pPr lvl="0" indent="0" marL="0">
                        <a:buNone/>
                      </a:pPr>
                      <a:r>
                        <a:rPr/>
                        <a:t>4</a:t>
                      </a:r>
                    </a:p>
                  </a:txBody>
                </a:tc>
                <a:tc>
                  <a:txBody>
                    <a:bodyPr/>
                    <a:lstStyle/>
                    <a:p>
                      <a:pPr lvl="0" indent="0" marL="0">
                        <a:buNone/>
                      </a:pPr>
                      <a:r>
                        <a:rPr/>
                        <a:t>Batched </a:t>
                      </a:r>
                      <a:r>
                        <a:rPr>
                          <a:latin typeface="Courier"/>
                        </a:rPr>
                        <a:t>model.generate(num_return_sequences=8)</a:t>
                      </a:r>
                    </a:p>
                  </a:txBody>
                </a:tc>
                <a:tc>
                  <a:txBody>
                    <a:bodyPr/>
                    <a:lstStyle/>
                    <a:p>
                      <a:pPr lvl="0" indent="0" marL="0">
                        <a:buNone/>
                      </a:pPr>
                      <a:r>
                        <a:rPr/>
                        <a:t>1.5 min</a:t>
                      </a:r>
                    </a:p>
                  </a:txBody>
                </a:tc>
                <a:tc>
                  <a:txBody>
                    <a:bodyPr/>
                    <a:lstStyle/>
                    <a:p>
                      <a:pPr lvl="0" indent="0" marL="0">
                        <a:buNone/>
                      </a:pPr>
                      <a:r>
                        <a:rPr/>
                        <a:t>40</a:t>
                      </a:r>
                    </a:p>
                  </a:txBody>
                </a:tc>
              </a:tr>
              <a:tr h="0">
                <a:tc>
                  <a:txBody>
                    <a:bodyPr/>
                    <a:lstStyle/>
                    <a:p>
                      <a:pPr lvl="0" indent="0" marL="0">
                        <a:buNone/>
                      </a:pPr>
                      <a:r>
                        <a:rPr/>
                        <a:t>5</a:t>
                      </a:r>
                    </a:p>
                  </a:txBody>
                </a:tc>
                <a:tc>
                  <a:txBody>
                    <a:bodyPr/>
                    <a:lstStyle/>
                    <a:p>
                      <a:pPr lvl="0" indent="0" marL="0">
                        <a:buNone/>
                      </a:pPr>
                      <a:r>
                        <a:rPr/>
                        <a:t>vLLM as separate K8s pod, HTTP API</a:t>
                      </a:r>
                    </a:p>
                  </a:txBody>
                </a:tc>
                <a:tc>
                  <a:txBody>
                    <a:bodyPr/>
                    <a:lstStyle/>
                    <a:p>
                      <a:pPr lvl="0" indent="0" marL="0">
                        <a:buNone/>
                      </a:pPr>
                      <a:r>
                        <a:rPr/>
                        <a:t>63s</a:t>
                      </a:r>
                    </a:p>
                  </a:txBody>
                </a:tc>
                <a:tc>
                  <a:txBody>
                    <a:bodyPr/>
                    <a:lstStyle/>
                    <a:p>
                      <a:pPr lvl="0" indent="0" marL="0">
                        <a:buNone/>
                      </a:pPr>
                      <a:r>
                        <a:rPr/>
                        <a:t>57</a:t>
                      </a:r>
                    </a:p>
                  </a:txBody>
                </a:tc>
              </a:tr>
              <a:tr h="0">
                <a:tc>
                  <a:txBody>
                    <a:bodyPr/>
                    <a:lstStyle/>
                    <a:p>
                      <a:pPr lvl="0" indent="0" marL="0">
                        <a:buNone/>
                      </a:pPr>
                      <a:r>
                        <a:rPr/>
                        <a:t>5+</a:t>
                      </a:r>
                    </a:p>
                  </a:txBody>
                </a:tc>
                <a:tc>
                  <a:txBody>
                    <a:bodyPr/>
                    <a:lstStyle/>
                    <a:p>
                      <a:pPr lvl="0" indent="0" marL="0">
                        <a:buNone/>
                      </a:pPr>
                      <a:r>
                        <a:rPr/>
                        <a:t>vLLM + batched log_prob forward passes</a:t>
                      </a:r>
                    </a:p>
                  </a:txBody>
                </a:tc>
                <a:tc>
                  <a:txBody>
                    <a:bodyPr/>
                    <a:lstStyle/>
                    <a:p>
                      <a:pPr lvl="0" indent="0" marL="0">
                        <a:buNone/>
                      </a:pPr>
                      <a:r>
                        <a:rPr/>
                        <a:t>50s</a:t>
                      </a:r>
                    </a:p>
                  </a:txBody>
                </a:tc>
                <a:tc>
                  <a:txBody>
                    <a:bodyPr/>
                    <a:lstStyle/>
                    <a:p>
                      <a:pPr lvl="0" indent="0" marL="0">
                        <a:buNone/>
                      </a:pPr>
                      <a:r>
                        <a:rPr/>
                        <a:t>72</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6× faster over 3 iterations — but still not enough.</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Key Bugs Found</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286000"/>
                <a:gridCol w="3657600"/>
                <a:gridCol w="2286000"/>
              </a:tblGrid>
              <a:tr h="0">
                <a:tc>
                  <a:txBody>
                    <a:bodyPr/>
                    <a:lstStyle/>
                    <a:p>
                      <a:pPr lvl="0" indent="0" marL="0">
                        <a:buNone/>
                      </a:pPr>
                      <a:r>
                        <a:rPr/>
                        <a:t>Bug</a:t>
                      </a:r>
                    </a:p>
                  </a:txBody>
                  <a:tcPr/>
                </a:tc>
                <a:tc>
                  <a:txBody>
                    <a:bodyPr/>
                    <a:lstStyle/>
                    <a:p>
                      <a:pPr lvl="0" indent="0" marL="0">
                        <a:buNone/>
                      </a:pPr>
                      <a:r>
                        <a:rPr/>
                        <a:t>Impact</a:t>
                      </a:r>
                    </a:p>
                  </a:txBody>
                  <a:tcPr/>
                </a:tc>
                <a:tc>
                  <a:txBody>
                    <a:bodyPr/>
                    <a:lstStyle/>
                    <a:p>
                      <a:pPr lvl="0" indent="0" marL="0">
                        <a:buNone/>
                      </a:pPr>
                      <a:r>
                        <a:rPr/>
                        <a:t>Fix</a:t>
                      </a:r>
                    </a:p>
                  </a:txBody>
                  <a:tcPr/>
                </a:tc>
              </a:tr>
              <a:tr h="0">
                <a:tc>
                  <a:txBody>
                    <a:bodyPr/>
                    <a:lstStyle/>
                    <a:p>
                      <a:pPr lvl="0" indent="0" marL="0">
                        <a:buNone/>
                      </a:pPr>
                      <a:r>
                        <a:rPr/>
                        <a:t>Sequence-level importance ratio</a:t>
                      </a:r>
                    </a:p>
                  </a:txBody>
                </a:tc>
                <a:tc>
                  <a:txBody>
                    <a:bodyPr/>
                    <a:lstStyle/>
                    <a:p>
                      <a:pPr lvl="0" indent="0" marL="0">
                        <a:buNone/>
                      </a:pPr>
                      <a:r>
                        <a:rPr/>
                        <a:t>KL explosion (194.8)</a:t>
                      </a:r>
                    </a:p>
                  </a:txBody>
                </a:tc>
                <a:tc>
                  <a:txBody>
                    <a:bodyPr/>
                    <a:lstStyle/>
                    <a:p>
                      <a:pPr lvl="0" indent="0" marL="0">
                        <a:buNone/>
                      </a:pPr>
                      <a:r>
                        <a:rPr/>
                        <a:t>Per-token ratio</a:t>
                      </a:r>
                    </a:p>
                  </a:txBody>
                </a:tc>
              </a:tr>
              <a:tr h="0">
                <a:tc>
                  <a:txBody>
                    <a:bodyPr/>
                    <a:lstStyle/>
                    <a:p>
                      <a:pPr lvl="0" indent="0" marL="0">
                        <a:buNone/>
                      </a:pPr>
                      <a:r>
                        <a:rPr>
                          <a:latin typeface="Courier"/>
                        </a:rPr>
                        <a:t>log_probs.mean()</a:t>
                      </a:r>
                    </a:p>
                  </a:txBody>
                </a:tc>
                <a:tc>
                  <a:txBody>
                    <a:bodyPr/>
                    <a:lstStyle/>
                    <a:p>
                      <a:pPr lvl="0" indent="0" marL="0">
                        <a:buNone/>
                      </a:pPr>
                      <a:r>
                        <a:rPr/>
                        <a:t>Wrong gradient signal</a:t>
                      </a:r>
                    </a:p>
                  </a:txBody>
                </a:tc>
                <a:tc>
                  <a:txBody>
                    <a:bodyPr/>
                    <a:lstStyle/>
                    <a:p>
                      <a:pPr lvl="0" indent="0" marL="0">
                        <a:buNone/>
                      </a:pPr>
                      <a:r>
                        <a:rPr>
                          <a:latin typeface="Courier"/>
                        </a:rPr>
                        <a:t>.sum()</a:t>
                      </a:r>
                      <a:r>
                        <a:rPr/>
                        <a:t> per sequence</a:t>
                      </a:r>
                    </a:p>
                  </a:txBody>
                </a:tc>
              </a:tr>
              <a:tr h="0">
                <a:tc>
                  <a:txBody>
                    <a:bodyPr/>
                    <a:lstStyle/>
                    <a:p>
                      <a:pPr lvl="0" indent="0" marL="0">
                        <a:buNone/>
                      </a:pPr>
                      <a:r>
                        <a:rPr/>
                        <a:t>Checkpoint </a:t>
                      </a:r>
                      <a:r>
                        <a:rPr>
                          <a:latin typeface="Courier"/>
                        </a:rPr>
                        <a:t>local_rank == 0</a:t>
                      </a:r>
                    </a:p>
                  </a:txBody>
                </a:tc>
                <a:tc>
                  <a:txBody>
                    <a:bodyPr/>
                    <a:lstStyle/>
                    <a:p>
                      <a:pPr lvl="0" indent="0" marL="0">
                        <a:buNone/>
                      </a:pPr>
                      <a:r>
                        <a:rPr/>
                        <a:t>Crash on multi-node</a:t>
                      </a:r>
                    </a:p>
                  </a:txBody>
                </a:tc>
                <a:tc>
                  <a:txBody>
                    <a:bodyPr/>
                    <a:lstStyle/>
                    <a:p>
                      <a:pPr lvl="0" indent="0" marL="0">
                        <a:buNone/>
                      </a:pPr>
                      <a:r>
                        <a:rPr>
                          <a:latin typeface="Courier"/>
                        </a:rPr>
                        <a:t>rank == 0</a:t>
                      </a:r>
                      <a:r>
                        <a:rPr/>
                        <a:t> (global)</a:t>
                      </a:r>
                    </a:p>
                  </a:txBody>
                </a:tc>
              </a:tr>
              <a:tr h="0">
                <a:tc>
                  <a:txBody>
                    <a:bodyPr/>
                    <a:lstStyle/>
                    <a:p>
                      <a:pPr lvl="0" indent="0" marL="0">
                        <a:buNone/>
                      </a:pPr>
                      <a:r>
                        <a:rPr/>
                        <a:t>vLLM inside torchrun</a:t>
                      </a:r>
                    </a:p>
                  </a:txBody>
                </a:tc>
                <a:tc>
                  <a:txBody>
                    <a:bodyPr/>
                    <a:lstStyle/>
                    <a:p>
                      <a:pPr lvl="0" indent="0" marL="0">
                        <a:buNone/>
                      </a:pPr>
                      <a:r>
                        <a:rPr/>
                        <a:t>NCCL/CUDA deadlock</a:t>
                      </a:r>
                    </a:p>
                  </a:txBody>
                </a:tc>
                <a:tc>
                  <a:txBody>
                    <a:bodyPr/>
                    <a:lstStyle/>
                    <a:p>
                      <a:pPr lvl="0" indent="0" marL="0">
                        <a:buNone/>
                      </a:pPr>
                      <a:r>
                        <a:rPr/>
                        <a:t>Separate vLLM pod</a:t>
                      </a:r>
                    </a:p>
                  </a:txBody>
                </a:tc>
              </a:tr>
              <a:tr h="0">
                <a:tc>
                  <a:txBody>
                    <a:bodyPr/>
                    <a:lstStyle/>
                    <a:p>
                      <a:pPr lvl="0" indent="0" marL="0">
                        <a:buNone/>
                      </a:pPr>
                      <a:r>
                        <a:rPr/>
                        <a:t>Clamped KL estimator</a:t>
                      </a:r>
                    </a:p>
                  </a:txBody>
                </a:tc>
                <a:tc>
                  <a:txBody>
                    <a:bodyPr/>
                    <a:lstStyle/>
                    <a:p>
                      <a:pPr lvl="0" indent="0" marL="0">
                        <a:buNone/>
                      </a:pPr>
                      <a:r>
                        <a:rPr/>
                        <a:t>KL = 0 for 99% of steps</a:t>
                      </a:r>
                    </a:p>
                  </a:txBody>
                </a:tc>
                <a:tc>
                  <a:txBody>
                    <a:bodyPr/>
                    <a:lstStyle/>
                    <a:p>
                      <a:pPr lvl="0" indent="0" marL="0">
                        <a:buNone/>
                      </a:pPr>
                      <a:r>
                        <a:rPr/>
                        <a:t>Schulman estimator</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Experiment 2: veRL Framework</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Switched to veRL (ByteDance) — production RL post-training framework.</a:t>
            </a:r>
          </a:p>
        </p:txBody>
      </p:sp>
      <p:pic>
        <p:nvPicPr>
          <p:cNvPr descr="verl_deployment_architecture.png" id="0" name="Picture 1"/>
          <p:cNvPicPr>
            <a:picLocks noGrp="1" noChangeAspect="1"/>
          </p:cNvPicPr>
          <p:nvPr/>
        </p:nvPicPr>
        <p:blipFill>
          <a:blip r:embed="rId3"/>
          <a:stretch>
            <a:fillRect/>
          </a:stretch>
        </p:blipFill>
        <p:spPr bwMode="auto">
          <a:xfrm>
            <a:off x="4940300" y="1282700"/>
            <a:ext cx="3441700" cy="19558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Architecture</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Every GPU runs all roles by cycling through phases:</a:t>
            </a:r>
          </a:p>
        </p:txBody>
      </p:sp>
      <p:pic>
        <p:nvPicPr>
          <p:cNvPr descr="verl_architecture.png" id="0" name="Picture 1"/>
          <p:cNvPicPr>
            <a:picLocks noGrp="1" noChangeAspect="1"/>
          </p:cNvPicPr>
          <p:nvPr/>
        </p:nvPicPr>
        <p:blipFill>
          <a:blip r:embed="rId3"/>
          <a:stretch>
            <a:fillRect/>
          </a:stretch>
        </p:blipFill>
        <p:spPr bwMode="auto">
          <a:xfrm>
            <a:off x="4648200" y="1346200"/>
            <a:ext cx="4025900" cy="1828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veRL: 1.5B Results</a:t>
            </a:r>
          </a:p>
        </p:txBody>
      </p:sp>
      <p:pic>
        <p:nvPicPr>
          <p:cNvPr descr="../run-2026-02-20-verl/training_progress.png" id="0" name="Picture 1"/>
          <p:cNvPicPr>
            <a:picLocks noGrp="1" noChangeAspect="1"/>
          </p:cNvPicPr>
          <p:nvPr/>
        </p:nvPicPr>
        <p:blipFill>
          <a:blip r:embed="rId3"/>
          <a:stretch>
            <a:fillRect/>
          </a:stretch>
        </p:blipFill>
        <p:spPr bwMode="auto">
          <a:xfrm>
            <a:off x="3390900" y="1282700"/>
            <a:ext cx="2374900" cy="1422400"/>
          </a:xfrm>
          <a:prstGeom prst="rect">
            <a:avLst/>
          </a:prstGeom>
          <a:noFill/>
          <a:ln w="9525">
            <a:noFill/>
            <a:headEnd/>
            <a:tailEnd/>
          </a:ln>
        </p:spPr>
      </p:pic>
      <p:sp>
        <p:nvSpPr>
          <p:cNvPr id="1" name="TextBox 3"/>
          <p:cNvSpPr txBox="1"/>
          <p:nvPr>
            <p:ph idx="1"/>
          </p:nvPr>
        </p:nvSpPr>
        <p:spPr>
          <a:xfrm>
            <a:off x="457200" y="2705100"/>
            <a:ext cx="8229600" cy="508000"/>
          </a:xfrm>
          <a:prstGeom prst="rect">
            <a:avLst/>
          </a:prstGeom>
          <a:noFill/>
        </p:spPr>
        <p:txBody>
          <a:bodyPr/>
          <a:lstStyle/>
          <a:p>
            <a:pPr lvl="0" indent="0" marL="0" algn="ctr">
              <a:buNone/>
            </a:pPr>
            <a:r>
              <a:rPr/>
              <a:t>veRL Training Progress — 1.5B</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1.5B Results (cont.)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29 steps, 35 minutes, 1 full epoch:</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pPr lvl="0" indent="0" marL="0">
                        <a:buNone/>
                      </a:pPr>
                      <a:r>
                        <a:rPr/>
                        <a:t>Step</a:t>
                      </a:r>
                    </a:p>
                  </a:txBody>
                  <a:tcPr/>
                </a:tc>
                <a:tc>
                  <a:txBody>
                    <a:bodyPr/>
                    <a:lstStyle/>
                    <a:p>
                      <a:pPr lvl="0" indent="0" marL="0">
                        <a:buNone/>
                      </a:pPr>
                      <a:r>
                        <a:rPr/>
                        <a:t>Reward</a:t>
                      </a:r>
                    </a:p>
                  </a:txBody>
                  <a:tcPr/>
                </a:tc>
                <a:tc>
                  <a:txBody>
                    <a:bodyPr/>
                    <a:lstStyle/>
                    <a:p>
                      <a:pPr lvl="0" indent="0" marL="0">
                        <a:buNone/>
                      </a:pPr>
                      <a:r>
                        <a:rPr/>
                        <a:t>KL</a:t>
                      </a:r>
                    </a:p>
                  </a:txBody>
                  <a:tcPr/>
                </a:tc>
              </a:tr>
              <a:tr h="0">
                <a:tc>
                  <a:txBody>
                    <a:bodyPr/>
                    <a:lstStyle/>
                    <a:p>
                      <a:pPr lvl="0" indent="0" marL="0">
                        <a:buNone/>
                      </a:pPr>
                      <a:r>
                        <a:rPr/>
                        <a:t>0 (val)</a:t>
                      </a:r>
                    </a:p>
                  </a:txBody>
                </a:tc>
                <a:tc>
                  <a:txBody>
                    <a:bodyPr/>
                    <a:lstStyle/>
                    <a:p>
                      <a:pPr lvl="0" indent="0" marL="0">
                        <a:buNone/>
                      </a:pPr>
                      <a:r>
                        <a:rPr/>
                        <a:t>2.3%</a:t>
                      </a:r>
                    </a:p>
                  </a:txBody>
                </a:tc>
                <a:tc>
                  <a:txBody>
                    <a:bodyPr/>
                    <a:lstStyle/>
                    <a:p>
                      <a:pPr lvl="0" indent="0" marL="0">
                        <a:buNone/>
                      </a:pPr>
                      <a:r>
                        <a:rPr/>
                        <a:t>—</a:t>
                      </a:r>
                    </a:p>
                  </a:txBody>
                </a:tc>
              </a:tr>
              <a:tr h="0">
                <a:tc>
                  <a:txBody>
                    <a:bodyPr/>
                    <a:lstStyle/>
                    <a:p>
                      <a:pPr lvl="0" indent="0" marL="0">
                        <a:buNone/>
                      </a:pPr>
                      <a:r>
                        <a:rPr/>
                        <a:t>3</a:t>
                      </a:r>
                    </a:p>
                  </a:txBody>
                </a:tc>
                <a:tc>
                  <a:txBody>
                    <a:bodyPr/>
                    <a:lstStyle/>
                    <a:p>
                      <a:pPr lvl="0" indent="0" marL="0">
                        <a:buNone/>
                      </a:pPr>
                      <a:r>
                        <a:rPr/>
                        <a:t>10.3%</a:t>
                      </a:r>
                    </a:p>
                  </a:txBody>
                </a:tc>
                <a:tc>
                  <a:txBody>
                    <a:bodyPr/>
                    <a:lstStyle/>
                    <a:p>
                      <a:pPr lvl="0" indent="0" marL="0">
                        <a:buNone/>
                      </a:pPr>
                      <a:r>
                        <a:rPr/>
                        <a:t>0.0007</a:t>
                      </a:r>
                    </a:p>
                  </a:txBody>
                </a:tc>
              </a:tr>
              <a:tr h="0">
                <a:tc>
                  <a:txBody>
                    <a:bodyPr/>
                    <a:lstStyle/>
                    <a:p>
                      <a:pPr lvl="0" indent="0" marL="0">
                        <a:buNone/>
                      </a:pPr>
                      <a:r>
                        <a:rPr/>
                        <a:t>10</a:t>
                      </a:r>
                    </a:p>
                  </a:txBody>
                </a:tc>
                <a:tc>
                  <a:txBody>
                    <a:bodyPr/>
                    <a:lstStyle/>
                    <a:p>
                      <a:pPr lvl="0" indent="0" marL="0">
                        <a:buNone/>
                      </a:pPr>
                      <a:r>
                        <a:rPr/>
                        <a:t>44.5%</a:t>
                      </a:r>
                    </a:p>
                  </a:txBody>
                </a:tc>
                <a:tc>
                  <a:txBody>
                    <a:bodyPr/>
                    <a:lstStyle/>
                    <a:p>
                      <a:pPr lvl="0" indent="0" marL="0">
                        <a:buNone/>
                      </a:pPr>
                      <a:r>
                        <a:rPr/>
                        <a:t>—</a:t>
                      </a:r>
                    </a:p>
                  </a:txBody>
                </a:tc>
              </a:tr>
              <a:tr h="0">
                <a:tc>
                  <a:txBody>
                    <a:bodyPr/>
                    <a:lstStyle/>
                    <a:p>
                      <a:pPr lvl="0" indent="0" marL="0">
                        <a:buNone/>
                      </a:pPr>
                      <a:r>
                        <a:rPr/>
                        <a:t>20 (val)</a:t>
                      </a:r>
                    </a:p>
                  </a:txBody>
                </a:tc>
                <a:tc>
                  <a:txBody>
                    <a:bodyPr/>
                    <a:lstStyle/>
                    <a:p>
                      <a:pPr lvl="0" indent="0" marL="0">
                        <a:buNone/>
                      </a:pPr>
                      <a:r>
                        <a:rPr/>
                        <a:t>72.3%</a:t>
                      </a:r>
                    </a:p>
                  </a:txBody>
                </a:tc>
                <a:tc>
                  <a:txBody>
                    <a:bodyPr/>
                    <a:lstStyle/>
                    <a:p>
                      <a:pPr lvl="0" indent="0" marL="0">
                        <a:buNone/>
                      </a:pPr>
                      <a:r>
                        <a:rPr/>
                        <a:t>—</a:t>
                      </a:r>
                    </a:p>
                  </a:txBody>
                </a:tc>
              </a:tr>
              <a:tr h="0">
                <a:tc>
                  <a:txBody>
                    <a:bodyPr/>
                    <a:lstStyle/>
                    <a:p>
                      <a:pPr lvl="0" indent="0" marL="0">
                        <a:buNone/>
                      </a:pPr>
                      <a:r>
                        <a:rPr/>
                        <a:t>29 (val)</a:t>
                      </a:r>
                    </a:p>
                  </a:txBody>
                </a:tc>
                <a:tc>
                  <a:txBody>
                    <a:bodyPr/>
                    <a:lstStyle/>
                    <a:p>
                      <a:pPr lvl="0" indent="0" marL="0">
                        <a:buNone/>
                      </a:pPr>
                      <a:r>
                        <a:rPr b="1"/>
                        <a:t>72.7%</a:t>
                      </a:r>
                    </a:p>
                  </a:txBody>
                </a:tc>
                <a:tc>
                  <a:txBody>
                    <a:bodyPr/>
                    <a:lstStyle/>
                    <a:p>
                      <a:pPr lvl="0" indent="0" marL="0">
                        <a:buNone/>
                      </a:pPr>
                      <a:r>
                        <a:rPr/>
                        <a:t>—</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b="1"/>
              <a:t>Eval on 200 test problems (greedy decoding):</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gridCol w="2006600"/>
              </a:tblGrid>
              <a:tr h="0">
                <a:tc>
                  <a:txBody>
                    <a:bodyPr/>
                    <a:lstStyle/>
                    <a:p>
                      <a:pPr lvl="0" indent="0" marL="0">
                        <a:buNone/>
                      </a:pPr>
                      <a:r>
                        <a:rPr/>
                        <a:t>Model</a:t>
                      </a:r>
                    </a:p>
                  </a:txBody>
                  <a:tcPr/>
                </a:tc>
                <a:tc>
                  <a:txBody>
                    <a:bodyPr/>
                    <a:lstStyle/>
                    <a:p>
                      <a:pPr lvl="0" indent="0" marL="0">
                        <a:buNone/>
                      </a:pPr>
                      <a:r>
                        <a:rPr/>
                        <a:t>Accuracy</a:t>
                      </a:r>
                    </a:p>
                  </a:txBody>
                  <a:tcPr/>
                </a:tc>
              </a:tr>
              <a:tr h="0">
                <a:tc>
                  <a:txBody>
                    <a:bodyPr/>
                    <a:lstStyle/>
                    <a:p>
                      <a:pPr lvl="0" indent="0" marL="0">
                        <a:buNone/>
                      </a:pPr>
                      <a:r>
                        <a:rPr/>
                        <a:t>Base Qwen2.5-1.5B</a:t>
                      </a:r>
                    </a:p>
                  </a:txBody>
                </a:tc>
                <a:tc>
                  <a:txBody>
                    <a:bodyPr/>
                    <a:lstStyle/>
                    <a:p>
                      <a:pPr lvl="0" indent="0" marL="0">
                        <a:buNone/>
                      </a:pPr>
                      <a:r>
                        <a:rPr/>
                        <a:t>14.5%</a:t>
                      </a:r>
                    </a:p>
                  </a:txBody>
                </a:tc>
              </a:tr>
              <a:tr h="0">
                <a:tc>
                  <a:txBody>
                    <a:bodyPr/>
                    <a:lstStyle/>
                    <a:p>
                      <a:pPr lvl="0" indent="0" marL="0">
                        <a:buNone/>
                      </a:pPr>
                      <a:r>
                        <a:rPr/>
                        <a:t>GRPO-trained</a:t>
                      </a:r>
                    </a:p>
                  </a:txBody>
                </a:tc>
                <a:tc>
                  <a:txBody>
                    <a:bodyPr/>
                    <a:lstStyle/>
                    <a:p>
                      <a:pPr lvl="0" indent="0" marL="0">
                        <a:buNone/>
                      </a:pPr>
                      <a:r>
                        <a:rPr b="1"/>
                        <a:t>77.0%</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7B Results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Qwen2.5-7B — same infrastructure, 19 steps before capacity expired:</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gridCol w="2006600"/>
              </a:tblGrid>
              <a:tr h="0">
                <a:tc>
                  <a:txBody>
                    <a:bodyPr/>
                    <a:lstStyle/>
                    <a:p>
                      <a:pPr lvl="0" indent="0" marL="0">
                        <a:buNone/>
                      </a:pPr>
                      <a:r>
                        <a:rPr/>
                        <a:t>Step</a:t>
                      </a:r>
                    </a:p>
                  </a:txBody>
                  <a:tcPr/>
                </a:tc>
                <a:tc>
                  <a:txBody>
                    <a:bodyPr/>
                    <a:lstStyle/>
                    <a:p>
                      <a:pPr lvl="0" indent="0" marL="0">
                        <a:buNone/>
                      </a:pPr>
                      <a:r>
                        <a:rPr/>
                        <a:t>Reward</a:t>
                      </a:r>
                    </a:p>
                  </a:txBody>
                  <a:tcPr/>
                </a:tc>
              </a:tr>
              <a:tr h="0">
                <a:tc>
                  <a:txBody>
                    <a:bodyPr/>
                    <a:lstStyle/>
                    <a:p>
                      <a:pPr lvl="0" indent="0" marL="0">
                        <a:buNone/>
                      </a:pPr>
                      <a:r>
                        <a:rPr/>
                        <a:t>0 (val)</a:t>
                      </a:r>
                    </a:p>
                  </a:txBody>
                </a:tc>
                <a:tc>
                  <a:txBody>
                    <a:bodyPr/>
                    <a:lstStyle/>
                    <a:p>
                      <a:pPr lvl="0" indent="0" marL="0">
                        <a:buNone/>
                      </a:pPr>
                      <a:r>
                        <a:rPr/>
                        <a:t>14.3%</a:t>
                      </a:r>
                    </a:p>
                  </a:txBody>
                </a:tc>
              </a:tr>
              <a:tr h="0">
                <a:tc>
                  <a:txBody>
                    <a:bodyPr/>
                    <a:lstStyle/>
                    <a:p>
                      <a:pPr lvl="0" indent="0" marL="0">
                        <a:buNone/>
                      </a:pPr>
                      <a:r>
                        <a:rPr/>
                        <a:t>4</a:t>
                      </a:r>
                    </a:p>
                  </a:txBody>
                </a:tc>
                <a:tc>
                  <a:txBody>
                    <a:bodyPr/>
                    <a:lstStyle/>
                    <a:p>
                      <a:pPr lvl="0" indent="0" marL="0">
                        <a:buNone/>
                      </a:pPr>
                      <a:r>
                        <a:rPr/>
                        <a:t>64.6%</a:t>
                      </a:r>
                    </a:p>
                  </a:txBody>
                </a:tc>
              </a:tr>
              <a:tr h="0">
                <a:tc>
                  <a:txBody>
                    <a:bodyPr/>
                    <a:lstStyle/>
                    <a:p>
                      <a:pPr lvl="0" indent="0" marL="0">
                        <a:buNone/>
                      </a:pPr>
                      <a:r>
                        <a:rPr/>
                        <a:t>9</a:t>
                      </a:r>
                    </a:p>
                  </a:txBody>
                </a:tc>
                <a:tc>
                  <a:txBody>
                    <a:bodyPr/>
                    <a:lstStyle/>
                    <a:p>
                      <a:pPr lvl="0" indent="0" marL="0">
                        <a:buNone/>
                      </a:pPr>
                      <a:r>
                        <a:rPr/>
                        <a:t>88.8%</a:t>
                      </a:r>
                    </a:p>
                  </a:txBody>
                </a:tc>
              </a:tr>
              <a:tr h="0">
                <a:tc>
                  <a:txBody>
                    <a:bodyPr/>
                    <a:lstStyle/>
                    <a:p>
                      <a:pPr lvl="0" indent="0" marL="0">
                        <a:buNone/>
                      </a:pPr>
                      <a:r>
                        <a:rPr/>
                        <a:t>10 (val)</a:t>
                      </a:r>
                    </a:p>
                  </a:txBody>
                </a:tc>
                <a:tc>
                  <a:txBody>
                    <a:bodyPr/>
                    <a:lstStyle/>
                    <a:p>
                      <a:pPr lvl="0" indent="0" marL="0">
                        <a:buNone/>
                      </a:pPr>
                      <a:r>
                        <a:rPr b="1"/>
                        <a:t>88.0%</a:t>
                      </a:r>
                    </a:p>
                  </a:txBody>
                </a:tc>
              </a:tr>
              <a:tr h="0">
                <a:tc>
                  <a:txBody>
                    <a:bodyPr/>
                    <a:lstStyle/>
                    <a:p>
                      <a:pPr lvl="0" indent="0" marL="0">
                        <a:buNone/>
                      </a:pPr>
                      <a:r>
                        <a:rPr/>
                        <a:t>19</a:t>
                      </a:r>
                    </a:p>
                  </a:txBody>
                </a:tc>
                <a:tc>
                  <a:txBody>
                    <a:bodyPr/>
                    <a:lstStyle/>
                    <a:p>
                      <a:pPr lvl="0" indent="0" marL="0">
                        <a:buNone/>
                      </a:pPr>
                      <a:r>
                        <a:rPr/>
                        <a:t>84.9%</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14.3% → </a:t>
            </a:r>
            <a:r>
              <a:rPr b="1"/>
              <a:t>88.0%</a:t>
            </a:r>
            <a:r>
              <a:rPr/>
              <a:t> validation accuracy in just 10 steps (~83 minutes).</a:t>
            </a:r>
          </a:p>
          <a:p>
            <a:pPr lvl="0" indent="0" marL="0">
              <a:buNone/>
            </a:pPr>
            <a:r>
              <a:rPr/>
              <a:t>Saturated GSM8K by step 9 — remaining steps oscillated 83–88%.</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7B vs 1.5B Learning Curves</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1.5B</a:t>
                      </a:r>
                    </a:p>
                  </a:txBody>
                  <a:tcPr/>
                </a:tc>
                <a:tc>
                  <a:txBody>
                    <a:bodyPr/>
                    <a:lstStyle/>
                    <a:p>
                      <a:pPr lvl="0" indent="0" marL="0">
                        <a:buNone/>
                      </a:pPr>
                      <a:r>
                        <a:rPr/>
                        <a:t>7B</a:t>
                      </a:r>
                    </a:p>
                  </a:txBody>
                  <a:tcPr/>
                </a:tc>
              </a:tr>
              <a:tr h="0">
                <a:tc>
                  <a:txBody>
                    <a:bodyPr/>
                    <a:lstStyle/>
                    <a:p>
                      <a:pPr lvl="0" indent="0" marL="0">
                        <a:buNone/>
                      </a:pPr>
                      <a:r>
                        <a:rPr/>
                        <a:t>Base accuracy</a:t>
                      </a:r>
                    </a:p>
                  </a:txBody>
                </a:tc>
                <a:tc>
                  <a:txBody>
                    <a:bodyPr/>
                    <a:lstStyle/>
                    <a:p>
                      <a:pPr lvl="0" indent="0" marL="0">
                        <a:buNone/>
                      </a:pPr>
                      <a:r>
                        <a:rPr/>
                        <a:t>14.5%</a:t>
                      </a:r>
                    </a:p>
                  </a:txBody>
                </a:tc>
                <a:tc>
                  <a:txBody>
                    <a:bodyPr/>
                    <a:lstStyle/>
                    <a:p>
                      <a:pPr lvl="0" indent="0" marL="0">
                        <a:buNone/>
                      </a:pPr>
                      <a:r>
                        <a:rPr/>
                        <a:t>14.3%</a:t>
                      </a:r>
                    </a:p>
                  </a:txBody>
                </a:tc>
              </a:tr>
              <a:tr h="0">
                <a:tc>
                  <a:txBody>
                    <a:bodyPr/>
                    <a:lstStyle/>
                    <a:p>
                      <a:pPr lvl="0" indent="0" marL="0">
                        <a:buNone/>
                      </a:pPr>
                      <a:r>
                        <a:rPr/>
                        <a:t>Peak validation</a:t>
                      </a:r>
                    </a:p>
                  </a:txBody>
                </a:tc>
                <a:tc>
                  <a:txBody>
                    <a:bodyPr/>
                    <a:lstStyle/>
                    <a:p>
                      <a:pPr lvl="0" indent="0" marL="0">
                        <a:buNone/>
                      </a:pPr>
                      <a:r>
                        <a:rPr/>
                        <a:t>77.0% (step 29)</a:t>
                      </a:r>
                    </a:p>
                  </a:txBody>
                </a:tc>
                <a:tc>
                  <a:txBody>
                    <a:bodyPr/>
                    <a:lstStyle/>
                    <a:p>
                      <a:pPr lvl="0" indent="0" marL="0">
                        <a:buNone/>
                      </a:pPr>
                      <a:r>
                        <a:rPr b="1"/>
                        <a:t>88.0%</a:t>
                      </a:r>
                      <a:r>
                        <a:rPr/>
                        <a:t> (step 10)</a:t>
                      </a:r>
                    </a:p>
                  </a:txBody>
                </a:tc>
              </a:tr>
              <a:tr h="0">
                <a:tc>
                  <a:txBody>
                    <a:bodyPr/>
                    <a:lstStyle/>
                    <a:p>
                      <a:pPr lvl="0" indent="0" marL="0">
                        <a:buNone/>
                      </a:pPr>
                      <a:r>
                        <a:rPr/>
                        <a:t>Steps to 70%+</a:t>
                      </a:r>
                    </a:p>
                  </a:txBody>
                </a:tc>
                <a:tc>
                  <a:txBody>
                    <a:bodyPr/>
                    <a:lstStyle/>
                    <a:p>
                      <a:pPr lvl="0" indent="0" marL="0">
                        <a:buNone/>
                      </a:pPr>
                      <a:r>
                        <a:rPr/>
                        <a:t>~20</a:t>
                      </a:r>
                    </a:p>
                  </a:txBody>
                </a:tc>
                <a:tc>
                  <a:txBody>
                    <a:bodyPr/>
                    <a:lstStyle/>
                    <a:p>
                      <a:pPr lvl="0" indent="0" marL="0">
                        <a:buNone/>
                      </a:pPr>
                      <a:r>
                        <a:rPr/>
                        <a:t>~7</a:t>
                      </a:r>
                    </a:p>
                  </a:txBody>
                </a:tc>
              </a:tr>
              <a:tr h="0">
                <a:tc>
                  <a:txBody>
                    <a:bodyPr/>
                    <a:lstStyle/>
                    <a:p>
                      <a:pPr lvl="0" indent="0" marL="0">
                        <a:buNone/>
                      </a:pPr>
                      <a:r>
                        <a:rPr/>
                        <a:t>Step time</a:t>
                      </a:r>
                    </a:p>
                  </a:txBody>
                </a:tc>
                <a:tc>
                  <a:txBody>
                    <a:bodyPr/>
                    <a:lstStyle/>
                    <a:p>
                      <a:pPr lvl="0" indent="0" marL="0">
                        <a:buNone/>
                      </a:pPr>
                      <a:r>
                        <a:rPr/>
                        <a:t>70s</a:t>
                      </a:r>
                    </a:p>
                  </a:txBody>
                </a:tc>
                <a:tc>
                  <a:txBody>
                    <a:bodyPr/>
                    <a:lstStyle/>
                    <a:p>
                      <a:pPr lvl="0" indent="0" marL="0">
                        <a:buNone/>
                      </a:pPr>
                      <a:r>
                        <a:rPr/>
                        <a:t>502s</a:t>
                      </a:r>
                    </a:p>
                  </a:txBody>
                </a:tc>
              </a:tr>
              <a:tr h="0">
                <a:tc>
                  <a:txBody>
                    <a:bodyPr/>
                    <a:lstStyle/>
                    <a:p>
                      <a:pPr lvl="0" indent="0" marL="0">
                        <a:buNone/>
                      </a:pPr>
                      <a:r>
                        <a:rPr/>
                        <a:t>Sequences/step</a:t>
                      </a:r>
                    </a:p>
                  </a:txBody>
                </a:tc>
                <a:tc>
                  <a:txBody>
                    <a:bodyPr/>
                    <a:lstStyle/>
                    <a:p>
                      <a:pPr lvl="0" indent="0" marL="0">
                        <a:buNone/>
                      </a:pPr>
                      <a:r>
                        <a:rPr/>
                        <a:t>2,048</a:t>
                      </a:r>
                    </a:p>
                  </a:txBody>
                </a:tc>
                <a:tc>
                  <a:txBody>
                    <a:bodyPr/>
                    <a:lstStyle/>
                    <a:p>
                      <a:pPr lvl="0" indent="0" marL="0">
                        <a:buNone/>
                      </a:pPr>
                      <a:r>
                        <a:rPr/>
                        <a:t>1,024</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7B learns </a:t>
            </a:r>
            <a:r>
              <a:rPr b="1"/>
              <a:t>faster</a:t>
            </a:r>
            <a:r>
              <a:rPr/>
              <a:t> (fewer steps) and reaches a </a:t>
            </a:r>
            <a:r>
              <a:rPr b="1"/>
              <a:t>higher ceiling</a:t>
            </a:r>
            <a:r>
              <a:rPr/>
              <a:t>, but each step takes 7× longer.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Custom Trainer vs veRL</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Custom Trainer</a:t>
                      </a:r>
                    </a:p>
                  </a:txBody>
                  <a:tcPr/>
                </a:tc>
                <a:tc>
                  <a:txBody>
                    <a:bodyPr/>
                    <a:lstStyle/>
                    <a:p>
                      <a:pPr lvl="0" indent="0" marL="0">
                        <a:buNone/>
                      </a:pPr>
                      <a:r>
                        <a:rPr/>
                        <a:t>veRL</a:t>
                      </a:r>
                    </a:p>
                  </a:txBody>
                  <a:tcPr/>
                </a:tc>
              </a:tr>
              <a:tr h="0">
                <a:tc>
                  <a:txBody>
                    <a:bodyPr/>
                    <a:lstStyle/>
                    <a:p>
                      <a:pPr lvl="0" indent="0" marL="0">
                        <a:buNone/>
                      </a:pPr>
                      <a:r>
                        <a:rPr/>
                        <a:t>Lines of code</a:t>
                      </a:r>
                    </a:p>
                  </a:txBody>
                </a:tc>
                <a:tc>
                  <a:txBody>
                    <a:bodyPr/>
                    <a:lstStyle/>
                    <a:p>
                      <a:pPr lvl="0" indent="0" marL="0">
                        <a:buNone/>
                      </a:pPr>
                      <a:r>
                        <a:rPr/>
                        <a:t>~800</a:t>
                      </a:r>
                    </a:p>
                  </a:txBody>
                </a:tc>
                <a:tc>
                  <a:txBody>
                    <a:bodyPr/>
                    <a:lstStyle/>
                    <a:p>
                      <a:pPr lvl="0" indent="0" marL="0">
                        <a:buNone/>
                      </a:pPr>
                      <a:r>
                        <a:rPr/>
                        <a:t>~50 (config + reward)</a:t>
                      </a:r>
                    </a:p>
                  </a:txBody>
                </a:tc>
              </a:tr>
              <a:tr h="0">
                <a:tc>
                  <a:txBody>
                    <a:bodyPr/>
                    <a:lstStyle/>
                    <a:p>
                      <a:pPr lvl="0" indent="0" marL="0">
                        <a:buNone/>
                      </a:pPr>
                      <a:r>
                        <a:rPr/>
                        <a:t>Debug iterations</a:t>
                      </a:r>
                    </a:p>
                  </a:txBody>
                </a:tc>
                <a:tc>
                  <a:txBody>
                    <a:bodyPr/>
                    <a:lstStyle/>
                    <a:p>
                      <a:pPr lvl="0" indent="0" marL="0">
                        <a:buNone/>
                      </a:pPr>
                      <a:r>
                        <a:rPr/>
                        <a:t>5 attempts, 12 hours</a:t>
                      </a:r>
                    </a:p>
                  </a:txBody>
                </a:tc>
                <a:tc>
                  <a:txBody>
                    <a:bodyPr/>
                    <a:lstStyle/>
                    <a:p>
                      <a:pPr lvl="0" indent="0" marL="0">
                        <a:buNone/>
                      </a:pPr>
                      <a:r>
                        <a:rPr/>
                        <a:t>First try</a:t>
                      </a:r>
                    </a:p>
                  </a:txBody>
                </a:tc>
              </a:tr>
              <a:tr h="0">
                <a:tc>
                  <a:txBody>
                    <a:bodyPr/>
                    <a:lstStyle/>
                    <a:p>
                      <a:pPr lvl="0" indent="0" marL="0">
                        <a:buNone/>
                      </a:pPr>
                      <a:r>
                        <a:rPr/>
                        <a:t>Sequences/step</a:t>
                      </a:r>
                    </a:p>
                  </a:txBody>
                </a:tc>
                <a:tc>
                  <a:txBody>
                    <a:bodyPr/>
                    <a:lstStyle/>
                    <a:p>
                      <a:pPr lvl="0" indent="0" marL="0">
                        <a:buNone/>
                      </a:pPr>
                      <a:r>
                        <a:rPr/>
                        <a:t>32</a:t>
                      </a:r>
                    </a:p>
                  </a:txBody>
                </a:tc>
                <a:tc>
                  <a:txBody>
                    <a:bodyPr/>
                    <a:lstStyle/>
                    <a:p>
                      <a:pPr lvl="0" indent="0" marL="0">
                        <a:buNone/>
                      </a:pPr>
                      <a:r>
                        <a:rPr/>
                        <a:t>2,048</a:t>
                      </a:r>
                    </a:p>
                  </a:txBody>
                </a:tc>
              </a:tr>
              <a:tr h="0">
                <a:tc>
                  <a:txBody>
                    <a:bodyPr/>
                    <a:lstStyle/>
                    <a:p>
                      <a:pPr lvl="0" indent="0" marL="0">
                        <a:buNone/>
                      </a:pPr>
                      <a:r>
                        <a:rPr/>
                        <a:t>Effective throughput</a:t>
                      </a:r>
                    </a:p>
                  </a:txBody>
                </a:tc>
                <a:tc>
                  <a:txBody>
                    <a:bodyPr/>
                    <a:lstStyle/>
                    <a:p>
                      <a:pPr lvl="0" indent="0" marL="0">
                        <a:buNone/>
                      </a:pPr>
                      <a:r>
                        <a:rPr/>
                        <a:t>2,304 seq/hr</a:t>
                      </a:r>
                    </a:p>
                  </a:txBody>
                </a:tc>
                <a:tc>
                  <a:txBody>
                    <a:bodyPr/>
                    <a:lstStyle/>
                    <a:p>
                      <a:pPr lvl="0" indent="0" marL="0">
                        <a:buNone/>
                      </a:pPr>
                      <a:r>
                        <a:rPr/>
                        <a:t>104,448 seq/hr</a:t>
                      </a:r>
                    </a:p>
                  </a:txBody>
                </a:tc>
              </a:tr>
              <a:tr h="0">
                <a:tc>
                  <a:txBody>
                    <a:bodyPr/>
                    <a:lstStyle/>
                    <a:p>
                      <a:pPr lvl="0" indent="0" marL="0">
                        <a:buNone/>
                      </a:pPr>
                      <a:r>
                        <a:rPr/>
                        <a:t>1 epoch (1.5B)</a:t>
                      </a:r>
                    </a:p>
                  </a:txBody>
                </a:tc>
                <a:tc>
                  <a:txBody>
                    <a:bodyPr/>
                    <a:lstStyle/>
                    <a:p>
                      <a:pPr lvl="0" indent="0" marL="0">
                        <a:buNone/>
                      </a:pPr>
                      <a:r>
                        <a:rPr/>
                        <a:t>~26 hours</a:t>
                      </a:r>
                    </a:p>
                  </a:txBody>
                </a:tc>
                <a:tc>
                  <a:txBody>
                    <a:bodyPr/>
                    <a:lstStyle/>
                    <a:p>
                      <a:pPr lvl="0" indent="0" marL="0">
                        <a:buNone/>
                      </a:pPr>
                      <a:r>
                        <a:rPr b="1"/>
                        <a:t>35 minutes</a:t>
                      </a:r>
                    </a:p>
                  </a:txBody>
                </a:tc>
              </a:tr>
              <a:tr h="0">
                <a:tc>
                  <a:txBody>
                    <a:bodyPr/>
                    <a:lstStyle/>
                    <a:p>
                      <a:pPr lvl="0" indent="0" marL="0">
                        <a:buNone/>
                      </a:pPr>
                      <a:r>
                        <a:rPr/>
                        <a:t>Final accuracy</a:t>
                      </a:r>
                    </a:p>
                  </a:txBody>
                </a:tc>
                <a:tc>
                  <a:txBody>
                    <a:bodyPr/>
                    <a:lstStyle/>
                    <a:p>
                      <a:pPr lvl="0" indent="0" marL="0">
                        <a:buNone/>
                      </a:pPr>
                      <a:r>
                        <a:rPr/>
                        <a:t>N/A (didn’t finish)</a:t>
                      </a:r>
                    </a:p>
                  </a:txBody>
                </a:tc>
                <a:tc>
                  <a:txBody>
                    <a:bodyPr/>
                    <a:lstStyle/>
                    <a:p>
                      <a:pPr lvl="0" indent="0" marL="0">
                        <a:buNone/>
                      </a:pPr>
                      <a:r>
                        <a:rPr b="1"/>
                        <a:t>77.0%</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b="1"/>
              <a:t>45× throughput improvement</a:t>
            </a:r>
            <a:r>
              <a:rPr/>
              <a:t> from colocated vLLM, proper memory management, and 64× larger batches.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Infrastructure</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Component</a:t>
                      </a:r>
                    </a:p>
                  </a:txBody>
                  <a:tcPr/>
                </a:tc>
                <a:tc>
                  <a:txBody>
                    <a:bodyPr/>
                    <a:lstStyle/>
                    <a:p>
                      <a:pPr lvl="0" indent="0" marL="0">
                        <a:buNone/>
                      </a:pPr>
                      <a:r>
                        <a:rPr/>
                        <a:t>Details</a:t>
                      </a:r>
                    </a:p>
                  </a:txBody>
                  <a:tcPr/>
                </a:tc>
              </a:tr>
              <a:tr h="0">
                <a:tc>
                  <a:txBody>
                    <a:bodyPr/>
                    <a:lstStyle/>
                    <a:p>
                      <a:pPr lvl="0" indent="0" marL="0">
                        <a:buNone/>
                      </a:pPr>
                      <a:r>
                        <a:rPr/>
                        <a:t>EKS Cluster</a:t>
                      </a:r>
                    </a:p>
                  </a:txBody>
                </a:tc>
                <a:tc>
                  <a:txBody>
                    <a:bodyPr/>
                    <a:lstStyle/>
                    <a:p>
                      <a:pPr lvl="0" indent="0" marL="0">
                        <a:buNone/>
                      </a:pPr>
                      <a:r>
                        <a:rPr/>
                        <a:t>rl-code-llm-training-dev (us-east-1, EKS 1.29)</a:t>
                      </a:r>
                    </a:p>
                  </a:txBody>
                </a:tc>
              </a:tr>
              <a:tr h="0">
                <a:tc>
                  <a:txBody>
                    <a:bodyPr/>
                    <a:lstStyle/>
                    <a:p>
                      <a:pPr lvl="0" indent="0" marL="0">
                        <a:buNone/>
                      </a:pPr>
                      <a:r>
                        <a:rPr/>
                        <a:t>GPU Nodes</a:t>
                      </a:r>
                    </a:p>
                  </a:txBody>
                </a:tc>
                <a:tc>
                  <a:txBody>
                    <a:bodyPr/>
                    <a:lstStyle/>
                    <a:p>
                      <a:pPr lvl="0" indent="0" marL="0">
                        <a:buNone/>
                      </a:pPr>
                      <a:r>
                        <a:rPr/>
                        <a:t>2× p4d.24xlarge (8× A100 40GB each)</a:t>
                      </a:r>
                    </a:p>
                  </a:txBody>
                </a:tc>
              </a:tr>
              <a:tr h="0">
                <a:tc>
                  <a:txBody>
                    <a:bodyPr/>
                    <a:lstStyle/>
                    <a:p>
                      <a:pPr lvl="0" indent="0" marL="0">
                        <a:buNone/>
                      </a:pPr>
                      <a:r>
                        <a:rPr/>
                        <a:t>CPU Nodes</a:t>
                      </a:r>
                    </a:p>
                  </a:txBody>
                </a:tc>
                <a:tc>
                  <a:txBody>
                    <a:bodyPr/>
                    <a:lstStyle/>
                    <a:p>
                      <a:pPr lvl="0" indent="0" marL="0">
                        <a:buNone/>
                      </a:pPr>
                      <a:r>
                        <a:rPr/>
                        <a:t>2× AL2023_x86_64_STANDARD</a:t>
                      </a:r>
                    </a:p>
                  </a:txBody>
                </a:tc>
              </a:tr>
              <a:tr h="0">
                <a:tc>
                  <a:txBody>
                    <a:bodyPr/>
                    <a:lstStyle/>
                    <a:p>
                      <a:pPr lvl="0" indent="0" marL="0">
                        <a:buNone/>
                      </a:pPr>
                      <a:r>
                        <a:rPr/>
                        <a:t>Orchestration</a:t>
                      </a:r>
                    </a:p>
                  </a:txBody>
                </a:tc>
                <a:tc>
                  <a:txBody>
                    <a:bodyPr/>
                    <a:lstStyle/>
                    <a:p>
                      <a:pPr lvl="0" indent="0" marL="0">
                        <a:buNone/>
                      </a:pPr>
                      <a:r>
                        <a:rPr/>
                        <a:t>KubeRay v1.3.0 (Terraform-managed)</a:t>
                      </a:r>
                    </a:p>
                  </a:txBody>
                </a:tc>
              </a:tr>
              <a:tr h="0">
                <a:tc>
                  <a:txBody>
                    <a:bodyPr/>
                    <a:lstStyle/>
                    <a:p>
                      <a:pPr lvl="0" indent="0" marL="0">
                        <a:buNone/>
                      </a:pPr>
                      <a:r>
                        <a:rPr/>
                        <a:t>Framework</a:t>
                      </a:r>
                    </a:p>
                  </a:txBody>
                </a:tc>
                <a:tc>
                  <a:txBody>
                    <a:bodyPr/>
                    <a:lstStyle/>
                    <a:p>
                      <a:pPr lvl="0" indent="0" marL="0">
                        <a:buNone/>
                      </a:pPr>
                      <a:r>
                        <a:rPr/>
                        <a:t>veRL 0.6.1 + vLLM 0.8.4</a:t>
                      </a:r>
                    </a:p>
                  </a:txBody>
                </a:tc>
              </a:tr>
              <a:tr h="0">
                <a:tc>
                  <a:txBody>
                    <a:bodyPr/>
                    <a:lstStyle/>
                    <a:p>
                      <a:pPr lvl="0" indent="0" marL="0">
                        <a:buNone/>
                      </a:pPr>
                      <a:r>
                        <a:rPr/>
                        <a:t>Storage</a:t>
                      </a:r>
                    </a:p>
                  </a:txBody>
                </a:tc>
                <a:tc>
                  <a:txBody>
                    <a:bodyPr/>
                    <a:lstStyle/>
                    <a:p>
                      <a:pPr lvl="0" indent="0" marL="0">
                        <a:buNone/>
                      </a:pPr>
                      <a:r>
                        <a:rPr/>
                        <a:t>S3 for checkpoints</a:t>
                      </a:r>
                    </a:p>
                  </a:txBody>
                </a:tc>
              </a:tr>
              <a:tr h="0">
                <a:tc>
                  <a:txBody>
                    <a:bodyPr/>
                    <a:lstStyle/>
                    <a:p>
                      <a:pPr lvl="0" indent="0" marL="0">
                        <a:buNone/>
                      </a:pPr>
                      <a:r>
                        <a:rPr/>
                        <a:t>Monitoring</a:t>
                      </a:r>
                    </a:p>
                  </a:txBody>
                </a:tc>
                <a:tc>
                  <a:txBody>
                    <a:bodyPr/>
                    <a:lstStyle/>
                    <a:p>
                      <a:pPr lvl="0" indent="0" marL="0">
                        <a:buNone/>
                      </a:pPr>
                      <a:r>
                        <a:rPr/>
                        <a:t>Prometheus + Grafana</a:t>
                      </a:r>
                    </a:p>
                  </a:txBody>
                </a:tc>
              </a:tr>
              <a:tr h="0">
                <a:tc>
                  <a:txBody>
                    <a:bodyPr/>
                    <a:lstStyle/>
                    <a:p>
                      <a:pPr lvl="0" indent="0" marL="0">
                        <a:buNone/>
                      </a:pPr>
                      <a:r>
                        <a:rPr/>
                        <a:t>IaC</a:t>
                      </a:r>
                    </a:p>
                  </a:txBody>
                </a:tc>
                <a:tc>
                  <a:txBody>
                    <a:bodyPr/>
                    <a:lstStyle/>
                    <a:p>
                      <a:pPr lvl="0" indent="0" marL="0">
                        <a:buNone/>
                      </a:pPr>
                      <a:r>
                        <a:rPr/>
                        <a:t>Terraform for everything</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Observability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Prometheus + Grafana on CPU nodes, persisting independently of GPU pods.</a:t>
            </a:r>
          </a:p>
          <a:p>
            <a:pPr lvl="0" indent="0" marL="0">
              <a:buNone/>
            </a:pPr>
            <a:r>
              <a:rPr b="1"/>
              <a:t>Metrics tracked</a:t>
            </a:r>
            <a:r>
              <a:rPr/>
              <a:t>: Reward, KL divergence, policy loss, entropy, gradient norm, step time, GPU memory, throughput, validation reward.</a:t>
            </a:r>
          </a:p>
          <a:p>
            <a:pPr lvl="0" indent="0" marL="0">
              <a:buNone/>
            </a:pPr>
            <a:r>
              <a:rPr/>
              <a:t>Sidecar script on head pod tails veRL logs → exposes via </a:t>
            </a:r>
            <a:r>
              <a:rPr>
                <a:latin typeface="Courier"/>
              </a:rPr>
              <a:t>prometheus_client</a:t>
            </a:r>
            <a:r>
              <a:rPr/>
              <a:t> → PodMonitor scrapes → Grafana dashboard auto-provisioned via ConfigMap.</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Grafana Dashboard</a:t>
            </a:r>
          </a:p>
        </p:txBody>
      </p:sp>
      <p:pic>
        <p:nvPicPr>
          <p:cNvPr descr="grafana.png" id="0" name="Picture 1"/>
          <p:cNvPicPr>
            <a:picLocks noGrp="1" noChangeAspect="1"/>
          </p:cNvPicPr>
          <p:nvPr/>
        </p:nvPicPr>
        <p:blipFill>
          <a:blip r:embed="rId3"/>
          <a:stretch>
            <a:fillRect/>
          </a:stretch>
        </p:blipFill>
        <p:spPr bwMode="auto">
          <a:xfrm>
            <a:off x="2781300" y="1282700"/>
            <a:ext cx="3594100" cy="19304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 We Learned</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342900" marL="342900">
              <a:buAutoNum type="arabicPeriod"/>
            </a:pPr>
            <a:r>
              <a:rPr b="1"/>
              <a:t>Per-token ratios are critical</a:t>
            </a:r>
            <a:r>
              <a:rPr/>
              <a:t> — sequence-level importance ratios explode exponentially</a:t>
            </a:r>
          </a:p>
          <a:p>
            <a:pPr lvl="0" indent="-342900" marL="342900">
              <a:buAutoNum type="arabicPeriod"/>
            </a:pPr>
            <a:r>
              <a:rPr b="1"/>
              <a:t>Schulman KL estimator</a:t>
            </a:r>
            <a:r>
              <a:rPr/>
              <a:t> — naive KL with clamp gives zero signal at low learning rates</a:t>
            </a:r>
          </a:p>
          <a:p>
            <a:pPr lvl="0" indent="-342900" marL="342900">
              <a:buAutoNum type="arabicPeriod"/>
            </a:pPr>
            <a:r>
              <a:rPr b="1"/>
              <a:t>Batch size matters enormously</a:t>
            </a:r>
            <a:r>
              <a:rPr/>
              <a:t> — 32 seq/step = noisy, 2,048 seq/step = smooth learning</a:t>
            </a:r>
          </a:p>
          <a:p>
            <a:pPr lvl="0" indent="-342900" marL="342900">
              <a:buAutoNum type="arabicPeriod"/>
            </a:pPr>
            <a:r>
              <a:rPr b="1"/>
              <a:t>Colocated inference is key</a:t>
            </a:r>
            <a:r>
              <a:rPr/>
              <a:t> — separate vLLM pod adds 22s/sync; colocated = 0s</a:t>
            </a:r>
          </a:p>
          <a:p>
            <a:pPr lvl="0" indent="-342900" marL="342900">
              <a:buAutoNum type="arabicPeriod"/>
            </a:pPr>
            <a:r>
              <a:rPr b="1"/>
              <a:t>RL works</a:t>
            </a:r>
            <a:r>
              <a:rPr/>
              <a:t> — a 1.5B model goes from 14.5% → 77% with just a reward signal, no solutions needed</a:t>
            </a:r>
          </a:p>
          <a:p>
            <a:pPr lvl="0" indent="-342900" marL="342900">
              <a:buAutoNum type="arabicPeriod"/>
            </a:pPr>
            <a:r>
              <a:rPr b="1"/>
              <a:t>Bigger models learn faster</a:t>
            </a:r>
            <a:r>
              <a:rPr/>
              <a:t> — 7B hit 88% in 10 steps vs 1.5B needing 29 steps for 77%</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Summary</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Model</a:t>
                      </a:r>
                    </a:p>
                  </a:txBody>
                  <a:tcPr/>
                </a:tc>
                <a:tc>
                  <a:txBody>
                    <a:bodyPr/>
                    <a:lstStyle/>
                    <a:p>
                      <a:pPr lvl="0" indent="0" marL="0">
                        <a:buNone/>
                      </a:pPr>
                      <a:r>
                        <a:rPr/>
                        <a:t>Before</a:t>
                      </a:r>
                    </a:p>
                  </a:txBody>
                  <a:tcPr/>
                </a:tc>
                <a:tc>
                  <a:txBody>
                    <a:bodyPr/>
                    <a:lstStyle/>
                    <a:p>
                      <a:pPr lvl="0" indent="0" marL="0">
                        <a:buNone/>
                      </a:pPr>
                      <a:r>
                        <a:rPr/>
                        <a:t>After</a:t>
                      </a:r>
                    </a:p>
                  </a:txBody>
                  <a:tcPr/>
                </a:tc>
                <a:tc>
                  <a:txBody>
                    <a:bodyPr/>
                    <a:lstStyle/>
                    <a:p>
                      <a:pPr lvl="0" indent="0" marL="0">
                        <a:buNone/>
                      </a:pPr>
                      <a:r>
                        <a:rPr/>
                        <a:t>Time</a:t>
                      </a:r>
                    </a:p>
                  </a:txBody>
                  <a:tcPr/>
                </a:tc>
              </a:tr>
              <a:tr h="0">
                <a:tc>
                  <a:txBody>
                    <a:bodyPr/>
                    <a:lstStyle/>
                    <a:p>
                      <a:pPr lvl="0" indent="0" marL="0">
                        <a:buNone/>
                      </a:pPr>
                      <a:r>
                        <a:rPr/>
                        <a:t>Qwen2.5-1.5B</a:t>
                      </a:r>
                    </a:p>
                  </a:txBody>
                </a:tc>
                <a:tc>
                  <a:txBody>
                    <a:bodyPr/>
                    <a:lstStyle/>
                    <a:p>
                      <a:pPr lvl="0" indent="0" marL="0">
                        <a:buNone/>
                      </a:pPr>
                      <a:r>
                        <a:rPr/>
                        <a:t>14.5%</a:t>
                      </a:r>
                    </a:p>
                  </a:txBody>
                </a:tc>
                <a:tc>
                  <a:txBody>
                    <a:bodyPr/>
                    <a:lstStyle/>
                    <a:p>
                      <a:pPr lvl="0" indent="0" marL="0">
                        <a:buNone/>
                      </a:pPr>
                      <a:r>
                        <a:rPr b="1"/>
                        <a:t>77.0%</a:t>
                      </a:r>
                    </a:p>
                  </a:txBody>
                </a:tc>
                <a:tc>
                  <a:txBody>
                    <a:bodyPr/>
                    <a:lstStyle/>
                    <a:p>
                      <a:pPr lvl="0" indent="0" marL="0">
                        <a:buNone/>
                      </a:pPr>
                      <a:r>
                        <a:rPr/>
                        <a:t>35 min</a:t>
                      </a:r>
                    </a:p>
                  </a:txBody>
                </a:tc>
              </a:tr>
              <a:tr h="0">
                <a:tc>
                  <a:txBody>
                    <a:bodyPr/>
                    <a:lstStyle/>
                    <a:p>
                      <a:pPr lvl="0" indent="0" marL="0">
                        <a:buNone/>
                      </a:pPr>
                      <a:r>
                        <a:rPr/>
                        <a:t>Qwen2.5-7B</a:t>
                      </a:r>
                    </a:p>
                  </a:txBody>
                </a:tc>
                <a:tc>
                  <a:txBody>
                    <a:bodyPr/>
                    <a:lstStyle/>
                    <a:p>
                      <a:pPr lvl="0" indent="0" marL="0">
                        <a:buNone/>
                      </a:pPr>
                      <a:r>
                        <a:rPr/>
                        <a:t>14.3%</a:t>
                      </a:r>
                    </a:p>
                  </a:txBody>
                </a:tc>
                <a:tc>
                  <a:txBody>
                    <a:bodyPr/>
                    <a:lstStyle/>
                    <a:p>
                      <a:pPr lvl="0" indent="0" marL="0">
                        <a:buNone/>
                      </a:pPr>
                      <a:r>
                        <a:rPr b="1"/>
                        <a:t>88.0%</a:t>
                      </a:r>
                    </a:p>
                  </a:txBody>
                </a:tc>
                <a:tc>
                  <a:txBody>
                    <a:bodyPr/>
                    <a:lstStyle/>
                    <a:p>
                      <a:pPr lvl="0" indent="0" marL="0">
                        <a:buNone/>
                      </a:pPr>
                      <a:r>
                        <a:rPr/>
                        <a:t>~83 min</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All it takes is a binary reward signal and the right RL algorithm.</a:t>
            </a:r>
          </a:p>
          <a:p>
            <a:pPr lvl="0" indent="0" marL="0">
              <a:buNone/>
            </a:pPr>
            <a:r>
              <a:rPr/>
              <a:t>The custom trainer was invaluable for understanding GRPO internals. veRL is the right tool for actual training.</a:t>
            </a:r>
          </a:p>
        </p:txBody>
      </p:sp>
    </p:spTree>
  </p:cSld>
</p:sld>
</file>

<file path=ppt/theme/theme1.xml><?xml version="1.0" encoding="utf-8"?>
<a:theme xmlns:a="http://schemas.openxmlformats.org/drawingml/2006/main" name="AWS Confidential Light">
  <a:themeElements>
    <a:clrScheme name="AWS_2022_Light">
      <a:dk1>
        <a:srgbClr val="000000"/>
      </a:dk1>
      <a:lt1>
        <a:srgbClr val="FFFFFF"/>
      </a:lt1>
      <a:dk2>
        <a:srgbClr val="232F3E"/>
      </a:dk2>
      <a:lt2>
        <a:srgbClr val="F1F3F3"/>
      </a:lt2>
      <a:accent1>
        <a:srgbClr val="2074D5"/>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aws_template" id="{B4AE4B5B-9178-914A-8796-C3D5A8626F0D}" vid="{7AF04874-52A9-3247-A03B-873AD3A2C5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aws_template</Template>
  <TotalTime>1237</TotalTime>
  <Words>0</Words>
  <Application>Microsoft Macintosh PowerPoint</Application>
  <PresentationFormat>On-screen Show (16:9)</PresentationFormat>
  <Paragraphs>0</Paragraphs>
  <Slides>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0</vt:i4>
      </vt:variant>
    </vt:vector>
  </HeadingPairs>
  <TitlesOfParts>
    <vt:vector size="8" baseType="lpstr">
      <vt:lpstr>Amazon Ember</vt:lpstr>
      <vt:lpstr>Amazon Ember Display</vt:lpstr>
      <vt:lpstr>Amazon Ember Mono</vt:lpstr>
      <vt:lpstr>Aptos</vt:lpstr>
      <vt:lpstr>Arial</vt:lpstr>
      <vt:lpstr>Lucida Console</vt:lpstr>
      <vt:lpstr>Wingdings</vt:lpstr>
      <vt:lpstr>AWS Confidential Light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 Small LLM to Solve Math with RL</dc:title>
  <dc:creator>Harish VS</dc:creator>
  <cp:keywords/>
  <dcterms:created xsi:type="dcterms:W3CDTF">2026-02-22T01:06:58Z</dcterms:created>
  <dcterms:modified xsi:type="dcterms:W3CDTF">2026-02-22T01:06:58Z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February 2026</vt:lpwstr>
  </property>
  <property fmtid="{D5CDD505-2E9C-101B-9397-08002B2CF9AE}" pid="3" name="subtitle">
    <vt:lpwstr>GRPO Training on GSM8K — From Scratch to Production</vt:lpwstr>
  </property>
</Properties>
</file>