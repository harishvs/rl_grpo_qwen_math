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65" autoAdjust="0"/>
    <p:restoredTop sz="78646" autoAdjust="0"/>
  </p:normalViewPr>
  <p:slideViewPr>
    <p:cSldViewPr snapToGrid="0" snapToObjects="1">
      <p:cViewPr varScale="1">
        <p:scale>
          <a:sx n="176" d="100"/>
          <a:sy n="176" d="100"/>
        </p:scale>
        <p:origin x="816" y="18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headline result. We took small language models that could barely do grade-school math and trained them using reinforcement learning with the simplest possible reward — did you get the right number? Yes or no. No step-by-step solutions, no human feedback, no learned reward model. The rest of this talk is about how we got here — the algorithm, the infrastructure, the bugs, and what we learned along the way.</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Think of it like teaching someone to cook. Supervised learning gives them a recipe to follow step by step. RL just lets them taste the result and says “good” or “bad” — they figure out the recipe themselves. This is powerful because the model can discover strategies that humans might not think of.</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diagram shows where reinforcement learning fits in the modern LLM training pipeline. You start with a pre-trained model, fine-tune it to follow instructions, then apply RL. There are two main flavors of RL: RLVR uses verifiable rewards — did you get the math problem right? — while RLHF uses human preferences — is this response helpful and safe? Our GRPO training on GSM8K is squarely in the RLVR category. We have a ground truth answer we can check against, so we don’t need human annotators or a learned reward model.</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GSM8K is grade-school math — 2 to 8 step arithmetic problems. Simple enough that a small model sometimes gets them right, hard enough that the base model gets 85% wrong. Binary reward means we just check if the final number is correct. We ran on 16 A100 GPUs across 2 nodes on EKS. We tried building our own trainer first to learn how GRPO works, then switched to veRL for the real training.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real example from GSM8K. The dataset has step-by-step solutions with calculator annotations, but we throw all of that away. We only extract the number after the #### marker and use it as the ground truth for the binary reward. The model never sees the solution text — it has to discover its own reasoning.</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diagram shows exactly how our custom trainer implements GRPO. Let me walk through each component intuitively.</a:t>
            </a:r>
          </a:p>
          <a:p>
            <a:pPr marL="0" lvl="0" indent="0">
              <a:buNone/>
            </a:pPr>
            <a:endParaRPr/>
          </a:p>
          <a:p>
            <a:pPr marL="0" lvl="0" indent="0">
              <a:buNone/>
            </a:pPr>
            <a:r>
              <a:rPr b="1"/>
              <a:t>Log probs</a:t>
            </a:r>
            <a:r>
              <a:t> — Log probabilities measure how likely the model considers each generated token under its current parameters. For example, if the model is very confident about a token, the log prob is close to 0; if uncertain, it’s a large negative number like -5 or -10. We compute these by running the model forward on each rollout and extracting the probability it assigns to each token it actually generated. In GRPO, we work with per-token log probs rather than summing them into a single sequence-level number.</a:t>
            </a:r>
          </a:p>
          <a:p>
            <a:pPr marL="0" lvl="0" indent="0">
              <a:buNone/>
            </a:pPr>
            <a:endParaRPr/>
          </a:p>
          <a:p>
            <a:pPr marL="0" lvl="0" indent="0">
              <a:buNone/>
            </a:pPr>
            <a:r>
              <a:rPr b="1"/>
              <a:t>GRPO Advantages</a:t>
            </a:r>
            <a:r>
              <a:t> — Rewards alone just tell us if an answer was right or wrong. Advantages tell us how each rollout did </a:t>
            </a:r>
            <a:r>
              <a:rPr i="1"/>
              <a:t>relative to the group</a:t>
            </a:r>
            <a:r>
              <a:t>. The formula is simple: A_i = (reward_i - mean) / std. If you got 4 rollouts with rewards [1, 1, 0, 0], the mean is 0.5, so correct answers get positive advantages (+0.87) and wrong ones get negative (-0.87). These values directly scale the gradients — positive advantages increase the likelihood of actions that produced that rollout, negative advantages decrease their likelihood, and if all rollouts got the same reward, advantages are zero and the model learns nothing. The “GR” in GRPO stands for “group relative” — we compare rollouts against each other rather than against a learned value function.</a:t>
            </a:r>
          </a:p>
          <a:p>
            <a:pPr marL="0" lvl="0" indent="0">
              <a:buNone/>
            </a:pPr>
            <a:endParaRPr/>
          </a:p>
          <a:p>
            <a:pPr marL="0" lvl="0" indent="0">
              <a:buNone/>
            </a:pPr>
            <a:r>
              <a:rPr b="1"/>
              <a:t>PPO Clipping</a:t>
            </a:r>
            <a:r>
              <a:t> — The importance ratio (ratio = exp(new_log_prob - old_log_prob)) tells us how much the policy has changed since it generated the rollout. If old and new log probs are identical, the ratio is 1.0. Clipping limits how far the new policy can move from the old one in a single step. We clamp the ratio to [0.8, 1.2] and take the minimum of the clipped and unclipped objectives. Without clipping, a large ratio would scale the advantage substantially, leading to a very large gradient step that can destabilize training — the model shifts too far, token probabilities change drastically, and you get reward crashes or entropy collapse. Our clip range of 0.2 is much tighter than DeepSeek-R1’s clip_eps of 10, because we operate per-token rather than at the sequence level.</a:t>
            </a:r>
          </a:p>
          <a:p>
            <a:pPr marL="0" lvl="0" indent="0">
              <a:buNone/>
            </a:pPr>
            <a:endParaRPr/>
          </a:p>
          <a:p>
            <a:pPr marL="0" lvl="0" indent="0">
              <a:buNone/>
            </a:pPr>
            <a:r>
              <a:rPr b="1"/>
              <a:t>KL Penalty</a:t>
            </a:r>
            <a:r>
              <a:t> — KL divergence measures how much the current policy deviates from a reference. While clipping limits how large each individual step can be, the KL term controls drift over the full training trajectory. We use the Schulman estimator: (ratio - 1) - log(ratio), which is always non-negative and equals zero when ratio = 1 (policies match). This gets added to the loss weighted by kl_coef, so updates that push the model far from its reference behavior are penalized even if they improve reward. In our custom trainer, we skip the frozen reference model to save GPU memory and instead use old_log_probs from generation time as the reference — a pragmatic tradeoff that works when the policy changes slowly between steps.</a:t>
            </a:r>
          </a:p>
          <a:p>
            <a:pPr marL="0" lvl="0" indent="0">
              <a:buNone/>
            </a:pPr>
            <a:endParaRPr/>
          </a:p>
          <a:p>
            <a:pPr marL="0" lvl="0" indent="0">
              <a:buNone/>
            </a:pPr>
            <a:r>
              <a:t>The prompt goes to the LLM, which generates 4 rollouts via a remote vLLM server. The environment service checks the final number and returns binary rewards. After the gradient step, weights sync back to vLLM every 3 steps.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custom trainer was a learning exercise — we wanted to understand every piece of the GRPO pipeline: how importance ratios work, how KL penalties interact with clipping, how to manage FSDP weights with vLLM. It took 5 attempts and 12 hours of debugging. veRL by ByteDance is a production framework that handles all of this out of the box. The throughput difference is 45x — mostly from colocated vLLM and much larger batch sizes.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architecture we built from scratch. The vLLM server runs on its own GPU and generates completions via HTTP. The trainer pods run FSDP across 14 GPUs on 2 nodes. The environment service on a CPU node checks if answers are correct. The awkward part is the weight sync — every 3 steps, rank 0 has to serialize 3GB of weights and POST them to the vLLM server over HTTP. That takes 22 seconds each time. Why HTTP and not RDMA/NCCL? Because vLLM runs in a separate process with its own CUDA context — it can’t join the trainer’s NCCL process group without deadlocking. We tried running vLLM inside torchrun and it hung on initialization because both vLLM and FSDP fight over NCCL. So the only way to communicate was through the network stack — HTTP was the simplest option. This is the fundamental bottleneck that veRL solves by colocating everything in the same process and doing zero-copy weight resharding. An alternative we didn’t try: torchrun with nproc_per_node=7 on node 1 (leaving GPU 0 free for vLLM) and nproc_per_node=8 on node 2. This works because torchrun’s c10d rendezvous backend — a TCP key-value store on the master node — handles asymmetric process counts. Each node registers however many processes it launched, and once all check in, ranks are assigned. With this setup, GPU 0 is completely outside the NCCL group, so no deadlock. Weight sync could then use shared memory or cudaIpcMemHandle (same-node GPU-to-GPU memory sharing) instead of HTTP — cutting 22 seconds down to 1-2 seconds. We jumped straight to separate pods which forced us into HTTP.</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Our first attempt was too ambitious with batch size. With 8 prompts times 8 completions, that’s 64 sequences per step. GPU 0 was especially constrained because it holds both its FSDP shard and the full generation model for producing completions. Dropping to batch_size=4 gave us 32 sequences per step and fit in memory.</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was the most instructive bug. KL went from 0.42 to 194.8 in a single step, then the model diverged so badly it OOM’d from NaN activations. The root cause: we were summing log probabilities across the entire sequence (200+ tokens) and then taking exp() of the difference. Even tiny per-token shifts of 0.01 accumulate into a sum of 2.0, and exp(2) = 7.4. After one gradient step with that inflated ratio, the next step gets exp(50) which is astronomical. The DeepSeek paper is clear that the importance ratio is a per-token concept.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fix is straightforward — compute the importance ratio per token, apply clipping per token, then average. This keeps every individual ratio close to 1.0 and within the clip range of 0.8 to 1.2. We verified numerically: with 200 tokens and per-token shifts of 0.02 standard deviation, the old method gives ratio=1.46 and KL=0.08, while the new method gives mean ratio=1.002 and KL=0.0002. Night and day difference.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math fix worked perfectly but exposed a performance problem. Each step made 32 separate generate calls, each triggering an FSDP all-gather across 14 GPUs. At 5 minutes per step and 1,868 steps for one epoch, we’d need 156 hours. Our GPU capacity block was only 32 hours. We needed at least a 5x speedup.</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key insight was that HuggingFace generate supports num_return_sequences — you give it one prompt and it generates 8 completions in a single forward pass, sharing the KV cache for the prompt tokens. This reduced 32 generate calls to 4 (one per prompt in the batch). 3x speedup to 1.5 minutes per step. Still not fast enough for a full epoch in our time window, but the reward was starting to trend upward — we could see the model learning.</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vLLM is much faster than HuggingFace generate for inference — it uses PagedAttention and continuous batching. But we couldn’t run it inside torchrun because it conflicts with NCCL. So we deployed it as a separate Kubernetes pod and communicated via HTTP. Got down to 50 seconds per step. But it crashed at step 50 due to a checkpoint bug — we used local_rank instead of global_rank to decide who saves, so on multi-node, node 2’s local rank 0 tried to save an empty state dict. Even before the crash, reward was oscillating without a clear trend because 32 sequences per step is just too noisy for stable learning.</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 got a 6x speedup through three rounds of optimization. But even at 72 steps per hour with only 32 sequences per step, the effective throughput was 2,304 sequences per hour. The fundamental problem wasn’t speed per step — it was that we could only fit 4 prompts per batch due to memory constraints in our hand-rolled code. veRL solves this by properly managing GPU memory across phases.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These are the five most impactful bugs we found. The importance ratio bug was the showstopper — it made training diverge in one step. The log_probs mean vs sum bug meant the policy gradient was length-normalized, so short and long responses contributed equally regardless of sequence probability. The checkpoint bug only manifests on multi-node — local_rank 0 exists on every node, but only global rank 0 should save. The vLLM deadlock taught us that vLLM and NCCL can’t coexist in the same process. And the clamped KL was giving zero penalty 99% of the time because the naive log ratio was slightly negative at low learning rates.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After 12 hours of debugging the custom trainer, we switched to veRL. The architecture is fundamentally different — every GPU runs all roles by cycling through phases. No separate vLLM pod, no HTTP weight sync, no memory fragmentation from dedicated roles. veRL manages GPU memory by loading and unloading models between phases. The ref model lives on CPU and only comes to GPU briefly for log prob computation. How does veRL avoid the NCCL deadlock we hit? It doesn’t run vLLM and FSDP simultaneously — it time-shares the same GPUs. During generation, the FSDP actor is offloaded and vLLM takes over. During training, vLLM’s KV cache is freed and FSDP loads back. The WorkerDict abstraction holds both engines on each GPU and orchestrates turns. Weight resharding between FSDP’s sharded layout and vLLM’s tensor-parallel layout happens via DTensor — a metadata operation that remaps how the same physical memory is viewed, not an actual data copy. So veRL didn’t solve the NCCL conflict — it avoided it entirely by never running both at the same time.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Each step takes about 70 seconds for 2,048 sequences. Generation is 19 seconds using vLLM engines on all 16 GPUs in parallel. The actor update dominates at 39 seconds — that’s the FSDP training forward and backward pass. Ref log probs take 5 seconds — the ref model is offloaded to CPU between steps and loaded back for this phase. Reward is trivial at 0.6 seconds — just CPU string matching. The key insight is zero-copy weight resharding between the FSDP actor and the vLLM engine — no serialization or network transfer needed.</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training curve for Qwen2.5-1.5B. Reward climbs steadily from near zero to about 65-70% over 29 steps. The validation reward at step 20 was 72.3% and at step 29 was 72.7% — the model had essentially converged. Total training time was 35 minutes for one full epoch of GSM8K. Compare this to the custom trainer which couldn’t even finish one epoch in 26 hours.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eval was done on 200 random test problems with greedy decoding using the same chat template as training. Base model gets 14.5% — it can actually do math (56% with a non-chat prompt) but doesn’t know the chat format. After GRPO training, it scores 77% — the model learned both the format and improved its reasoning. The 2.3% initial validation is lower than 14.5% because it was measured before any training with a slightly different eval setup. KL stayed very low throughout — 0.0007 at step 3, never spiking. veRL’s implementation is rock solid.</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7B model is dramatically faster at learning. It went from 14.3% to 88% validation accuracy in just 10 steps — about 83 minutes of training. By step 9 it was already at 88.8% training reward and essentially saturated. The remaining steps from 10 to 19 just oscillated between 83 and 88%. Unfortunately our GPU capacity block expired after step 19, one step before the checkpoint save at step 20. We’ve since changed the save frequency to every 10 steps. Each step takes about 502 seconds — 7x slower than 1.5B because the model is bigger and we had to halve the batch size to fit in memory.</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Both models start at roughly the same baseline — about 14% accuracy. But the 7B model reaches 70% in just 7 steps versus 20 for the 1.5B, and peaks at 88% versus 77%. The larger model has more capacity to represent complex reasoning patterns. The tradeoff is wall-clock time per step — 502 seconds versus 70 seconds — because the 7B model needs more memory (halving the batch size) and more compute for forward and backward passes. In total wall-clock time, the 7B took about 83 minutes to reach 88% while the 1.5B took 35 minutes to reach 77%.</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45x throughput difference comes from three things. First, colocated vLLM eliminates the 22-second HTTP weight sync. Second, veRL’s phase-based memory management lets it fit 256 prompts per batch versus our 4 — that’s 64x more sequences per step. Third, all 16 GPUs run vLLM in parallel during generation versus our single dedicated GPU. The custom trainer was invaluable for understanding the internals — we wouldn’t have appreciated veRL’s design without struggling through those 5 attempts. But for production training, there’s no contest.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Everything runs on EKS in us-east-1. The GPU nodes are p4d.24xlarge instances with 8 A100 40GB GPUs each, connected via EFA for fast NCCL communication. We use capacity blocks for the GPU instances since they’re expensive — about $32/hr per node. CPU nodes run the monitoring stack and environment service. KubeRay manages the Ray cluster for veRL. All infrastructure is Terraform-managed — no manual kubectl or console changes for persistent resources.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Observability was critical — GPU training pods are ephemeral and expensive, so we needed metrics to persist independently. A sidecar Python script on the Ray head pod parses the veRL worker log in real time and exposes metrics via the Prometheus client library on port 9090. A PodMonitor tells Prometheus to scrape it. The Grafana dashboard is auto-provisioned via a ConfigMap so it survives pod restarts. This is how we captured all the 7B training metrics even after the capacity block expired and the pods died.</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actual Grafana dashboard from the 7B training run. You can see reward climbing rapidly in the first 10 steps then plateauing, KL staying stable throughout, step time rock-steady at 502 seconds, and GPU memory utilization near maximum. The dashboard auto-refreshes and was our primary monitoring tool during training — we could check progress from anywhere without needing kubectl access.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These are the engineering lessons. The per-token ratio bug was the most painful — it’s subtle because sequence-level log probs are correct for the policy gradient, but the importance ratio must be per-token or it explodes. The Schulman KL estimator is a drop-in replacement that’s always non-negative without clamping. Batch size was the biggest factor in training stability — 32 sequences per step gave us random-looking reward curves, while 2,048 gave smooth monotonic improvement. And colocating vLLM with the trainer eliminates the entire weight sync bottleneck.</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high-level takeaway: reinforcement learning with a simple binary reward signal is enough to teach small models to reason about math. No human-written solutions, no reward model, just “right or wrong.” And scale helps — the 7B model learns faster and reaches a higher ceiling, even though each step is slower. Both results were achieved in under 2 hours of GPU time on 16 A100s.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Code generation is the natural next step — the reward signal is just as clean as math (run the tests, pass or fail) but the reasoning is much harder. For infrastructure, the separate GPU pool architecture is what strategic customers training large models actually use in production. veRL’s colocated time-sharing works great for small-to-mid models, but at scale (70B+, hundreds of GPUs), the phase transition overhead adds up — GPUs sit idle while switching between generation and training. The production pattern is: one pool of GPUs runs vLLM continuously for generation, another pool runs FSDP/Megatron for training, and weights are synced via RDMA over EFA. EFA gives 400 Gbps per node — syncing even a 70B model takes seconds, not minutes. The tradeoff is cost (2x GPUs) but both pools run at near 100% utilization, which is more efficient at scale than time-sharing where each pool is idle 50% of the time.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To summarize: we took two small language models that could barely solve grade-school math and trained them to 77% and 88% accuracy using only a binary reward signal — no human-written solutions. The 1.5B model trained in 35 minutes, the 7B in about 83 minutes. Building the custom trainer taught us how GRPO works at every level, but veRL is what made the actual training feasible. The code for the custom trainer is about 800 lines; the veRL config is about 50 lines. Both are in the repo if you want to explore.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Color set 1 - gradient">
    <p:bg>
      <p:bgRef idx="1001">
        <a:schemeClr val="bg2"/>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3C42571-C3C7-BB4F-8DBE-9009660F6A6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49" y="0"/>
            <a:ext cx="9148572" cy="5148155"/>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11" name="TextBox 10">
            <a:extLst>
              <a:ext uri="{FF2B5EF4-FFF2-40B4-BE49-F238E27FC236}">
                <a16:creationId xmlns:a16="http://schemas.microsoft.com/office/drawing/2014/main" id="{F9CE4815-926B-43B6-82AB-971B1A89CEF6}"/>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ext Placeholder 7">
            <a:extLst>
              <a:ext uri="{FF2B5EF4-FFF2-40B4-BE49-F238E27FC236}">
                <a16:creationId xmlns:a16="http://schemas.microsoft.com/office/drawing/2014/main" id="{B3B2132D-A1B1-5764-F0F5-6BF620133512}"/>
              </a:ext>
            </a:extLst>
          </p:cNvPr>
          <p:cNvSpPr>
            <a:spLocks noGrp="1"/>
          </p:cNvSpPr>
          <p:nvPr>
            <p:ph type="body" sz="quarter" idx="10" hasCustomPrompt="1"/>
          </p:nvPr>
        </p:nvSpPr>
        <p:spPr>
          <a:xfrm>
            <a:off x="457199" y="1297064"/>
            <a:ext cx="4440308"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pic>
        <p:nvPicPr>
          <p:cNvPr id="4" name="Picture 3">
            <a:extLst>
              <a:ext uri="{FF2B5EF4-FFF2-40B4-BE49-F238E27FC236}">
                <a16:creationId xmlns:a16="http://schemas.microsoft.com/office/drawing/2014/main" id="{49BDCA0C-C743-7C13-1048-4B608BDA035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91932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Color set 1 - bar 1">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C59D3C-F265-A7AD-B75C-9AB19FCED49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8572" cy="5148754"/>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5" name="TextBox 4">
            <a:extLst>
              <a:ext uri="{FF2B5EF4-FFF2-40B4-BE49-F238E27FC236}">
                <a16:creationId xmlns:a16="http://schemas.microsoft.com/office/drawing/2014/main" id="{A3C4862A-6AB7-E467-D991-630FEA6FDD67}"/>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7" name="Text Placeholder 7">
            <a:extLst>
              <a:ext uri="{FF2B5EF4-FFF2-40B4-BE49-F238E27FC236}">
                <a16:creationId xmlns:a16="http://schemas.microsoft.com/office/drawing/2014/main" id="{9808E5A7-4382-4716-425E-13DED85CFDFA}"/>
              </a:ext>
            </a:extLst>
          </p:cNvPr>
          <p:cNvSpPr>
            <a:spLocks noGrp="1"/>
          </p:cNvSpPr>
          <p:nvPr>
            <p:ph type="body" sz="quarter" idx="10" hasCustomPrompt="1"/>
          </p:nvPr>
        </p:nvSpPr>
        <p:spPr>
          <a:xfrm>
            <a:off x="457199" y="1297064"/>
            <a:ext cx="4186860"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pic>
        <p:nvPicPr>
          <p:cNvPr id="6" name="Picture 5">
            <a:extLst>
              <a:ext uri="{FF2B5EF4-FFF2-40B4-BE49-F238E27FC236}">
                <a16:creationId xmlns:a16="http://schemas.microsoft.com/office/drawing/2014/main" id="{FA47757C-0DDD-451F-5FA6-599FEA16EA9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7929021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 Color set 1 - bar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50D784-1856-E6F0-2FE8-22F9BA2AD89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8572" cy="5148754"/>
          </a:xfrm>
          <a:prstGeom prst="rect">
            <a:avLst/>
          </a:prstGeom>
        </p:spPr>
      </p:pic>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9EDE41BE-4940-1A8A-B3B0-A5C1866A92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818107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 Color set 1 - dot 1">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BF9A62-7E9C-9155-60B3-DE1EBCCA623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700B2890-FFC0-70FD-D6C2-F77566C0A1AD}"/>
              </a:ext>
            </a:extLst>
          </p:cNvPr>
          <p:cNvSpPr>
            <a:spLocks noGrp="1"/>
          </p:cNvSpPr>
          <p:nvPr>
            <p:ph type="ctrTitle" hasCustomPrompt="1"/>
          </p:nvPr>
        </p:nvSpPr>
        <p:spPr>
          <a:xfrm>
            <a:off x="457199" y="1594619"/>
            <a:ext cx="363523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90619C3E-FFEE-8653-760C-8C7C7487DBD8}"/>
              </a:ext>
            </a:extLst>
          </p:cNvPr>
          <p:cNvSpPr>
            <a:spLocks noGrp="1"/>
          </p:cNvSpPr>
          <p:nvPr>
            <p:ph type="subTitle" idx="1" hasCustomPrompt="1"/>
          </p:nvPr>
        </p:nvSpPr>
        <p:spPr>
          <a:xfrm>
            <a:off x="457199" y="2180040"/>
            <a:ext cx="3635238"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8" name="Text Placeholder 7">
            <a:extLst>
              <a:ext uri="{FF2B5EF4-FFF2-40B4-BE49-F238E27FC236}">
                <a16:creationId xmlns:a16="http://schemas.microsoft.com/office/drawing/2014/main" id="{CE52E65A-C3A6-A324-9DBD-1692BC9C1317}"/>
              </a:ext>
            </a:extLst>
          </p:cNvPr>
          <p:cNvSpPr>
            <a:spLocks noGrp="1"/>
          </p:cNvSpPr>
          <p:nvPr>
            <p:ph type="body" sz="quarter" idx="10" hasCustomPrompt="1"/>
          </p:nvPr>
        </p:nvSpPr>
        <p:spPr>
          <a:xfrm>
            <a:off x="457199" y="1297064"/>
            <a:ext cx="2688536"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a:t>
            </a:r>
          </a:p>
        </p:txBody>
      </p:sp>
      <p:pic>
        <p:nvPicPr>
          <p:cNvPr id="5" name="Picture 4">
            <a:extLst>
              <a:ext uri="{FF2B5EF4-FFF2-40B4-BE49-F238E27FC236}">
                <a16:creationId xmlns:a16="http://schemas.microsoft.com/office/drawing/2014/main" id="{B99FD7A6-4AE3-CF7B-0ECD-9361728BB16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455952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Color set 1 - dot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44AEEB-00A1-474B-00D0-DDD5D300C84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84FD1530-6EEE-43D2-6940-FBA7AEDC12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1995908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 Color set 1 - block comp 1s">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91FE67-1AE0-7E15-D9C8-0DE34C45636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8" name="Text Placeholder 7">
            <a:extLst>
              <a:ext uri="{FF2B5EF4-FFF2-40B4-BE49-F238E27FC236}">
                <a16:creationId xmlns:a16="http://schemas.microsoft.com/office/drawing/2014/main" id="{6DD5150A-FE86-8152-87B7-C2D70ED254F4}"/>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16" name="Title 1">
            <a:extLst>
              <a:ext uri="{FF2B5EF4-FFF2-40B4-BE49-F238E27FC236}">
                <a16:creationId xmlns:a16="http://schemas.microsoft.com/office/drawing/2014/main" id="{981C8688-9D6A-BF10-BEBC-3DA5A5B84785}"/>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17" name="Subtitle 2">
            <a:extLst>
              <a:ext uri="{FF2B5EF4-FFF2-40B4-BE49-F238E27FC236}">
                <a16:creationId xmlns:a16="http://schemas.microsoft.com/office/drawing/2014/main" id="{4D90A8D5-E35A-9FD5-25B5-058F97314BF1}"/>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CDAEC8D7-9550-DA01-906E-36D45D26FFC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884561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 Color set 1 - block comp 1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A5D8C6-5936-75B2-41A8-B08B5980319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
            <a:ext cx="9148572" cy="5148752"/>
          </a:xfrm>
          <a:prstGeom prst="rect">
            <a:avLst/>
          </a:prstGeom>
        </p:spPr>
      </p:pic>
      <p:sp>
        <p:nvSpPr>
          <p:cNvPr id="7" name="Text Placeholder 7">
            <a:extLst>
              <a:ext uri="{FF2B5EF4-FFF2-40B4-BE49-F238E27FC236}">
                <a16:creationId xmlns:a16="http://schemas.microsoft.com/office/drawing/2014/main" id="{17010478-7631-CBAD-ABD2-DCE97BFB28B2}"/>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3" name="Title 1">
            <a:extLst>
              <a:ext uri="{FF2B5EF4-FFF2-40B4-BE49-F238E27FC236}">
                <a16:creationId xmlns:a16="http://schemas.microsoft.com/office/drawing/2014/main" id="{6286DE92-7E05-482B-31B6-63F3987E2BEC}"/>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5" name="Subtitle 2">
            <a:extLst>
              <a:ext uri="{FF2B5EF4-FFF2-40B4-BE49-F238E27FC236}">
                <a16:creationId xmlns:a16="http://schemas.microsoft.com/office/drawing/2014/main" id="{DD1DD255-6821-0604-B98A-AB7C9ACF2D66}"/>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40431ED6-FE83-50D2-06F3-1504320848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4054953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 Color set 1 - block comp 1o">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96C1A4-0164-737C-156C-71FDB46C67C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8" name="Text Placeholder 7">
            <a:extLst>
              <a:ext uri="{FF2B5EF4-FFF2-40B4-BE49-F238E27FC236}">
                <a16:creationId xmlns:a16="http://schemas.microsoft.com/office/drawing/2014/main" id="{AC3D8AEC-AADD-513C-C405-9D1744F2445D}"/>
              </a:ext>
            </a:extLst>
          </p:cNvPr>
          <p:cNvSpPr>
            <a:spLocks noGrp="1"/>
          </p:cNvSpPr>
          <p:nvPr>
            <p:ph type="body" sz="quarter" idx="10" hasCustomPrompt="1"/>
          </p:nvPr>
        </p:nvSpPr>
        <p:spPr>
          <a:xfrm>
            <a:off x="457198" y="1297064"/>
            <a:ext cx="4031675"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5" name="Title 1">
            <a:extLst>
              <a:ext uri="{FF2B5EF4-FFF2-40B4-BE49-F238E27FC236}">
                <a16:creationId xmlns:a16="http://schemas.microsoft.com/office/drawing/2014/main" id="{7E038297-A4B2-A0C4-B665-94BC8F287A2E}"/>
              </a:ext>
            </a:extLst>
          </p:cNvPr>
          <p:cNvSpPr>
            <a:spLocks noGrp="1"/>
          </p:cNvSpPr>
          <p:nvPr>
            <p:ph type="ctrTitle" hasCustomPrompt="1"/>
          </p:nvPr>
        </p:nvSpPr>
        <p:spPr>
          <a:xfrm>
            <a:off x="457199" y="1594619"/>
            <a:ext cx="3381500" cy="590931"/>
          </a:xfrm>
        </p:spPr>
        <p:txBody>
          <a:bodyPr wrap="square" anchor="t" anchorCtr="0"/>
          <a:lstStyle>
            <a:lvl1pPr algn="l">
              <a:defRPr sz="3600">
                <a:solidFill>
                  <a:schemeClr val="tx1"/>
                </a:solidFill>
              </a:defRPr>
            </a:lvl1pPr>
          </a:lstStyle>
          <a:p>
            <a:r>
              <a:rPr lang="en-US" dirty="0"/>
              <a:t>Enter title</a:t>
            </a:r>
          </a:p>
        </p:txBody>
      </p:sp>
      <p:sp>
        <p:nvSpPr>
          <p:cNvPr id="7" name="Subtitle 2">
            <a:extLst>
              <a:ext uri="{FF2B5EF4-FFF2-40B4-BE49-F238E27FC236}">
                <a16:creationId xmlns:a16="http://schemas.microsoft.com/office/drawing/2014/main" id="{2FD4FB41-C35A-3647-E2E1-C3F4E51A4E18}"/>
              </a:ext>
            </a:extLst>
          </p:cNvPr>
          <p:cNvSpPr>
            <a:spLocks noGrp="1"/>
          </p:cNvSpPr>
          <p:nvPr>
            <p:ph type="subTitle" idx="1" hasCustomPrompt="1"/>
          </p:nvPr>
        </p:nvSpPr>
        <p:spPr>
          <a:xfrm>
            <a:off x="457198" y="2180040"/>
            <a:ext cx="33815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CC4996EC-600B-1977-F90F-35032F94532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8369756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 Color set 1 - block comp 2s">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2876E5-AA9E-A119-66B7-401EA470EE6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19" name="Text Placeholder 7">
            <a:extLst>
              <a:ext uri="{FF2B5EF4-FFF2-40B4-BE49-F238E27FC236}">
                <a16:creationId xmlns:a16="http://schemas.microsoft.com/office/drawing/2014/main" id="{2A7D6578-A595-2995-11FE-3C12B029D2FB}"/>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17" name="Title 1">
            <a:extLst>
              <a:ext uri="{FF2B5EF4-FFF2-40B4-BE49-F238E27FC236}">
                <a16:creationId xmlns:a16="http://schemas.microsoft.com/office/drawing/2014/main" id="{46AF514D-A502-E187-8F58-81F671E3C3D5}"/>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18" name="Subtitle 2">
            <a:extLst>
              <a:ext uri="{FF2B5EF4-FFF2-40B4-BE49-F238E27FC236}">
                <a16:creationId xmlns:a16="http://schemas.microsoft.com/office/drawing/2014/main" id="{BA69EC84-44BB-6261-9294-72DDBB1267A5}"/>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705A4E8-FE68-855C-8B74-2B3C7E24FF4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18526072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lide - Color set 1 - block comp 2h">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DBA8FA-1DDD-F8BE-38DD-420B3FF2963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11" name="Text Placeholder 7">
            <a:extLst>
              <a:ext uri="{FF2B5EF4-FFF2-40B4-BE49-F238E27FC236}">
                <a16:creationId xmlns:a16="http://schemas.microsoft.com/office/drawing/2014/main" id="{53A0A336-7F82-18AB-F951-1CA3F4396F15}"/>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8" name="Title 1">
            <a:extLst>
              <a:ext uri="{FF2B5EF4-FFF2-40B4-BE49-F238E27FC236}">
                <a16:creationId xmlns:a16="http://schemas.microsoft.com/office/drawing/2014/main" id="{F530141D-1716-8772-4FBD-0591A9B0856E}"/>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A23947B2-F125-5BD0-E29F-192A2540439E}"/>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35A8C35F-4DFD-1FC6-9FC4-4975D7E6A8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404149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A244FF-AEB3-7746-A476-22D4D31681D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79C0F65C-0207-5277-70D2-B3FF6265C0A2}"/>
              </a:ext>
            </a:extLst>
          </p:cNvPr>
          <p:cNvSpPr>
            <a:spLocks noGrp="1"/>
          </p:cNvSpPr>
          <p:nvPr>
            <p:ph type="body" sz="quarter" idx="10" hasCustomPrompt="1"/>
          </p:nvPr>
        </p:nvSpPr>
        <p:spPr>
          <a:xfrm>
            <a:off x="457199" y="1297064"/>
            <a:ext cx="4764873"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8" name="Title 1">
            <a:extLst>
              <a:ext uri="{FF2B5EF4-FFF2-40B4-BE49-F238E27FC236}">
                <a16:creationId xmlns:a16="http://schemas.microsoft.com/office/drawing/2014/main" id="{30D99941-30E1-F4B8-528D-F9E88C5398A0}"/>
              </a:ext>
            </a:extLst>
          </p:cNvPr>
          <p:cNvSpPr>
            <a:spLocks noGrp="1"/>
          </p:cNvSpPr>
          <p:nvPr>
            <p:ph type="ctrTitle" hasCustomPrompt="1"/>
          </p:nvPr>
        </p:nvSpPr>
        <p:spPr>
          <a:xfrm>
            <a:off x="457199" y="1594619"/>
            <a:ext cx="4753100"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C79B4E2E-7E76-FBD4-6CF5-43AE0378F47C}"/>
              </a:ext>
            </a:extLst>
          </p:cNvPr>
          <p:cNvSpPr>
            <a:spLocks noGrp="1"/>
          </p:cNvSpPr>
          <p:nvPr>
            <p:ph type="subTitle" idx="1" hasCustomPrompt="1"/>
          </p:nvPr>
        </p:nvSpPr>
        <p:spPr>
          <a:xfrm>
            <a:off x="457198" y="2180040"/>
            <a:ext cx="4753100"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B1E89007-7EC8-B366-1E16-47FC500E8D8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6382493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 Color set 1 - block comp 3s">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284656-3D7A-D93F-5279-2648F3124BF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941DE94E-24A2-25CD-D46E-F6E5F66EF1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42233508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24F378-10ED-B568-A9ED-561B9CA470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126FAB92-E2D3-DED9-A745-362ED13BBEC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36630715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1704F0-AF1C-C83A-9643-B6E8BD2E591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1"/>
            <a:ext cx="9148572" cy="5148753"/>
          </a:xfrm>
          <a:prstGeom prst="rect">
            <a:avLst/>
          </a:prstGeom>
        </p:spPr>
      </p:pic>
      <p:sp>
        <p:nvSpPr>
          <p:cNvPr id="11" name="Text Placeholder 7">
            <a:extLst>
              <a:ext uri="{FF2B5EF4-FFF2-40B4-BE49-F238E27FC236}">
                <a16:creationId xmlns:a16="http://schemas.microsoft.com/office/drawing/2014/main" id="{C8E7B581-8888-FCF4-F40A-8BA28C3D9A90}"/>
              </a:ext>
            </a:extLst>
          </p:cNvPr>
          <p:cNvSpPr>
            <a:spLocks noGrp="1"/>
          </p:cNvSpPr>
          <p:nvPr>
            <p:ph type="body" sz="quarter" idx="10" hasCustomPrompt="1"/>
          </p:nvPr>
        </p:nvSpPr>
        <p:spPr>
          <a:xfrm>
            <a:off x="457198" y="1297064"/>
            <a:ext cx="4857752" cy="289695"/>
          </a:xfrm>
        </p:spPr>
        <p:txBody>
          <a:bodyPr wrap="square"/>
          <a:lstStyle>
            <a:lvl1pPr marL="0" indent="0">
              <a:spcAft>
                <a:spcPts val="0"/>
              </a:spcAft>
              <a:buNone/>
              <a:defRPr sz="1425" b="1" i="0" cap="all" spc="225" baseline="0">
                <a:solidFill>
                  <a:srgbClr val="FFD7BC"/>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defRPr sz="1800"/>
            </a:pPr>
            <a:r>
              <a:rPr lang="en-US" sz="1800" dirty="0"/>
              <a:t>Enter session ID if required</a:t>
            </a:r>
          </a:p>
        </p:txBody>
      </p:sp>
      <p:sp>
        <p:nvSpPr>
          <p:cNvPr id="8" name="Title 1">
            <a:extLst>
              <a:ext uri="{FF2B5EF4-FFF2-40B4-BE49-F238E27FC236}">
                <a16:creationId xmlns:a16="http://schemas.microsoft.com/office/drawing/2014/main" id="{E947242D-972F-4309-7F83-5050A313D592}"/>
              </a:ext>
            </a:extLst>
          </p:cNvPr>
          <p:cNvSpPr>
            <a:spLocks noGrp="1"/>
          </p:cNvSpPr>
          <p:nvPr>
            <p:ph type="ctrTitle" hasCustomPrompt="1"/>
          </p:nvPr>
        </p:nvSpPr>
        <p:spPr>
          <a:xfrm>
            <a:off x="457199" y="1594619"/>
            <a:ext cx="4845749" cy="590931"/>
          </a:xfrm>
        </p:spPr>
        <p:txBody>
          <a:bodyPr wrap="square" anchor="t" anchorCtr="0"/>
          <a:lstStyle>
            <a:lvl1pPr algn="l">
              <a:defRPr sz="3600">
                <a:solidFill>
                  <a:schemeClr val="tx1"/>
                </a:solidFill>
              </a:defRPr>
            </a:lvl1pPr>
          </a:lstStyle>
          <a:p>
            <a:r>
              <a:rPr lang="en-US" dirty="0"/>
              <a:t>Enter title</a:t>
            </a:r>
          </a:p>
        </p:txBody>
      </p:sp>
      <p:sp>
        <p:nvSpPr>
          <p:cNvPr id="9" name="Subtitle 2">
            <a:extLst>
              <a:ext uri="{FF2B5EF4-FFF2-40B4-BE49-F238E27FC236}">
                <a16:creationId xmlns:a16="http://schemas.microsoft.com/office/drawing/2014/main" id="{F9DF7D4D-BAD2-3932-84C6-F6589DD014F5}"/>
              </a:ext>
            </a:extLst>
          </p:cNvPr>
          <p:cNvSpPr>
            <a:spLocks noGrp="1"/>
          </p:cNvSpPr>
          <p:nvPr>
            <p:ph type="subTitle" idx="1" hasCustomPrompt="1"/>
          </p:nvPr>
        </p:nvSpPr>
        <p:spPr>
          <a:xfrm>
            <a:off x="457198" y="2180040"/>
            <a:ext cx="4845749" cy="424732"/>
          </a:xfrm>
        </p:spPr>
        <p:txBody>
          <a:bodyPr wrap="square"/>
          <a:lstStyle>
            <a:lvl1pPr marL="0" indent="0" algn="l">
              <a:spcAft>
                <a:spcPts val="0"/>
              </a:spcAft>
              <a:buFont typeface="Arial" panose="020B0604020202020204" pitchFamily="34" charset="0"/>
              <a:buNone/>
              <a:defRPr sz="2400" b="0" i="0" cap="none" spc="0"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sz="1800"/>
            </a:pPr>
            <a:r>
              <a:rPr lang="en-US" sz="1800"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457198" y="3262284"/>
            <a:ext cx="2847977" cy="300082"/>
          </a:xfrm>
        </p:spPr>
        <p:txBody>
          <a:bodyPr wrap="square"/>
          <a:lstStyle>
            <a:lvl1pPr marL="0" indent="0">
              <a:spcAft>
                <a:spcPts val="0"/>
              </a:spcAft>
              <a:buNone/>
              <a:defRPr sz="1500" b="0" i="0" cap="none" spc="0" baseline="0">
                <a:solidFill>
                  <a:schemeClr val="tx1"/>
                </a:solidFill>
              </a:defRPr>
            </a:lvl1pPr>
          </a:lstStyle>
          <a:p>
            <a:pPr lvl="0">
              <a:defRPr sz="1800"/>
            </a:pPr>
            <a:r>
              <a:rPr lang="en-US" sz="1800"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457198" y="3571876"/>
            <a:ext cx="2847977" cy="424732"/>
          </a:xfrm>
        </p:spPr>
        <p:txBody>
          <a:bodyPr wrap="square"/>
          <a:lstStyle>
            <a:lvl1pPr marL="0" indent="0">
              <a:spcAft>
                <a:spcPts val="225"/>
              </a:spcAft>
              <a:buNone/>
              <a:defRPr sz="1200">
                <a:solidFill>
                  <a:schemeClr val="tx1"/>
                </a:solidFill>
              </a:defRPr>
            </a:lvl1pPr>
          </a:lstStyle>
          <a:p>
            <a:pPr lvl="0">
              <a:defRPr sz="1800"/>
            </a:pPr>
            <a:r>
              <a:rPr lang="en-US" sz="1800" dirty="0"/>
              <a:t>Speaker job title</a:t>
            </a:r>
            <a:br>
              <a:rPr lang="en-US" dirty="0"/>
            </a:br>
            <a:r>
              <a:rPr lang="en-US" sz="1800" dirty="0"/>
              <a:t>Speaker company</a:t>
            </a:r>
          </a:p>
        </p:txBody>
      </p:sp>
      <p:sp>
        <p:nvSpPr>
          <p:cNvPr id="6" name="TextBox 5">
            <a:extLst>
              <a:ext uri="{FF2B5EF4-FFF2-40B4-BE49-F238E27FC236}">
                <a16:creationId xmlns:a16="http://schemas.microsoft.com/office/drawing/2014/main" id="{6735C811-CC15-561B-D701-6F904C4DF9C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E59B6FD5-3D56-C643-A5C0-5E9DC034BBB5}"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132674C5-955D-D06A-01D3-DBA70D8404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69202" y="413674"/>
            <a:ext cx="752380" cy="449928"/>
          </a:xfrm>
          <a:prstGeom prst="rect">
            <a:avLst/>
          </a:prstGeom>
        </p:spPr>
      </p:pic>
    </p:spTree>
    <p:extLst>
      <p:ext uri="{BB962C8B-B14F-4D97-AF65-F5344CB8AC3E}">
        <p14:creationId xmlns:p14="http://schemas.microsoft.com/office/powerpoint/2010/main" val="278249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p:txBody>
          <a:bodyPr/>
          <a:lstStyle>
            <a:lvl1pPr>
              <a:defRPr/>
            </a:lvl1pPr>
          </a:lstStyle>
          <a:p>
            <a:r>
              <a:rPr lang="en-US" dirty="0"/>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457200" y="1285875"/>
            <a:ext cx="8229600" cy="2518638"/>
          </a:xfrm>
        </p:spPr>
        <p:txBody>
          <a:bodyPr/>
          <a:lstStyle>
            <a:lvl1pPr marL="0" indent="0">
              <a:spcAft>
                <a:spcPts val="2250"/>
              </a:spcAft>
              <a:buNone/>
              <a:defRPr sz="1800"/>
            </a:lvl1pPr>
            <a:lvl2pPr marL="0" indent="0">
              <a:spcAft>
                <a:spcPts val="2250"/>
              </a:spcAft>
              <a:buNone/>
              <a:defRPr sz="1800"/>
            </a:lvl2pPr>
            <a:lvl3pPr marL="0" indent="0">
              <a:spcAft>
                <a:spcPts val="2250"/>
              </a:spcAft>
              <a:buNone/>
              <a:defRPr sz="1800"/>
            </a:lvl3pPr>
            <a:lvl4pPr marL="0" indent="0">
              <a:spcAft>
                <a:spcPts val="2250"/>
              </a:spcAft>
              <a:buNone/>
              <a:defRPr sz="1800"/>
            </a:lvl4pPr>
            <a:lvl5pPr marL="0" indent="0">
              <a:spcAft>
                <a:spcPts val="2250"/>
              </a:spcAft>
              <a:buNone/>
              <a:defRPr sz="1800"/>
            </a:lvl5pPr>
          </a:lstStyle>
          <a:p>
            <a:pPr lvl="0">
              <a:defRPr sz="1800"/>
            </a:pPr>
            <a:r>
              <a:rPr lang="en-US" sz="1800" dirty="0"/>
              <a:t>Enter high-level agenda items</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370528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only layout</a:t>
            </a:r>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516637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Dark">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only layout</a:t>
            </a:r>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pic>
        <p:nvPicPr>
          <p:cNvPr id="9" name="Picture 8">
            <a:extLst>
              <a:ext uri="{FF2B5EF4-FFF2-40B4-BE49-F238E27FC236}">
                <a16:creationId xmlns:a16="http://schemas.microsoft.com/office/drawing/2014/main" id="{84C10CAA-001C-4D0F-BB74-F1ACD384CD4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7705759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Color set 1 - gradient ">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5DB2D0-5F77-04C0-2EEB-C0A3EBDE644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0127CCF7-62E4-28AF-9A1A-75F395CB218E}"/>
              </a:ext>
            </a:extLst>
          </p:cNvPr>
          <p:cNvSpPr>
            <a:spLocks noGrp="1"/>
          </p:cNvSpPr>
          <p:nvPr>
            <p:ph type="title" hasCustomPrompt="1"/>
          </p:nvPr>
        </p:nvSpPr>
        <p:spPr>
          <a:xfrm>
            <a:off x="457200" y="685801"/>
            <a:ext cx="5796643"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59CCB08E-27A5-819C-8D86-6F9F0C8DB9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338195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 Color set 1 - bar 1">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26E677-D1C5-41E6-B3CE-AC80B7D7D6D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8F59A860-C1F5-7D46-E706-D9EE50AED9B9}"/>
              </a:ext>
            </a:extLst>
          </p:cNvPr>
          <p:cNvSpPr>
            <a:spLocks noGrp="1"/>
          </p:cNvSpPr>
          <p:nvPr>
            <p:ph type="title" hasCustomPrompt="1"/>
          </p:nvPr>
        </p:nvSpPr>
        <p:spPr>
          <a:xfrm>
            <a:off x="457201" y="685801"/>
            <a:ext cx="5446643"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0A32FEC2-CD43-9A1D-850C-D33363A5316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374081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 Color set 1 - ba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F00E64-3299-BF8F-E232-ACAC613B2D3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solidFill>
                  <a:schemeClr val="tx1"/>
                </a:solidFill>
              </a:defRPr>
            </a:lvl1pPr>
          </a:lstStyle>
          <a:p>
            <a:r>
              <a:rPr lang="en-US" dirty="0"/>
              <a:t>Title only layout with art</a:t>
            </a:r>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5" name="Picture 4">
            <a:extLst>
              <a:ext uri="{FF2B5EF4-FFF2-40B4-BE49-F238E27FC236}">
                <a16:creationId xmlns:a16="http://schemas.microsoft.com/office/drawing/2014/main" id="{F273C913-FA12-0C9D-9A6C-69A370C1612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2780224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 Color set 1 - dot 1">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FB3CAF-A6C8-712D-FE81-25FA661C5AE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F62B1E24-2F55-DBDC-1AA7-EE409766855D}"/>
              </a:ext>
            </a:extLst>
          </p:cNvPr>
          <p:cNvSpPr>
            <a:spLocks noGrp="1"/>
          </p:cNvSpPr>
          <p:nvPr>
            <p:ph type="title" hasCustomPrompt="1"/>
          </p:nvPr>
        </p:nvSpPr>
        <p:spPr>
          <a:xfrm>
            <a:off x="457201" y="685801"/>
            <a:ext cx="4000500"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57657C1D-C5E0-8A3C-7184-64DE6E94F0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6973101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 Color set 1 - dot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418C3E-D427-F0CF-1F30-E153B940F9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2680"/>
            <a:ext cx="9148572" cy="5151438"/>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solidFill>
                  <a:schemeClr val="tx1"/>
                </a:solidFill>
              </a:defRPr>
            </a:lvl1pPr>
          </a:lstStyle>
          <a:p>
            <a:r>
              <a:rPr lang="en-US" dirty="0"/>
              <a:t>Title only layout with art</a:t>
            </a:r>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5" name="Picture 4">
            <a:extLst>
              <a:ext uri="{FF2B5EF4-FFF2-40B4-BE49-F238E27FC236}">
                <a16:creationId xmlns:a16="http://schemas.microsoft.com/office/drawing/2014/main" id="{1CA97AF2-8059-54E2-1070-AF2D3AB233D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3095664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Color set 1 - block comp 1s">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ED2B19-4EA4-DF59-649D-5480EC3E37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A39946F0-A185-FFF4-1D0B-E2D40EEE1A30}"/>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AAF109FF-18BA-C1AC-F51D-AEA75A47CBB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0580472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Color set 1 - block comp 1h">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B69425-1C76-F52F-215F-A4216A65EB7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4"/>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345CEBBA-CDF9-4014-F7E7-25A178581A26}"/>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DB5F17F4-AB3B-042C-E36E-BB7F9C93E52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42471608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 Color set 1 - block comp 1o">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687ECE-B521-25A2-FDD7-C7E402C3E1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3"/>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8CEF94B4-4224-A713-F6C8-8FBCFAE5146D}"/>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B56BC946-55CB-19F8-8CDB-FA330BC76DD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6757006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 Color set 1 - block comp 2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58375B-14F6-0E1C-8297-1B701C9D567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0"/>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ECFCAD08-F689-789A-EE02-7CC506A2A566}"/>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F674BAB9-5F93-BB2C-DA4A-D7EDAE69CFA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4184749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Color set 1 - block comp 2h">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2F5ECD-5B30-B738-2159-D146758FF00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2" name="Title 1">
            <a:extLst>
              <a:ext uri="{FF2B5EF4-FFF2-40B4-BE49-F238E27FC236}">
                <a16:creationId xmlns:a16="http://schemas.microsoft.com/office/drawing/2014/main" id="{DC37B6B4-020D-0BAF-B7FE-C90B47997B59}"/>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7C18B519-60F8-B5C1-A0C6-F58DB0421C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7552979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29408D-A949-4A1A-DF4A-2B019C0B17C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3" name="Title 1">
            <a:extLst>
              <a:ext uri="{FF2B5EF4-FFF2-40B4-BE49-F238E27FC236}">
                <a16:creationId xmlns:a16="http://schemas.microsoft.com/office/drawing/2014/main" id="{E9B376F5-8CCD-AA97-FB36-9BAD6123AF3F}"/>
              </a:ext>
            </a:extLst>
          </p:cNvPr>
          <p:cNvSpPr>
            <a:spLocks noGrp="1"/>
          </p:cNvSpPr>
          <p:nvPr>
            <p:ph type="title" hasCustomPrompt="1"/>
          </p:nvPr>
        </p:nvSpPr>
        <p:spPr>
          <a:xfrm>
            <a:off x="457200" y="685801"/>
            <a:ext cx="4678846" cy="424732"/>
          </a:xfrm>
        </p:spPr>
        <p:txBody>
          <a:bodyPr/>
          <a:lstStyle>
            <a:lvl1pPr>
              <a:defRPr>
                <a:solidFill>
                  <a:schemeClr val="tx1"/>
                </a:solidFill>
              </a:defRPr>
            </a:lvl1pPr>
          </a:lstStyle>
          <a:p>
            <a:r>
              <a:rPr lang="en-US" dirty="0"/>
              <a:t>Title only layout with art</a:t>
            </a:r>
          </a:p>
        </p:txBody>
      </p:sp>
      <p:pic>
        <p:nvPicPr>
          <p:cNvPr id="5" name="Picture 4">
            <a:extLst>
              <a:ext uri="{FF2B5EF4-FFF2-40B4-BE49-F238E27FC236}">
                <a16:creationId xmlns:a16="http://schemas.microsoft.com/office/drawing/2014/main" id="{FBDE3FA7-1791-D3A3-D96C-9C74F72693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3799887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 Color set 1 - block comp 3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B33242-4FD7-7FCC-DEF5-EA03551FB20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C58ED315-393E-6E3B-DDFB-3197CB48F1DF}"/>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DB21AB80-E24D-D01E-BD70-DF9E8160ED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3067840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4DA22B-B4F2-E7A5-BDC1-7D10FCFD228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17B544F4-F988-1428-A7FD-1466264319EA}"/>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3" name="Picture 2">
            <a:extLst>
              <a:ext uri="{FF2B5EF4-FFF2-40B4-BE49-F238E27FC236}">
                <a16:creationId xmlns:a16="http://schemas.microsoft.com/office/drawing/2014/main" id="{FA1F2C71-7BF8-DD8C-F2E4-EAE7563EFF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4616568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C9E345-A6C7-7325-7526-E8F1D12F0A9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10" name="TextBox 9">
            <a:extLst>
              <a:ext uri="{FF2B5EF4-FFF2-40B4-BE49-F238E27FC236}">
                <a16:creationId xmlns:a16="http://schemas.microsoft.com/office/drawing/2014/main" id="{3D6CA99D-F312-4896-9CB8-88D2E4921513}"/>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D1678136-60AD-1144-8D64-7A5B04B9922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5" name="Title 1">
            <a:extLst>
              <a:ext uri="{FF2B5EF4-FFF2-40B4-BE49-F238E27FC236}">
                <a16:creationId xmlns:a16="http://schemas.microsoft.com/office/drawing/2014/main" id="{899602F3-48CC-1CEE-0535-D845FE351B0E}"/>
              </a:ext>
            </a:extLst>
          </p:cNvPr>
          <p:cNvSpPr>
            <a:spLocks noGrp="1"/>
          </p:cNvSpPr>
          <p:nvPr>
            <p:ph type="title" hasCustomPrompt="1"/>
          </p:nvPr>
        </p:nvSpPr>
        <p:spPr>
          <a:xfrm>
            <a:off x="457200" y="685801"/>
            <a:ext cx="5640457" cy="424732"/>
          </a:xfrm>
        </p:spPr>
        <p:txBody>
          <a:bodyPr/>
          <a:lstStyle>
            <a:lvl1pPr>
              <a:defRPr>
                <a:solidFill>
                  <a:schemeClr val="tx1"/>
                </a:solidFill>
              </a:defRPr>
            </a:lvl1pPr>
          </a:lstStyle>
          <a:p>
            <a:r>
              <a:rPr lang="en-US" dirty="0"/>
              <a:t>Title only layout with art</a:t>
            </a:r>
          </a:p>
        </p:txBody>
      </p:sp>
      <p:pic>
        <p:nvPicPr>
          <p:cNvPr id="2" name="Picture 1">
            <a:extLst>
              <a:ext uri="{FF2B5EF4-FFF2-40B4-BE49-F238E27FC236}">
                <a16:creationId xmlns:a16="http://schemas.microsoft.com/office/drawing/2014/main" id="{1DD394C1-6A05-5FE3-F7C4-E5A87B406E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0787597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a:lvl1pPr>
          </a:lstStyle>
          <a:p>
            <a:r>
              <a:rPr lang="en-US" dirty="0"/>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457200" y="1091976"/>
            <a:ext cx="8229600" cy="216982"/>
          </a:xfrm>
        </p:spPr>
        <p:txBody>
          <a:bodyPr/>
          <a:lstStyle>
            <a:lvl1pPr marL="0" indent="0">
              <a:buNone/>
              <a:defRPr sz="900" b="1" i="0" cap="all" spc="225" baseline="0"/>
            </a:lvl1pPr>
          </a:lstStyle>
          <a:p>
            <a:pPr lvl="0">
              <a:defRPr sz="1800"/>
            </a:pPr>
            <a:r>
              <a:rPr lang="en-US" sz="1800" dirty="0"/>
              <a:t>Enter subtitle</a:t>
            </a:r>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57264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B406E-49D4-4042-B360-7083D5E4FCA5}"/>
              </a:ext>
            </a:extLst>
          </p:cNvPr>
          <p:cNvSpPr>
            <a:spLocks noGrp="1"/>
          </p:cNvSpPr>
          <p:nvPr>
            <p:ph type="title" hasCustomPrompt="1"/>
          </p:nvPr>
        </p:nvSpPr>
        <p:spPr>
          <a:xfrm>
            <a:off x="457200" y="-487372"/>
            <a:ext cx="8229600" cy="424732"/>
          </a:xfrm>
        </p:spPr>
        <p:txBody>
          <a:bodyPr/>
          <a:lstStyle>
            <a:lvl1pPr>
              <a:defRPr/>
            </a:lvl1pPr>
          </a:lstStyle>
          <a:p>
            <a:r>
              <a:rPr lang="en-US" dirty="0"/>
              <a:t>Enter unique title of slide for accessibility</a:t>
            </a:r>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408049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932324"/>
          </a:xfrm>
        </p:spPr>
        <p:txBody>
          <a:bodyPr/>
          <a:lstStyle>
            <a:lvl1pPr marL="0" indent="0">
              <a:spcAft>
                <a:spcPts val="1350"/>
              </a:spcAft>
              <a:buNone/>
              <a:defRPr/>
            </a:lvl1pPr>
            <a:lvl2pPr marL="214313" indent="0">
              <a:spcAft>
                <a:spcPts val="1350"/>
              </a:spcAft>
              <a:buNone/>
              <a:defRPr/>
            </a:lvl2pPr>
            <a:lvl3pPr marL="471488" indent="0">
              <a:spcAft>
                <a:spcPts val="1350"/>
              </a:spcAft>
              <a:buNone/>
              <a:defRPr/>
            </a:lvl3pPr>
            <a:lvl4pPr marL="685800" indent="0">
              <a:spcAft>
                <a:spcPts val="1350"/>
              </a:spcAft>
              <a:buNone/>
              <a:defRPr/>
            </a:lvl4pPr>
            <a:lvl5pPr marL="857250" indent="0">
              <a:spcAft>
                <a:spcPts val="1350"/>
              </a:spcAft>
              <a:buNone/>
              <a:defRPr/>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378671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675843"/>
          </a:xfrm>
        </p:spPr>
        <p:txBody>
          <a:bodyPr/>
          <a:lstStyle>
            <a:lvl1pPr>
              <a:defRPr/>
            </a:lvl1pPr>
            <a:lvl5pPr>
              <a:defRPr/>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 </a:t>
            </a:r>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410617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subtitle, and content layout</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457200" y="1091976"/>
            <a:ext cx="8229600" cy="216982"/>
          </a:xfrm>
        </p:spPr>
        <p:txBody>
          <a:bodyPr/>
          <a:lstStyle>
            <a:lvl1pPr marL="0" indent="0">
              <a:buNone/>
              <a:defRPr sz="900" b="1" i="0" cap="all" spc="225" baseline="0"/>
            </a:lvl1pPr>
          </a:lstStyle>
          <a:p>
            <a:pPr lvl="0">
              <a:defRPr sz="1800"/>
            </a:pPr>
            <a:r>
              <a:rPr lang="en-US" sz="1800" dirty="0"/>
              <a:t>Enter subtitle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600200"/>
            <a:ext cx="8229600" cy="1932324"/>
          </a:xfrm>
        </p:spPr>
        <p:txBody>
          <a:bodyPr/>
          <a:lstStyle>
            <a:lvl1pPr marL="0" indent="0">
              <a:spcAft>
                <a:spcPts val="1350"/>
              </a:spcAft>
              <a:buNone/>
              <a:defRPr/>
            </a:lvl1pPr>
            <a:lvl2pPr marL="214313" indent="0">
              <a:spcAft>
                <a:spcPts val="1350"/>
              </a:spcAft>
              <a:buNone/>
              <a:defRPr/>
            </a:lvl2pPr>
            <a:lvl3pPr marL="471488" indent="0">
              <a:spcAft>
                <a:spcPts val="1350"/>
              </a:spcAft>
              <a:buNone/>
              <a:defRPr/>
            </a:lvl3pPr>
            <a:lvl4pPr marL="685800" indent="0">
              <a:spcAft>
                <a:spcPts val="1350"/>
              </a:spcAft>
              <a:buNone/>
              <a:defRPr/>
            </a:lvl4pPr>
            <a:lvl5pPr marL="857250" indent="0">
              <a:spcAft>
                <a:spcPts val="1350"/>
              </a:spcAft>
              <a:buNone/>
              <a:defRPr/>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40315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3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Title, subtitle, and bulleted content layout</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457200" y="1092776"/>
            <a:ext cx="8229600" cy="216982"/>
          </a:xfrm>
        </p:spPr>
        <p:txBody>
          <a:bodyPr/>
          <a:lstStyle>
            <a:lvl1pPr marL="0" indent="0">
              <a:buNone/>
              <a:defRPr sz="900" b="1" i="0" cap="all" spc="225" baseline="0"/>
            </a:lvl1pPr>
          </a:lstStyle>
          <a:p>
            <a:pPr lvl="0">
              <a:defRPr sz="1800"/>
            </a:pPr>
            <a:r>
              <a:rPr lang="en-US" sz="1800" dirty="0"/>
              <a:t>Enter subtitle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485900"/>
            <a:ext cx="8229600" cy="1675843"/>
          </a:xfrm>
        </p:spPr>
        <p:txBody>
          <a:bodyPr/>
          <a:lstStyle>
            <a:lvl1pPr>
              <a:defRPr/>
            </a:lvl1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851939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2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457200" y="685801"/>
            <a:ext cx="4000500" cy="757130"/>
          </a:xfrm>
        </p:spPr>
        <p:txBody>
          <a:bodyPr/>
          <a:lstStyle>
            <a:lvl1pPr>
              <a:defRPr/>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628776"/>
            <a:ext cx="4000500" cy="1095428"/>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sz="1800" dirty="0"/>
              <a:t>Enter text</a:t>
            </a:r>
          </a:p>
          <a:p>
            <a:pPr lvl="1">
              <a:defRPr sz="1800"/>
            </a:pPr>
            <a:r>
              <a:rPr lang="en-US" sz="1800" dirty="0"/>
              <a:t>Second level</a:t>
            </a:r>
          </a:p>
          <a:p>
            <a:pPr lvl="2">
              <a:defRPr sz="1800"/>
            </a:pPr>
            <a:r>
              <a:rPr lang="en-US" sz="1800" dirty="0"/>
              <a:t>Third level</a:t>
            </a:r>
          </a:p>
        </p:txBody>
      </p:sp>
      <p:sp>
        <p:nvSpPr>
          <p:cNvPr id="5" name="Picture Placeholder 4">
            <a:extLst>
              <a:ext uri="{FF2B5EF4-FFF2-40B4-BE49-F238E27FC236}">
                <a16:creationId xmlns:a16="http://schemas.microsoft.com/office/drawing/2014/main" id="{F3B2582F-3FE9-42AC-8572-5C27E1A8E55F}"/>
              </a:ext>
            </a:extLst>
          </p:cNvPr>
          <p:cNvSpPr>
            <a:spLocks noGrp="1"/>
          </p:cNvSpPr>
          <p:nvPr>
            <p:ph type="pic" sz="quarter" idx="10" hasCustomPrompt="1"/>
          </p:nvPr>
        </p:nvSpPr>
        <p:spPr>
          <a:xfrm>
            <a:off x="4686300" y="0"/>
            <a:ext cx="4457700" cy="5143500"/>
          </a:xfrm>
        </p:spPr>
        <p:txBody>
          <a:bodyPr anchor="ctr">
            <a:noAutofit/>
          </a:bodyPr>
          <a:lstStyle>
            <a:lvl1pPr marL="0" indent="0" algn="ctr">
              <a:buNone/>
              <a:defRPr/>
            </a:lvl1pPr>
          </a:lstStyle>
          <a:p>
            <a:pPr>
              <a:defRPr sz="1800"/>
            </a:pPr>
            <a:r>
              <a:rPr lang="en-US" sz="1800" dirty="0"/>
              <a:t>Click (or paste) to insert picture</a:t>
            </a:r>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804137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4"/>
            <a:ext cx="3936207"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64140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3936492"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3936492"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750594" y="1307735"/>
            <a:ext cx="3936492"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750594" y="1606165"/>
            <a:ext cx="3936492"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91406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265551"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265550"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073902" y="1307735"/>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073902" y="1606165"/>
            <a:ext cx="2612898" cy="1008738"/>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80938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Three-column layout with subheadings and images</a:t>
            </a:r>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125473" y="1165027"/>
            <a:ext cx="1276350" cy="1111448"/>
          </a:xfrm>
        </p:spPr>
        <p:txBody>
          <a:bodyPr>
            <a:noAutofit/>
          </a:bodyPr>
          <a:lstStyle>
            <a:lvl1pPr marL="0" indent="0">
              <a:buNone/>
              <a:defRPr sz="1350"/>
            </a:lvl1pPr>
          </a:lstStyle>
          <a:p>
            <a:pPr>
              <a:defRPr sz="1800"/>
            </a:pPr>
            <a:r>
              <a:rPr lang="en-US" sz="1800" dirty="0"/>
              <a:t>Click icon to add image</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a:t>
            </a:r>
          </a:p>
          <a:p>
            <a:pPr lvl="1">
              <a:defRPr sz="1800"/>
            </a:pPr>
            <a:r>
              <a:rPr lang="en-US" sz="1800" dirty="0"/>
              <a:t>Second level</a:t>
            </a:r>
          </a:p>
          <a:p>
            <a:pPr lvl="2">
              <a:defRPr sz="1800"/>
            </a:pPr>
            <a:r>
              <a:rPr lang="en-US" sz="1800" dirty="0"/>
              <a:t>Third level</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3933824" y="1165027"/>
            <a:ext cx="1276350" cy="1111448"/>
          </a:xfrm>
        </p:spPr>
        <p:txBody>
          <a:bodyPr>
            <a:noAutofit/>
          </a:bodyPr>
          <a:lstStyle>
            <a:lvl1pPr marL="0" indent="0">
              <a:buNone/>
              <a:defRPr sz="1350"/>
            </a:lvl1pPr>
          </a:lstStyle>
          <a:p>
            <a:pPr>
              <a:defRPr sz="1800"/>
            </a:pPr>
            <a:r>
              <a:rPr lang="en-US" sz="1800" dirty="0"/>
              <a:t>Click icon to add image</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265551"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265550"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a:t>
            </a:r>
          </a:p>
          <a:p>
            <a:pPr lvl="1">
              <a:defRPr sz="1800"/>
            </a:pPr>
            <a:r>
              <a:rPr lang="en-US" sz="1800" dirty="0"/>
              <a:t>Second level</a:t>
            </a:r>
          </a:p>
          <a:p>
            <a:pPr lvl="2">
              <a:defRPr sz="1800"/>
            </a:pPr>
            <a:r>
              <a:rPr lang="en-US" sz="1800" dirty="0"/>
              <a:t>Third level</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6742176" y="1165027"/>
            <a:ext cx="1276350" cy="1111448"/>
          </a:xfrm>
        </p:spPr>
        <p:txBody>
          <a:bodyPr>
            <a:noAutofit/>
          </a:bodyPr>
          <a:lstStyle>
            <a:lvl1pPr marL="0" indent="0">
              <a:buNone/>
              <a:defRPr sz="1350"/>
            </a:lvl1pPr>
          </a:lstStyle>
          <a:p>
            <a:pPr>
              <a:defRPr sz="1800"/>
            </a:pPr>
            <a:r>
              <a:rPr lang="en-US" sz="1800" dirty="0"/>
              <a:t>Click icon to add image</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073902" y="2465023"/>
            <a:ext cx="2612898"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073902" y="2742022"/>
            <a:ext cx="2612898"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a:t>
            </a:r>
          </a:p>
          <a:p>
            <a:pPr lvl="1">
              <a:defRPr sz="1800"/>
            </a:pPr>
            <a:r>
              <a:rPr lang="en-US" sz="1800" dirty="0"/>
              <a:t>Second level</a:t>
            </a:r>
          </a:p>
          <a:p>
            <a:pPr lvl="2">
              <a:defRPr sz="1800"/>
            </a:pPr>
            <a:r>
              <a:rPr lang="en-US" sz="1800" dirty="0"/>
              <a:t>Third level</a:t>
            </a:r>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427569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457200" y="688183"/>
            <a:ext cx="8229600" cy="424732"/>
          </a:xfrm>
        </p:spPr>
        <p:txBody>
          <a:bodyPr/>
          <a:lstStyle>
            <a:lvl1pPr>
              <a:defRPr/>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45719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457199"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a:t>
            </a:r>
          </a:p>
          <a:p>
            <a:pPr lvl="1">
              <a:defRPr sz="1800"/>
            </a:pPr>
            <a:r>
              <a:rPr lang="en-US" sz="1800" dirty="0"/>
              <a:t>Second level</a:t>
            </a:r>
          </a:p>
          <a:p>
            <a:pPr lvl="2">
              <a:defRPr sz="1800"/>
            </a:pPr>
            <a:r>
              <a:rPr lang="en-US" sz="1800"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260603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2606039"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a:t>
            </a:r>
          </a:p>
          <a:p>
            <a:pPr lvl="1">
              <a:defRPr sz="1800"/>
            </a:pPr>
            <a:r>
              <a:rPr lang="en-US" sz="1800" dirty="0"/>
              <a:t>Second level</a:t>
            </a:r>
          </a:p>
          <a:p>
            <a:pPr lvl="2">
              <a:defRPr sz="1800"/>
            </a:pPr>
            <a:r>
              <a:rPr lang="en-US" sz="1800"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4754879"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4754880"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a:t>
            </a:r>
          </a:p>
          <a:p>
            <a:pPr lvl="1">
              <a:defRPr sz="1800"/>
            </a:pPr>
            <a:r>
              <a:rPr lang="en-US" sz="1800" dirty="0"/>
              <a:t>Second level</a:t>
            </a:r>
          </a:p>
          <a:p>
            <a:pPr lvl="2">
              <a:defRPr sz="1800"/>
            </a:pPr>
            <a:r>
              <a:rPr lang="en-US" sz="1800"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6903720" y="1307735"/>
            <a:ext cx="1783080" cy="300082"/>
          </a:xfrm>
        </p:spPr>
        <p:txBody>
          <a:bodyPr anchor="t"/>
          <a:lstStyle>
            <a:lvl1pPr marL="0" indent="0">
              <a:buNone/>
              <a:defRPr sz="15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sz="1800"/>
            </a:pPr>
            <a:r>
              <a:rPr lang="en-US" sz="1800"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6903720" y="1606165"/>
            <a:ext cx="1783080" cy="821763"/>
          </a:xfrm>
        </p:spPr>
        <p:txBody>
          <a:bodyPr/>
          <a:lstStyle>
            <a:lvl1pPr marL="0" indent="0">
              <a:buNone/>
              <a:defRPr sz="1350"/>
            </a:lvl1pPr>
            <a:lvl2pPr marL="214313" indent="0">
              <a:buNone/>
              <a:defRPr sz="1200"/>
            </a:lvl2pPr>
            <a:lvl3pPr marL="471488" indent="0">
              <a:buNone/>
              <a:defRPr sz="1050"/>
            </a:lvl3pPr>
            <a:lvl4pPr marL="644129" indent="0">
              <a:buNone/>
              <a:defRPr sz="900"/>
            </a:lvl4pPr>
            <a:lvl5pPr marL="772716" indent="0">
              <a:buNone/>
              <a:defRPr sz="900"/>
            </a:lvl5pPr>
          </a:lstStyle>
          <a:p>
            <a:pPr lvl="0">
              <a:defRPr sz="1800"/>
            </a:pPr>
            <a:r>
              <a:rPr lang="en-US" sz="1800" dirty="0"/>
              <a:t>Enter text</a:t>
            </a:r>
          </a:p>
          <a:p>
            <a:pPr lvl="1">
              <a:defRPr sz="1800"/>
            </a:pPr>
            <a:r>
              <a:rPr lang="en-US" sz="1800" dirty="0"/>
              <a:t>Second level</a:t>
            </a:r>
          </a:p>
          <a:p>
            <a:pPr lvl="2">
              <a:defRPr sz="1800"/>
            </a:pPr>
            <a:r>
              <a:rPr lang="en-US" sz="1800" dirty="0"/>
              <a:t>Third level</a:t>
            </a:r>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72892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457200" y="688183"/>
            <a:ext cx="8229600" cy="424732"/>
          </a:xfrm>
        </p:spPr>
        <p:txBody>
          <a:bodyPr anchor="t" anchorCtr="0"/>
          <a:lstStyle>
            <a:lvl1pPr>
              <a:defRPr sz="2400"/>
            </a:lvl1pPr>
          </a:lstStyle>
          <a:p>
            <a:r>
              <a:rPr lang="en-US" dirty="0"/>
              <a:t>Picture with caption layout</a:t>
            </a:r>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457199" y="1285876"/>
            <a:ext cx="4029076" cy="2585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sz="1800"/>
            </a:pPr>
            <a:r>
              <a:rPr lang="en-US" sz="1800" dirty="0"/>
              <a:t>Enter descriptive text here</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4657725" y="1285875"/>
            <a:ext cx="4029075" cy="3371849"/>
          </a:xfrm>
        </p:spPr>
        <p:txBody>
          <a:bodyPr>
            <a:noAutofit/>
          </a:bodyPr>
          <a:lstStyle>
            <a:lvl1pPr marL="0" indent="0">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a:defRPr sz="1800"/>
            </a:pPr>
            <a:r>
              <a:rPr lang="en-US" sz="1800"/>
              <a:t>Click icon to add picture</a:t>
            </a:r>
            <a:endParaRPr lang="en-US" dirty="0"/>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963978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9144000" cy="5143499"/>
          </a:xfrm>
          <a:solidFill>
            <a:schemeClr val="bg2"/>
          </a:solidFill>
        </p:spPr>
        <p:txBody>
          <a:bodyPr anchor="ctr">
            <a:noAutofit/>
          </a:bodyPr>
          <a:lstStyle>
            <a:lvl1pPr marL="0" indent="0" algn="ctr">
              <a:buNone/>
              <a:defRPr/>
            </a:lvl1pPr>
          </a:lstStyle>
          <a:p>
            <a:pPr>
              <a:defRPr sz="1800"/>
            </a:pPr>
            <a:r>
              <a:rPr lang="en-US" sz="1800"/>
              <a:t>Click icon to add picture</a:t>
            </a:r>
            <a:endParaRPr lang="en-US" dirty="0"/>
          </a:p>
        </p:txBody>
      </p:sp>
      <p:sp>
        <p:nvSpPr>
          <p:cNvPr id="2" name="Title 1">
            <a:extLst>
              <a:ext uri="{FF2B5EF4-FFF2-40B4-BE49-F238E27FC236}">
                <a16:creationId xmlns:a16="http://schemas.microsoft.com/office/drawing/2014/main" id="{09EA55C8-9EB1-43B1-BF66-2D7F31D1B84A}"/>
              </a:ext>
            </a:extLst>
          </p:cNvPr>
          <p:cNvSpPr>
            <a:spLocks noGrp="1"/>
          </p:cNvSpPr>
          <p:nvPr>
            <p:ph type="title" hasCustomPrompt="1"/>
          </p:nvPr>
        </p:nvSpPr>
        <p:spPr>
          <a:xfrm>
            <a:off x="457200" y="-468323"/>
            <a:ext cx="8229600" cy="424732"/>
          </a:xfrm>
        </p:spPr>
        <p:txBody>
          <a:bodyPr/>
          <a:lstStyle>
            <a:lvl1pPr>
              <a:defRPr/>
            </a:lvl1pPr>
          </a:lstStyle>
          <a:p>
            <a:r>
              <a:rPr lang="en-US" dirty="0"/>
              <a:t>Enter unique title of slide for accessibility</a:t>
            </a:r>
          </a:p>
        </p:txBody>
      </p:sp>
    </p:spTree>
    <p:extLst>
      <p:ext uri="{BB962C8B-B14F-4D97-AF65-F5344CB8AC3E}">
        <p14:creationId xmlns:p14="http://schemas.microsoft.com/office/powerpoint/2010/main" val="341040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a:lvl1pPr>
          </a:lstStyle>
          <a:p>
            <a:r>
              <a:rPr lang="en-US" dirty="0"/>
              <a:t>Customer logo wall layout</a:t>
            </a:r>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593131"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2788511"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4983890"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7179269" y="1645920"/>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593131"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2788511"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4983890"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7179269" y="3044952"/>
            <a:ext cx="1371600" cy="822960"/>
          </a:xfrm>
        </p:spPr>
        <p:txBody>
          <a:bodyPr>
            <a:noAutofit/>
          </a:bodyPr>
          <a:lstStyle>
            <a:lvl1pPr marL="0" indent="0">
              <a:buNone/>
              <a:defRPr sz="825">
                <a:solidFill>
                  <a:schemeClr val="tx2"/>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32874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ustomer logo wall">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a:lvl1pPr>
          </a:lstStyle>
          <a:p>
            <a:r>
              <a:rPr lang="en-US" dirty="0"/>
              <a:t>Customer logo wall layout</a:t>
            </a:r>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593131"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2788511"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4983890"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7179269" y="1645920"/>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593131"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2788511"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4983890"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7179269" y="3044952"/>
            <a:ext cx="1371600" cy="822960"/>
          </a:xfrm>
        </p:spPr>
        <p:txBody>
          <a:bodyPr>
            <a:noAutofit/>
          </a:bodyPr>
          <a:lstStyle>
            <a:lvl1pPr marL="0" indent="0">
              <a:buNone/>
              <a:defRPr sz="825">
                <a:solidFill>
                  <a:schemeClr val="tx1"/>
                </a:solidFill>
              </a:defRPr>
            </a:lvl1pPr>
            <a:lvl2pPr marL="214313" indent="0">
              <a:buNone/>
              <a:defRPr/>
            </a:lvl2pPr>
            <a:lvl3pPr marL="471488" indent="0">
              <a:buNone/>
              <a:defRPr/>
            </a:lvl3pPr>
            <a:lvl4pPr marL="644129" indent="0">
              <a:buNone/>
              <a:defRPr/>
            </a:lvl4pPr>
            <a:lvl5pPr marL="772716" indent="0">
              <a:buNone/>
              <a:defRPr/>
            </a:lvl5pPr>
          </a:lstStyle>
          <a:p>
            <a:pPr lvl="0">
              <a:defRPr sz="1800"/>
            </a:pPr>
            <a:r>
              <a:rPr lang="en-US" sz="1800" dirty="0"/>
              <a:t>Click photo icon to add logo</a:t>
            </a:r>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46C53893-C485-985E-FAD5-B4EB7583FF8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9468962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530419"/>
          </a:xfrm>
        </p:spPr>
        <p:txBody>
          <a:bodyPr/>
          <a:lstStyle>
            <a:lvl1pPr>
              <a:defRPr sz="1800"/>
            </a:lvl1pPr>
            <a:lvl2pPr>
              <a:defRPr sz="1500"/>
            </a:lvl2pPr>
            <a:lvl3pPr>
              <a:defRPr sz="1350"/>
            </a:lvl3pPr>
            <a:lvl4pPr>
              <a:defRPr sz="1200"/>
            </a:lvl4pPr>
            <a:lvl5pPr>
              <a:defRPr sz="12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5"/>
            <a:ext cx="3936207" cy="1530419"/>
          </a:xfrm>
        </p:spPr>
        <p:txBody>
          <a:bodyPr/>
          <a:lstStyle>
            <a:lvl1pPr>
              <a:defRPr sz="1800"/>
            </a:lvl1pPr>
            <a:lvl2pPr>
              <a:defRPr sz="1500"/>
            </a:lvl2pPr>
            <a:lvl3pPr>
              <a:defRPr sz="1350"/>
            </a:lvl3pPr>
            <a:lvl4pPr>
              <a:defRPr sz="1200"/>
            </a:lvl4pPr>
            <a:lvl5pPr>
              <a:defRPr sz="12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901846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with subtitle layout</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464344" y="1091976"/>
            <a:ext cx="8229600" cy="216982"/>
          </a:xfrm>
        </p:spPr>
        <p:txBody>
          <a:bodyPr/>
          <a:lstStyle>
            <a:lvl1pPr marL="0" indent="0">
              <a:buNone/>
              <a:defRPr sz="900" b="1" i="0" cap="all" spc="225" baseline="0"/>
            </a:lvl1pPr>
          </a:lstStyle>
          <a:p>
            <a:pPr lvl="0">
              <a:defRPr sz="1800"/>
            </a:pPr>
            <a:r>
              <a:rPr lang="en-US" sz="1800" dirty="0"/>
              <a:t>Enter subtitle</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600200"/>
            <a:ext cx="3936206"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600198"/>
            <a:ext cx="3936207" cy="1786899"/>
          </a:xfrm>
        </p:spPr>
        <p:txBody>
          <a:bodyPr/>
          <a:lstStyle>
            <a:lvl1pPr marL="0" indent="0">
              <a:spcAft>
                <a:spcPts val="1350"/>
              </a:spcAft>
              <a:buNone/>
              <a:defRPr sz="1800"/>
            </a:lvl1pPr>
            <a:lvl2pPr marL="214313" indent="0">
              <a:spcAft>
                <a:spcPts val="1350"/>
              </a:spcAft>
              <a:buNone/>
              <a:defRPr sz="1500"/>
            </a:lvl2pPr>
            <a:lvl3pPr marL="471488" indent="0">
              <a:spcAft>
                <a:spcPts val="1350"/>
              </a:spcAft>
              <a:buNone/>
              <a:defRPr sz="1350"/>
            </a:lvl3pPr>
            <a:lvl4pPr marL="685800" indent="0">
              <a:spcAft>
                <a:spcPts val="1350"/>
              </a:spcAft>
              <a:buNone/>
              <a:defRPr sz="1200"/>
            </a:lvl4pPr>
            <a:lvl5pPr marL="857250" indent="0">
              <a:spcAft>
                <a:spcPts val="1350"/>
              </a:spcAft>
              <a:buNone/>
              <a:defRPr sz="12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86237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subtitle, bullets layout</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464344" y="1091976"/>
            <a:ext cx="8229600" cy="216982"/>
          </a:xfrm>
        </p:spPr>
        <p:txBody>
          <a:bodyPr/>
          <a:lstStyle>
            <a:lvl1pPr marL="0" indent="0">
              <a:buNone/>
              <a:defRPr sz="900" b="1" i="0" cap="all" spc="225" baseline="0"/>
            </a:lvl1pPr>
          </a:lstStyle>
          <a:p>
            <a:pPr lvl="0">
              <a:defRPr sz="1800"/>
            </a:pPr>
            <a:r>
              <a:rPr lang="en-US" sz="1800" dirty="0"/>
              <a:t>Enter subtitle</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600201"/>
            <a:ext cx="3936206" cy="1530419"/>
          </a:xfrm>
        </p:spPr>
        <p:txBody>
          <a:bodyPr/>
          <a:lstStyle>
            <a:lvl1pPr>
              <a:defRPr sz="1800"/>
            </a:lvl1pPr>
            <a:lvl2pPr>
              <a:defRPr sz="1500"/>
            </a:lvl2pPr>
            <a:lvl3pPr>
              <a:defRPr sz="1350"/>
            </a:lvl3pPr>
            <a:lvl4pPr>
              <a:defRPr sz="1200"/>
            </a:lvl4pPr>
            <a:lvl5pPr>
              <a:defRPr sz="12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600200"/>
            <a:ext cx="3936207" cy="1530419"/>
          </a:xfrm>
        </p:spPr>
        <p:txBody>
          <a:bodyPr/>
          <a:lstStyle>
            <a:lvl1pPr>
              <a:defRPr sz="1800"/>
            </a:lvl1pPr>
            <a:lvl2pPr>
              <a:defRPr sz="1500"/>
            </a:lvl2pPr>
            <a:lvl3pPr>
              <a:defRPr sz="1350"/>
            </a:lvl3pPr>
            <a:lvl4pPr>
              <a:defRPr sz="1200"/>
            </a:lvl4pPr>
            <a:lvl5pPr>
              <a:defRPr sz="1200"/>
            </a:lvl5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24711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457200" y="1458316"/>
            <a:ext cx="6050446" cy="1463478"/>
          </a:xfrm>
        </p:spPr>
        <p:txBody>
          <a:bodyPr anchor="b" anchorCtr="0"/>
          <a:lstStyle>
            <a:lvl1pPr>
              <a:defRPr sz="3300"/>
            </a:lvl1pPr>
          </a:lstStyle>
          <a:p>
            <a:r>
              <a:rPr lang="en-US" dirty="0"/>
              <a:t>Enter quote here. Reposition quote mark graphics to frame the quote.</a:t>
            </a:r>
          </a:p>
        </p:txBody>
      </p:sp>
      <p:sp>
        <p:nvSpPr>
          <p:cNvPr id="6" name="Text Placeholder 15">
            <a:extLst>
              <a:ext uri="{FF2B5EF4-FFF2-40B4-BE49-F238E27FC236}">
                <a16:creationId xmlns:a16="http://schemas.microsoft.com/office/drawing/2014/main" id="{2AB32ED6-534B-4417-86C2-7D43CBC56BD1}"/>
              </a:ext>
            </a:extLst>
          </p:cNvPr>
          <p:cNvSpPr>
            <a:spLocks noGrp="1"/>
          </p:cNvSpPr>
          <p:nvPr>
            <p:ph type="body" sz="quarter" idx="13" hasCustomPrompt="1"/>
          </p:nvPr>
        </p:nvSpPr>
        <p:spPr>
          <a:xfrm>
            <a:off x="225027" y="1485901"/>
            <a:ext cx="232172" cy="106183"/>
          </a:xfrm>
          <a:blipFill>
            <a:blip r:embed="rId2">
              <a:duotone>
                <a:prstClr val="black"/>
                <a:srgbClr val="191919">
                  <a:tint val="45000"/>
                  <a:satMod val="400000"/>
                </a:srgbClr>
              </a:duotone>
              <a:extLst>
                <a:ext uri="{BEBA8EAE-BF5A-486C-A8C5-ECC9F3942E4B}">
                  <a14:imgProps xmlns:a14="http://schemas.microsoft.com/office/drawing/2010/main">
                    <a14:imgLayer>
                      <a14:imgEffect>
                        <a14:brightnessContrast bright="-80000" contrast="-40000"/>
                      </a14:imgEffect>
                    </a14:imgLayer>
                  </a14:imgProps>
                </a:ext>
              </a:extLst>
            </a:blip>
            <a:stretch>
              <a:fillRect/>
            </a:stretch>
          </a:blipFill>
        </p:spPr>
        <p:txBody>
          <a:bodyPr/>
          <a:lstStyle>
            <a:lvl1pPr marL="0" indent="0">
              <a:buNone/>
              <a:defRPr sz="100"/>
            </a:lvl1pPr>
            <a:lvl2pPr marL="171450" indent="0">
              <a:buNone/>
              <a:defRPr sz="750"/>
            </a:lvl2pPr>
            <a:lvl3pPr marL="342900" indent="0">
              <a:buNone/>
              <a:defRPr sz="750"/>
            </a:lvl3pPr>
            <a:lvl4pPr marL="514350" indent="0">
              <a:buNone/>
              <a:defRPr sz="750"/>
            </a:lvl4pPr>
            <a:lvl5pPr marL="514350" indent="0">
              <a:buNone/>
              <a:defRPr sz="750"/>
            </a:lvl5pPr>
          </a:lstStyle>
          <a:p>
            <a:pPr lvl="0">
              <a:defRPr sz="1800"/>
            </a:pPr>
            <a:r>
              <a:rPr lang="en-US" sz="1800" dirty="0"/>
              <a:t> </a:t>
            </a:r>
          </a:p>
        </p:txBody>
      </p:sp>
      <p:sp>
        <p:nvSpPr>
          <p:cNvPr id="7" name="Text Placeholder 15">
            <a:extLst>
              <a:ext uri="{FF2B5EF4-FFF2-40B4-BE49-F238E27FC236}">
                <a16:creationId xmlns:a16="http://schemas.microsoft.com/office/drawing/2014/main" id="{12DE8EBE-FC95-451D-BADD-B5580296FA70}"/>
              </a:ext>
            </a:extLst>
          </p:cNvPr>
          <p:cNvSpPr>
            <a:spLocks noGrp="1"/>
          </p:cNvSpPr>
          <p:nvPr>
            <p:ph type="body" sz="quarter" idx="14" hasCustomPrompt="1"/>
          </p:nvPr>
        </p:nvSpPr>
        <p:spPr>
          <a:xfrm>
            <a:off x="3948113" y="2455664"/>
            <a:ext cx="232172" cy="106183"/>
          </a:xfrm>
          <a:blipFill>
            <a:blip r:embed="rId3">
              <a:extLst>
                <a:ext uri="{BEBA8EAE-BF5A-486C-A8C5-ECC9F3942E4B}">
                  <a14:imgProps xmlns:a14="http://schemas.microsoft.com/office/drawing/2010/main">
                    <a14:imgLayer>
                      <a14:imgEffect>
                        <a14:brightnessContrast bright="-80000"/>
                      </a14:imgEffect>
                    </a14:imgLayer>
                  </a14:imgProps>
                </a:ext>
              </a:extLst>
            </a:blip>
            <a:stretch>
              <a:fillRect/>
            </a:stretch>
          </a:blipFill>
        </p:spPr>
        <p:txBody>
          <a:bodyPr/>
          <a:lstStyle>
            <a:lvl1pPr marL="0" indent="0">
              <a:buNone/>
              <a:defRPr sz="100"/>
            </a:lvl1pPr>
            <a:lvl2pPr marL="171450" indent="0">
              <a:buNone/>
              <a:defRPr sz="750"/>
            </a:lvl2pPr>
            <a:lvl3pPr marL="342900" indent="0">
              <a:buNone/>
              <a:defRPr sz="750"/>
            </a:lvl3pPr>
            <a:lvl4pPr marL="514350" indent="0">
              <a:buNone/>
              <a:defRPr sz="750"/>
            </a:lvl4pPr>
            <a:lvl5pPr marL="514350" indent="0">
              <a:buNone/>
              <a:defRPr sz="750"/>
            </a:lvl5pPr>
          </a:lstStyle>
          <a:p>
            <a:pPr lvl="0">
              <a:defRPr sz="1800"/>
            </a:pPr>
            <a:r>
              <a:rPr lang="en-US" sz="1800" dirty="0"/>
              <a:t> </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457200" y="3095625"/>
            <a:ext cx="6050446" cy="300082"/>
          </a:xfrm>
        </p:spPr>
        <p:txBody>
          <a:bodyPr/>
          <a:lstStyle>
            <a:lvl1pPr marL="0" indent="0">
              <a:spcAft>
                <a:spcPts val="0"/>
              </a:spcAft>
              <a:buNone/>
              <a:defRPr sz="1500" b="1"/>
            </a:lvl1pPr>
          </a:lstStyle>
          <a:p>
            <a:pPr lvl="0">
              <a:defRPr sz="1800"/>
            </a:pPr>
            <a:r>
              <a:rPr lang="en-US" sz="1800"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457200" y="3372624"/>
            <a:ext cx="6050446" cy="258532"/>
          </a:xfrm>
        </p:spPr>
        <p:txBody>
          <a:bodyPr/>
          <a:lstStyle>
            <a:lvl1pPr marL="0" indent="0">
              <a:buNone/>
              <a:defRPr sz="1200"/>
            </a:lvl1pPr>
          </a:lstStyle>
          <a:p>
            <a:pPr lvl="0">
              <a:defRPr sz="1800"/>
            </a:pPr>
            <a:r>
              <a:rPr lang="en-US" sz="1800" dirty="0"/>
              <a:t>Quoted person’s affiliation</a:t>
            </a:r>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67487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Header - Color set 1-gradient">
    <p:bg>
      <p:bgRef idx="1001">
        <a:schemeClr val="bg2"/>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08AB68-8722-5843-BF9F-A3F4FC821A8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0" y="0"/>
            <a:ext cx="9148572" cy="5148155"/>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2" name="Title 1">
            <a:extLst>
              <a:ext uri="{FF2B5EF4-FFF2-40B4-BE49-F238E27FC236}">
                <a16:creationId xmlns:a16="http://schemas.microsoft.com/office/drawing/2014/main" id="{AB48D11D-2816-3114-A8F5-E8B514414C3A}"/>
              </a:ext>
            </a:extLst>
          </p:cNvPr>
          <p:cNvSpPr>
            <a:spLocks noGrp="1"/>
          </p:cNvSpPr>
          <p:nvPr>
            <p:ph type="title" hasCustomPrompt="1"/>
          </p:nvPr>
        </p:nvSpPr>
        <p:spPr>
          <a:xfrm>
            <a:off x="457200" y="2026986"/>
            <a:ext cx="4745935" cy="1089529"/>
          </a:xfrm>
        </p:spPr>
        <p:txBody>
          <a:bodyPr anchor="ctr" anchorCtr="0"/>
          <a:lstStyle>
            <a:lvl1pPr>
              <a:defRPr sz="3600">
                <a:solidFill>
                  <a:schemeClr val="tx1"/>
                </a:solidFill>
              </a:defRPr>
            </a:lvl1pPr>
          </a:lstStyle>
          <a:p>
            <a:r>
              <a:rPr lang="en-US" dirty="0"/>
              <a:t>Section layout: Enter section name here</a:t>
            </a:r>
          </a:p>
        </p:txBody>
      </p:sp>
      <p:pic>
        <p:nvPicPr>
          <p:cNvPr id="3" name="Picture 2">
            <a:extLst>
              <a:ext uri="{FF2B5EF4-FFF2-40B4-BE49-F238E27FC236}">
                <a16:creationId xmlns:a16="http://schemas.microsoft.com/office/drawing/2014/main" id="{9DF9265F-5EAE-0472-DB85-35545143EA1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0762204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Header - Color set 1 - bar 1">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0983C2-B45D-83B2-DEBB-13EE7EB37C3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5" name="Title 1">
            <a:extLst>
              <a:ext uri="{FF2B5EF4-FFF2-40B4-BE49-F238E27FC236}">
                <a16:creationId xmlns:a16="http://schemas.microsoft.com/office/drawing/2014/main" id="{2D652DCA-4AC9-775C-0163-9BC0A69D6815}"/>
              </a:ext>
            </a:extLst>
          </p:cNvPr>
          <p:cNvSpPr>
            <a:spLocks noGrp="1"/>
          </p:cNvSpPr>
          <p:nvPr>
            <p:ph type="title" hasCustomPrompt="1"/>
          </p:nvPr>
        </p:nvSpPr>
        <p:spPr>
          <a:xfrm>
            <a:off x="457201" y="2026986"/>
            <a:ext cx="4559576" cy="1089529"/>
          </a:xfrm>
        </p:spPr>
        <p:txBody>
          <a:bodyPr anchor="ctr" anchorCtr="0"/>
          <a:lstStyle>
            <a:lvl1pPr>
              <a:defRPr sz="3600">
                <a:solidFill>
                  <a:schemeClr val="tx1"/>
                </a:solidFill>
              </a:defRPr>
            </a:lvl1pPr>
          </a:lstStyle>
          <a:p>
            <a:r>
              <a:rPr lang="en-US" dirty="0"/>
              <a:t>Section layout: Enter section name here</a:t>
            </a:r>
          </a:p>
        </p:txBody>
      </p:sp>
      <p:pic>
        <p:nvPicPr>
          <p:cNvPr id="2" name="Picture 1">
            <a:extLst>
              <a:ext uri="{FF2B5EF4-FFF2-40B4-BE49-F238E27FC236}">
                <a16:creationId xmlns:a16="http://schemas.microsoft.com/office/drawing/2014/main" id="{471C3DD9-BC3F-A0E3-AE52-73EBBFFA3BF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581622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Header - Color set 1 - bar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50BF9-1884-DA8A-63FF-C319D9447FF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26986"/>
            <a:ext cx="586740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2C305CD5-C9B0-77D6-F39A-27C31866FCF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279565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Header - Color set 1 - dot 1">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39B1D4-5970-8C3B-12DD-B9476EDF01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sp>
        <p:nvSpPr>
          <p:cNvPr id="5" name="Title 1">
            <a:extLst>
              <a:ext uri="{FF2B5EF4-FFF2-40B4-BE49-F238E27FC236}">
                <a16:creationId xmlns:a16="http://schemas.microsoft.com/office/drawing/2014/main" id="{91278114-D3F7-B54A-6374-99017BCD4E47}"/>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pic>
        <p:nvPicPr>
          <p:cNvPr id="2" name="Picture 1">
            <a:extLst>
              <a:ext uri="{FF2B5EF4-FFF2-40B4-BE49-F238E27FC236}">
                <a16:creationId xmlns:a16="http://schemas.microsoft.com/office/drawing/2014/main" id="{53732A0E-627E-6BB5-4778-0405DCF823C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5208425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ection Header - Color set 1 - dot 2">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91A42F-B664-7CC3-3A58-FCC8A63867B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0"/>
            <a:ext cx="9148572" cy="5151438"/>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26986"/>
            <a:ext cx="586740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DEB3D91C-D865-6FC2-D2E0-03C82BB0A6C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404963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ection Header - Color set 1 - block comp 1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81437F-4962-CCEB-FA6E-98FCAF92417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C8AC2B71-6777-231C-A5E4-6EC9611B15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7787227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ection Header - Color set 1 - block comp 1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475AE7-24FF-DF8C-64F3-3F1D9EF4BC2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D16403B7-D116-C2BB-3214-DB28F71D0B0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33283629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Header - Color set 1 - block comp 1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A0E53D-EC4A-296C-3EB7-E8602576BBE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6" name="Title 1">
            <a:extLst>
              <a:ext uri="{FF2B5EF4-FFF2-40B4-BE49-F238E27FC236}">
                <a16:creationId xmlns:a16="http://schemas.microsoft.com/office/drawing/2014/main" id="{A291BC98-9E55-8FE0-8159-585DC71FBAD3}"/>
              </a:ext>
            </a:extLst>
          </p:cNvPr>
          <p:cNvSpPr>
            <a:spLocks noGrp="1"/>
          </p:cNvSpPr>
          <p:nvPr>
            <p:ph type="title" hasCustomPrompt="1"/>
          </p:nvPr>
        </p:nvSpPr>
        <p:spPr>
          <a:xfrm>
            <a:off x="457200" y="1777688"/>
            <a:ext cx="3351585" cy="1588127"/>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984B2655-9E85-B8E2-6D82-00AA87486D4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25836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ection Header - Color set 1 - block comp 2s">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CFD3F7-03A2-C756-F7DD-E8AA5C8F6FCE}"/>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0080C7FC-B710-831F-4985-8813D1F388F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7898533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ection Header - Color set 1 - block comp 2h">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5D3074-87A6-3A16-060E-39F1DCE4C38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7E6D6F42-F762-B98F-62EE-17A33EFA59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643419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Section Header - Color set 1 - block comp 2o">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D8D558-7F6F-1BD7-8848-65F7E77EF48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7" name="Title 1">
            <a:extLst>
              <a:ext uri="{FF2B5EF4-FFF2-40B4-BE49-F238E27FC236}">
                <a16:creationId xmlns:a16="http://schemas.microsoft.com/office/drawing/2014/main" id="{1F642739-FCFC-732F-675E-D05A770D8982}"/>
              </a:ext>
            </a:extLst>
          </p:cNvPr>
          <p:cNvSpPr>
            <a:spLocks noGrp="1"/>
          </p:cNvSpPr>
          <p:nvPr>
            <p:ph type="title" hasCustomPrompt="1"/>
          </p:nvPr>
        </p:nvSpPr>
        <p:spPr>
          <a:xfrm>
            <a:off x="457200" y="2026986"/>
            <a:ext cx="4499942"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A7095554-48CA-50C2-C2AB-77E018B0969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833228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Header - Color set 1 - block comp 3s">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B8C7E8-8A1D-F15B-3265-588426CCC8B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E3B97645-EB68-8CCB-7E85-B2CAC368308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4031203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Section Header - Color set 1 - block comp 3h">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99971D-1771-3E10-24B8-44C43BF1F62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3" name="Picture 2">
            <a:extLst>
              <a:ext uri="{FF2B5EF4-FFF2-40B4-BE49-F238E27FC236}">
                <a16:creationId xmlns:a16="http://schemas.microsoft.com/office/drawing/2014/main" id="{0E5949CA-11FB-14B1-737B-273025A118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893794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Header - Color set 1 - block comp 3o">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C3AED0-9837-7EC6-D1AF-7F33132CD07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5" name="Title 1">
            <a:extLst>
              <a:ext uri="{FF2B5EF4-FFF2-40B4-BE49-F238E27FC236}">
                <a16:creationId xmlns:a16="http://schemas.microsoft.com/office/drawing/2014/main" id="{08BAF000-7B42-BB90-0866-8E9AE180703A}"/>
              </a:ext>
            </a:extLst>
          </p:cNvPr>
          <p:cNvSpPr>
            <a:spLocks noGrp="1"/>
          </p:cNvSpPr>
          <p:nvPr>
            <p:ph type="title" hasCustomPrompt="1"/>
          </p:nvPr>
        </p:nvSpPr>
        <p:spPr>
          <a:xfrm>
            <a:off x="457200" y="1851416"/>
            <a:ext cx="5657850" cy="1089529"/>
          </a:xfrm>
        </p:spPr>
        <p:txBody>
          <a:bodyPr anchor="ctr" anchorCtr="0"/>
          <a:lstStyle>
            <a:lvl1pPr>
              <a:defRPr sz="3600">
                <a:solidFill>
                  <a:schemeClr val="tx1"/>
                </a:solidFill>
              </a:defRPr>
            </a:lvl1pPr>
          </a:lstStyle>
          <a:p>
            <a:r>
              <a:rPr lang="en-US" dirty="0"/>
              <a:t>Section layout: Enter section name here</a:t>
            </a:r>
          </a:p>
        </p:txBody>
      </p:sp>
      <p:sp>
        <p:nvSpPr>
          <p:cNvPr id="4" name="TextBox 3">
            <a:extLst>
              <a:ext uri="{FF2B5EF4-FFF2-40B4-BE49-F238E27FC236}">
                <a16:creationId xmlns:a16="http://schemas.microsoft.com/office/drawing/2014/main" id="{5F57A28E-616E-40DC-A93F-E9E9E4852138}"/>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1"/>
                </a:solidFill>
              </a:rPr>
              <a:t>© </a:t>
            </a:r>
            <a:fld id="{891D98CA-91DB-C845-88C4-F4C26858D263}"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pPr>
              <a:defRPr sz="1800"/>
            </a:pPr>
            <a:fld id="{C5EF2332-01BF-834F-8236-50238282D533}" type="slidenum">
              <a:rPr lang="en-US" smtClean="0"/>
              <a:t>‹#›</a:t>
            </a:fld>
            <a:endParaRPr lang="en-US"/>
          </a:p>
        </p:txBody>
      </p:sp>
      <p:pic>
        <p:nvPicPr>
          <p:cNvPr id="2" name="Picture 1">
            <a:extLst>
              <a:ext uri="{FF2B5EF4-FFF2-40B4-BE49-F238E27FC236}">
                <a16:creationId xmlns:a16="http://schemas.microsoft.com/office/drawing/2014/main" id="{DB86390B-DFE9-6BF5-66E3-7218A062BC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2250236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a:lvl1pPr>
          </a:lstStyle>
          <a:p>
            <a:r>
              <a:rPr lang="en-US" dirty="0"/>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defRPr sz="1800"/>
            </a:pPr>
            <a:r>
              <a:rPr lang="en-US" sz="1800" dirty="0"/>
              <a:t>Type or paste plain-text code here; or click icon to add image</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2397741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a:lvl1pPr>
          </a:lstStyle>
          <a:p>
            <a:r>
              <a:rPr lang="en-US" dirty="0"/>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457200" y="1285875"/>
            <a:ext cx="3936206"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defRPr sz="1800"/>
            </a:pPr>
            <a:r>
              <a:rPr lang="en-US" sz="1800" dirty="0"/>
              <a:t>Enter code</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4750594" y="1285875"/>
            <a:ext cx="3936207"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defRPr sz="1800"/>
            </a:pPr>
            <a:r>
              <a:rPr lang="en-US" sz="1800" dirty="0"/>
              <a:t>Enter code</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84764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amp;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489942" y="2419914"/>
            <a:ext cx="5117902" cy="383182"/>
          </a:xfrm>
        </p:spPr>
        <p:txBody>
          <a:bodyPr/>
          <a:lstStyle>
            <a:lvl1pPr>
              <a:defRPr sz="2100" b="1">
                <a:latin typeface="+mn-lt"/>
              </a:defRPr>
            </a:lvl1pPr>
          </a:lstStyle>
          <a:p>
            <a:r>
              <a:rPr lang="en-US" dirty="0"/>
              <a:t>Enter subtitle</a:t>
            </a:r>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
        <p:nvSpPr>
          <p:cNvPr id="6" name="TextBox 5">
            <a:extLst>
              <a:ext uri="{FF2B5EF4-FFF2-40B4-BE49-F238E27FC236}">
                <a16:creationId xmlns:a16="http://schemas.microsoft.com/office/drawing/2014/main" id="{90F7951E-E6AB-4553-9142-A91D5BC58C21}"/>
              </a:ext>
            </a:extLst>
          </p:cNvPr>
          <p:cNvSpPr txBox="1"/>
          <p:nvPr/>
        </p:nvSpPr>
        <p:spPr>
          <a:xfrm>
            <a:off x="457199" y="1821656"/>
            <a:ext cx="5150644" cy="716750"/>
          </a:xfrm>
          <a:prstGeom prst="rect">
            <a:avLst/>
          </a:prstGeom>
          <a:noFill/>
        </p:spPr>
        <p:txBody>
          <a:bodyPr wrap="square" lIns="0" rtlCol="0">
            <a:noAutofit/>
          </a:bodyPr>
          <a:lstStyle/>
          <a:p>
            <a:r>
              <a:rPr lang="en-US" sz="3600" b="1" dirty="0">
                <a:solidFill>
                  <a:schemeClr val="tx2"/>
                </a:solidFill>
                <a:latin typeface="+mj-lt"/>
              </a:rPr>
              <a:t>Q&amp;A</a:t>
            </a:r>
          </a:p>
        </p:txBody>
      </p:sp>
      <p:pic>
        <p:nvPicPr>
          <p:cNvPr id="3" name="Picture 2">
            <a:extLst>
              <a:ext uri="{FF2B5EF4-FFF2-40B4-BE49-F238E27FC236}">
                <a16:creationId xmlns:a16="http://schemas.microsoft.com/office/drawing/2014/main" id="{C2B00BE4-01E3-A02D-0CE4-1C82B3BE31B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6471" y="4753513"/>
            <a:ext cx="274320" cy="164045"/>
          </a:xfrm>
          <a:prstGeom prst="rect">
            <a:avLst/>
          </a:prstGeom>
        </p:spPr>
      </p:pic>
    </p:spTree>
    <p:extLst>
      <p:ext uri="{BB962C8B-B14F-4D97-AF65-F5344CB8AC3E}">
        <p14:creationId xmlns:p14="http://schemas.microsoft.com/office/powerpoint/2010/main" val="19007566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68536"/>
            <a:ext cx="5867400" cy="1006429"/>
          </a:xfrm>
        </p:spPr>
        <p:txBody>
          <a:bodyPr anchor="ctr" anchorCtr="0"/>
          <a:lstStyle>
            <a:lvl1pPr>
              <a:defRPr sz="3300"/>
            </a:lvl1pPr>
          </a:lstStyle>
          <a:p>
            <a:r>
              <a:rPr lang="en-US" dirty="0"/>
              <a:t>Video or demo divider: Enter “Video” or “Demo” here</a:t>
            </a:r>
          </a:p>
        </p:txBody>
      </p:sp>
    </p:spTree>
    <p:extLst>
      <p:ext uri="{BB962C8B-B14F-4D97-AF65-F5344CB8AC3E}">
        <p14:creationId xmlns:p14="http://schemas.microsoft.com/office/powerpoint/2010/main" val="323601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46004" y="1745754"/>
            <a:ext cx="1651992" cy="1651992"/>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9144000" cy="5143500"/>
          </a:xfrm>
          <a:solidFill>
            <a:schemeClr val="bg2"/>
          </a:solidFill>
        </p:spPr>
        <p:txBody>
          <a:bodyPr lIns="548640" anchor="ctr">
            <a:noAutofit/>
          </a:bodyPr>
          <a:lstStyle>
            <a:lvl1pPr marL="0" indent="0" algn="ctr">
              <a:buNone/>
              <a:defRPr/>
            </a:lvl1pPr>
          </a:lstStyle>
          <a:p>
            <a:pPr>
              <a:defRPr sz="1800"/>
            </a:pPr>
            <a:r>
              <a:rPr lang="en-US" sz="1800"/>
              <a:t>Click icon to add media</a:t>
            </a:r>
            <a:endParaRPr lang="en-US" dirty="0"/>
          </a:p>
        </p:txBody>
      </p:sp>
      <p:sp>
        <p:nvSpPr>
          <p:cNvPr id="2" name="Title 1">
            <a:extLst>
              <a:ext uri="{FF2B5EF4-FFF2-40B4-BE49-F238E27FC236}">
                <a16:creationId xmlns:a16="http://schemas.microsoft.com/office/drawing/2014/main" id="{885D0BE8-3DF9-42ED-B529-6742E64DFC9A}"/>
              </a:ext>
            </a:extLst>
          </p:cNvPr>
          <p:cNvSpPr>
            <a:spLocks noGrp="1"/>
          </p:cNvSpPr>
          <p:nvPr>
            <p:ph type="title" hasCustomPrompt="1"/>
          </p:nvPr>
        </p:nvSpPr>
        <p:spPr>
          <a:xfrm>
            <a:off x="457200" y="-476249"/>
            <a:ext cx="8229600" cy="424732"/>
          </a:xfrm>
        </p:spPr>
        <p:txBody>
          <a:bodyPr/>
          <a:lstStyle/>
          <a:p>
            <a:r>
              <a:rPr lang="en-US" dirty="0"/>
              <a:t>Enter unique title of slide for accessibility</a:t>
            </a:r>
          </a:p>
        </p:txBody>
      </p:sp>
    </p:spTree>
    <p:extLst>
      <p:ext uri="{BB962C8B-B14F-4D97-AF65-F5344CB8AC3E}">
        <p14:creationId xmlns:p14="http://schemas.microsoft.com/office/powerpoint/2010/main" val="2776182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nchor="t" anchorCtr="0"/>
          <a:lstStyle>
            <a:lvl1pPr>
              <a:defRPr sz="3000"/>
            </a:lvl1pPr>
          </a:lstStyle>
          <a:p>
            <a:r>
              <a:rPr lang="en-US" dirty="0"/>
              <a:t>Content with caption layout</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457199" y="1294209"/>
            <a:ext cx="4029076" cy="2585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sz="1800"/>
            </a:pPr>
            <a:r>
              <a:rPr lang="en-US" sz="1800" dirty="0"/>
              <a:t>Enter descriptive text here</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4657725" y="1285876"/>
            <a:ext cx="4029075" cy="1966692"/>
          </a:xfrm>
        </p:spPr>
        <p:txBody>
          <a:bodyPr/>
          <a:lstStyle>
            <a:lvl1pPr>
              <a:defRPr sz="2100"/>
            </a:lvl1pPr>
            <a:lvl2pPr>
              <a:defRPr sz="1800"/>
            </a:lvl2pPr>
            <a:lvl3pPr>
              <a:defRPr sz="1500"/>
            </a:lvl3pPr>
            <a:lvl4pPr>
              <a:defRPr sz="1350"/>
            </a:lvl4pPr>
            <a:lvl5pPr>
              <a:defRPr sz="1350"/>
            </a:lvl5pPr>
            <a:lvl6pPr>
              <a:defRPr sz="1500"/>
            </a:lvl6pPr>
            <a:lvl7pPr>
              <a:defRPr sz="1500"/>
            </a:lvl7pPr>
            <a:lvl8pPr>
              <a:defRPr sz="1500"/>
            </a:lvl8pPr>
            <a:lvl9pPr>
              <a:defRPr sz="1500"/>
            </a:lvl9pPr>
          </a:lstStyle>
          <a:p>
            <a:pPr lvl="0">
              <a:defRPr sz="1800"/>
            </a:pPr>
            <a:r>
              <a:rPr lang="en-US" sz="1800" dirty="0"/>
              <a:t>Enter text or click icon to add media</a:t>
            </a:r>
          </a:p>
          <a:p>
            <a:pPr lvl="1">
              <a:defRPr sz="1800"/>
            </a:pPr>
            <a:r>
              <a:rPr lang="en-US" sz="1800" dirty="0"/>
              <a:t>Second level</a:t>
            </a:r>
          </a:p>
          <a:p>
            <a:pPr lvl="2">
              <a:defRPr sz="1800"/>
            </a:pPr>
            <a:r>
              <a:rPr lang="en-US" sz="1800" dirty="0"/>
              <a:t>Third level</a:t>
            </a:r>
          </a:p>
          <a:p>
            <a:pPr lvl="3">
              <a:defRPr sz="1800"/>
            </a:pPr>
            <a:r>
              <a:rPr lang="en-US" sz="1800" dirty="0"/>
              <a:t>Fourth level</a:t>
            </a:r>
          </a:p>
          <a:p>
            <a:pPr lvl="4">
              <a:defRPr sz="1800"/>
            </a:pPr>
            <a:r>
              <a:rPr lang="en-US" sz="1800" dirty="0"/>
              <a:t>Fifth level</a:t>
            </a:r>
          </a:p>
        </p:txBody>
      </p:sp>
    </p:spTree>
    <p:extLst>
      <p:ext uri="{BB962C8B-B14F-4D97-AF65-F5344CB8AC3E}">
        <p14:creationId xmlns:p14="http://schemas.microsoft.com/office/powerpoint/2010/main" val="4125685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hank You - Color set 1 - gradi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8957-C724-4A64-801C-8DF2F525A55E}"/>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17" name="Picture 16">
            <a:extLst>
              <a:ext uri="{FF2B5EF4-FFF2-40B4-BE49-F238E27FC236}">
                <a16:creationId xmlns:a16="http://schemas.microsoft.com/office/drawing/2014/main" id="{5A09124F-E06F-4B4A-BC10-681DCCFDB48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50" y="0"/>
            <a:ext cx="9148572" cy="5148155"/>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5" name="TextBox 14">
            <a:extLst>
              <a:ext uri="{FF2B5EF4-FFF2-40B4-BE49-F238E27FC236}">
                <a16:creationId xmlns:a16="http://schemas.microsoft.com/office/drawing/2014/main" id="{47C4B491-619F-403A-8310-1D29C8690797}"/>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pic>
        <p:nvPicPr>
          <p:cNvPr id="19" name="Picture 18">
            <a:extLst>
              <a:ext uri="{FF2B5EF4-FFF2-40B4-BE49-F238E27FC236}">
                <a16:creationId xmlns:a16="http://schemas.microsoft.com/office/drawing/2014/main" id="{BC2167FA-B358-4BFC-8D58-3474D000E5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581678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ank You - Color set 1 - bar 1">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65D1B79-F67D-4005-9FD4-77597AB306ED}"/>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18D2D97F-31F9-5645-1DF5-2408297623E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3" name="TextBox 2">
            <a:extLst>
              <a:ext uri="{FF2B5EF4-FFF2-40B4-BE49-F238E27FC236}">
                <a16:creationId xmlns:a16="http://schemas.microsoft.com/office/drawing/2014/main" id="{19741EF2-9394-A5D5-590E-87B5CBE585D6}"/>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4" name="Picture 3">
            <a:extLst>
              <a:ext uri="{FF2B5EF4-FFF2-40B4-BE49-F238E27FC236}">
                <a16:creationId xmlns:a16="http://schemas.microsoft.com/office/drawing/2014/main" id="{57CCD60F-2EC3-8C40-FA1E-EF74E9A8102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761348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hank You - Color set 1 - bar 2">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659D276-0939-4482-8050-C69560EFB8B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1C09F6EE-2591-9381-147F-24492EA5E82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763" y="0"/>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4" name="TextBox 3">
            <a:extLst>
              <a:ext uri="{FF2B5EF4-FFF2-40B4-BE49-F238E27FC236}">
                <a16:creationId xmlns:a16="http://schemas.microsoft.com/office/drawing/2014/main" id="{3C92A1C6-9D56-0140-2445-5C21341B644F}"/>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8B7312E6-0576-F791-AD71-23C8C5E910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5077620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hank You - Color set 1 - dot 1">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B89A3FE-4688-4E6A-B620-1E25934B364B}"/>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48D4C49C-5939-8662-A711-3A9C97A42C0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2" y="0"/>
            <a:ext cx="9148572" cy="5148754"/>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4" name="TextBox 3">
            <a:extLst>
              <a:ext uri="{FF2B5EF4-FFF2-40B4-BE49-F238E27FC236}">
                <a16:creationId xmlns:a16="http://schemas.microsoft.com/office/drawing/2014/main" id="{E92F5490-4037-65DB-FAD3-6A854856B3C1}"/>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7E3E64E7-C671-E1CA-A9AD-1D39ADA4501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2733202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hank You - Color set 1 - dot 2">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89C96-A870-40FB-A2AE-86CC14A91A3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35988816-3FDE-DB97-B53E-3E18B7C41F6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9148572" cy="5148755"/>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360759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360759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2443DF4D-81EA-4A9B-AB2D-52FA7F3CA8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41781305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ank You - Color set 1 - block comp 1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170E12F-C31F-494C-97C5-1C2F133CFF0D}"/>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36419D4E-1A11-116F-FA08-E57DA663A7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56814AEB-7798-CA6E-E226-B8DE6C72D76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059526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 Color set 1 - block comp 1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C6C0448-E410-4309-A626-898AEE341E61}"/>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136E8984-051A-7661-3156-819A9F6D774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E0F82D8D-CD5C-24C6-F7E6-422731A5F8E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31992862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 Color set 1 - block comp 1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3EAA418-A116-47F3-A86A-2AD959A7ED0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A52CBBB0-2767-53F5-F862-21137BCF06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3"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22CD9880-F6F1-C7E8-2332-B6AFFFB5EB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6153393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ank You - Color set 1 - block comp 2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D5D73BD-D8FF-4648-BD63-A43051413366}"/>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D6C22F59-1296-678F-D968-D34524FADB9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0"/>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A18E1AF3-7164-587C-51FB-DDBC4E474EA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353419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hank You - Color set 1 - block comp 2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AFDE560-EA3B-45F1-8249-C9855180B4D3}"/>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557F489B-74F1-BBD0-ECD6-2D76BEBE370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4"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82C0E9F-B462-15DB-5BA3-2555B5019F7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23670783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hank You - Color set 1 - block comp 2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90AC992-CFD3-4172-AABE-751FBE976F8A}"/>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7DC31D62-8E6D-835D-263D-1E16BA02BF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D7340FF9-2598-7297-1850-1AAF6F75DD2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1506274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hank You - Color set 1 - block comp 3s">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5320B64-E8B6-483A-AE53-8A0176C142AC}"/>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47ED9E0A-41A0-ACC7-3425-9B1C9B202D0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39481697-DF0F-3DB6-50AD-81AA83504B8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912025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hank You - Color set 1 - block comp 3h">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A7CE52F-6359-4FE3-B107-88928AFC3662}"/>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3" name="Picture 2">
            <a:extLst>
              <a:ext uri="{FF2B5EF4-FFF2-40B4-BE49-F238E27FC236}">
                <a16:creationId xmlns:a16="http://schemas.microsoft.com/office/drawing/2014/main" id="{F49B0D50-0903-618A-A2D1-19AB5D1FD5A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0"/>
            <a:ext cx="9148572" cy="5151438"/>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2" name="Picture 1">
            <a:extLst>
              <a:ext uri="{FF2B5EF4-FFF2-40B4-BE49-F238E27FC236}">
                <a16:creationId xmlns:a16="http://schemas.microsoft.com/office/drawing/2014/main" id="{66C93A26-8C24-9AFB-B55D-D81F893F64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40339382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hank You - Color set 1 - block comp 3o">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306FC97B-57F5-4ABD-9A32-19EE9451039E}"/>
              </a:ext>
            </a:extLst>
          </p:cNvPr>
          <p:cNvSpPr>
            <a:spLocks noGrp="1"/>
          </p:cNvSpPr>
          <p:nvPr>
            <p:ph type="title" hasCustomPrompt="1"/>
          </p:nvPr>
        </p:nvSpPr>
        <p:spPr>
          <a:xfrm>
            <a:off x="457200" y="-464757"/>
            <a:ext cx="8229600" cy="424732"/>
          </a:xfrm>
        </p:spPr>
        <p:txBody>
          <a:bodyPr/>
          <a:lstStyle>
            <a:lvl1pPr>
              <a:defRPr>
                <a:solidFill>
                  <a:schemeClr val="bg2"/>
                </a:solidFill>
              </a:defRPr>
            </a:lvl1pPr>
          </a:lstStyle>
          <a:p>
            <a:r>
              <a:rPr lang="en-US" dirty="0"/>
              <a:t>Enter unique title of slide for accessibility</a:t>
            </a:r>
          </a:p>
        </p:txBody>
      </p:sp>
      <p:pic>
        <p:nvPicPr>
          <p:cNvPr id="2" name="Picture 1">
            <a:extLst>
              <a:ext uri="{FF2B5EF4-FFF2-40B4-BE49-F238E27FC236}">
                <a16:creationId xmlns:a16="http://schemas.microsoft.com/office/drawing/2014/main" id="{E88C0059-31E1-42F5-3800-CDA8EC5427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4765" y="1"/>
            <a:ext cx="9148572" cy="5151437"/>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464344"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464344"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035969" y="2693149"/>
            <a:ext cx="1495566" cy="300082"/>
          </a:xfrm>
        </p:spPr>
        <p:txBody>
          <a:bodyPr anchor="b" anchorCtr="0"/>
          <a:lstStyle>
            <a:lvl1pPr marL="0" indent="0">
              <a:buNone/>
              <a:defRPr sz="1500">
                <a:solidFill>
                  <a:schemeClr val="tx1"/>
                </a:solidFill>
              </a:defRPr>
            </a:lvl1pPr>
          </a:lstStyle>
          <a:p>
            <a:pPr lvl="0">
              <a:defRPr sz="1800"/>
            </a:pPr>
            <a:r>
              <a:rPr lang="en-US" sz="1800"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035969" y="2993232"/>
            <a:ext cx="1495566" cy="424732"/>
          </a:xfrm>
        </p:spPr>
        <p:txBody>
          <a:bodyPr/>
          <a:lstStyle>
            <a:lvl1pPr marL="0" indent="0">
              <a:spcAft>
                <a:spcPts val="450"/>
              </a:spcAft>
              <a:buNone/>
              <a:defRPr sz="1200">
                <a:solidFill>
                  <a:schemeClr val="tx1"/>
                </a:solidFill>
              </a:defRPr>
            </a:lvl1pPr>
          </a:lstStyle>
          <a:p>
            <a:pPr lvl="0">
              <a:defRPr sz="1800"/>
            </a:pPr>
            <a:r>
              <a:rPr lang="en-US" sz="1800"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p:nvSpPr>
        <p:spPr>
          <a:xfrm>
            <a:off x="457199" y="1845908"/>
            <a:ext cx="5150644" cy="692498"/>
          </a:xfrm>
          <a:prstGeom prst="rect">
            <a:avLst/>
          </a:prstGeom>
          <a:noFill/>
        </p:spPr>
        <p:txBody>
          <a:bodyPr wrap="square" lIns="0" rtlCol="0">
            <a:noAutofit/>
          </a:bodyPr>
          <a:lstStyle/>
          <a:p>
            <a:r>
              <a:rPr lang="en-US" sz="3600" b="1" dirty="0">
                <a:solidFill>
                  <a:schemeClr val="tx1"/>
                </a:solidFill>
                <a:latin typeface="+mj-lt"/>
              </a:rPr>
              <a:t>Thank you!</a:t>
            </a:r>
          </a:p>
        </p:txBody>
      </p:sp>
      <p:sp>
        <p:nvSpPr>
          <p:cNvPr id="5" name="TextBox 4">
            <a:extLst>
              <a:ext uri="{FF2B5EF4-FFF2-40B4-BE49-F238E27FC236}">
                <a16:creationId xmlns:a16="http://schemas.microsoft.com/office/drawing/2014/main" id="{327B6651-2A97-2363-2BA7-0F8D2C2FBC59}"/>
              </a:ext>
            </a:extLst>
          </p:cNvPr>
          <p:cNvSpPr txBox="1"/>
          <p:nvPr/>
        </p:nvSpPr>
        <p:spPr>
          <a:xfrm>
            <a:off x="378358" y="4792360"/>
            <a:ext cx="2981907" cy="161583"/>
          </a:xfrm>
          <a:prstGeom prst="rect">
            <a:avLst/>
          </a:prstGeom>
          <a:noFill/>
        </p:spPr>
        <p:txBody>
          <a:bodyPr wrap="none" rtlCol="0">
            <a:spAutoFit/>
          </a:bodyPr>
          <a:lstStyle/>
          <a:p>
            <a:pPr algn="l"/>
            <a:r>
              <a:rPr lang="en-US" sz="450" dirty="0">
                <a:solidFill>
                  <a:schemeClr val="tx1"/>
                </a:solidFill>
              </a:rPr>
              <a:t>© </a:t>
            </a:r>
            <a:fld id="{C9305E1C-00C6-7741-A376-0D18F41A32E6}" type="datetimeyyyy">
              <a:rPr lang="en-US" sz="450" smtClean="0">
                <a:solidFill>
                  <a:schemeClr val="tx1"/>
                </a:solidFill>
              </a:rPr>
              <a:t>2026</a:t>
            </a:fld>
            <a:r>
              <a:rPr lang="en-US" sz="450" dirty="0">
                <a:solidFill>
                  <a:schemeClr val="tx1"/>
                </a:solidFill>
              </a:rPr>
              <a:t>, Amazon Web Services, Inc. or its affiliates. All rights reserved. Amazon Confidential and Trademark.</a:t>
            </a:r>
          </a:p>
        </p:txBody>
      </p:sp>
      <p:pic>
        <p:nvPicPr>
          <p:cNvPr id="3" name="Picture 2">
            <a:extLst>
              <a:ext uri="{FF2B5EF4-FFF2-40B4-BE49-F238E27FC236}">
                <a16:creationId xmlns:a16="http://schemas.microsoft.com/office/drawing/2014/main" id="{BFCDAAA5-79F5-B7F3-DCD2-627D1F8860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7200" y="527974"/>
            <a:ext cx="752380" cy="449928"/>
          </a:xfrm>
          <a:prstGeom prst="rect">
            <a:avLst/>
          </a:prstGeom>
        </p:spPr>
      </p:pic>
    </p:spTree>
    <p:extLst>
      <p:ext uri="{BB962C8B-B14F-4D97-AF65-F5344CB8AC3E}">
        <p14:creationId xmlns:p14="http://schemas.microsoft.com/office/powerpoint/2010/main" val="10055474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6807247" y="1289237"/>
            <a:ext cx="1879554" cy="3368488"/>
          </a:xfrm>
        </p:spPr>
        <p:txBody>
          <a:bodyPr vert="eaVert"/>
          <a:lstStyle/>
          <a:p>
            <a:pPr lvl="0">
              <a:defRPr sz="1800"/>
            </a:pPr>
            <a:r>
              <a:rPr lang="en-US" sz="1800"/>
              <a:t>Click to edit Master text styles</a:t>
            </a:r>
          </a:p>
          <a:p>
            <a:pPr lvl="1">
              <a:defRPr sz="1800"/>
            </a:pPr>
            <a:r>
              <a:rPr lang="en-US" sz="1800"/>
              <a:t>Second level</a:t>
            </a:r>
          </a:p>
          <a:p>
            <a:pPr lvl="2">
              <a:defRPr sz="1800"/>
            </a:pPr>
            <a:r>
              <a:rPr lang="en-US" sz="1800"/>
              <a:t>Third level</a:t>
            </a:r>
          </a:p>
          <a:p>
            <a:pPr lvl="3">
              <a:defRPr sz="1800"/>
            </a:pPr>
            <a:r>
              <a:rPr lang="en-US" sz="1800"/>
              <a:t>Fourth level</a:t>
            </a:r>
          </a:p>
          <a:p>
            <a:pPr lvl="4">
              <a:defRPr sz="1800"/>
            </a:pPr>
            <a:r>
              <a:rPr lang="en-US" sz="1800"/>
              <a:t>Fifth level</a:t>
            </a:r>
            <a:endParaRPr lang="en-US" dirty="0"/>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303325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012769" y="685800"/>
            <a:ext cx="674031" cy="39719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4840670" y="685800"/>
            <a:ext cx="1588705" cy="3971926"/>
          </a:xfrm>
        </p:spPr>
        <p:txBody>
          <a:bodyPr vert="eaVert"/>
          <a:lstStyle/>
          <a:p>
            <a:pPr lvl="0">
              <a:defRPr sz="1800"/>
            </a:pPr>
            <a:r>
              <a:rPr lang="en-US" sz="1800"/>
              <a:t>Click to edit Master text styles</a:t>
            </a:r>
          </a:p>
          <a:p>
            <a:pPr lvl="1">
              <a:defRPr sz="1800"/>
            </a:pPr>
            <a:r>
              <a:rPr lang="en-US" sz="1800"/>
              <a:t>Second level</a:t>
            </a:r>
          </a:p>
          <a:p>
            <a:pPr lvl="2">
              <a:defRPr sz="1800"/>
            </a:pPr>
            <a:r>
              <a:rPr lang="en-US" sz="1800"/>
              <a:t>Third level</a:t>
            </a:r>
          </a:p>
          <a:p>
            <a:pPr lvl="3">
              <a:defRPr sz="1800"/>
            </a:pPr>
            <a:r>
              <a:rPr lang="en-US" sz="1800"/>
              <a:t>Fourth level</a:t>
            </a:r>
          </a:p>
          <a:p>
            <a:pPr lvl="4">
              <a:defRPr sz="1800"/>
            </a:pPr>
            <a:r>
              <a:rPr lang="en-US" sz="1800"/>
              <a:t>Fifth level</a:t>
            </a:r>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496829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p:nvSpPr>
        <p:spPr>
          <a:xfrm>
            <a:off x="2614613" y="1884278"/>
            <a:ext cx="5514975" cy="1390573"/>
          </a:xfrm>
          <a:prstGeom prst="rect">
            <a:avLst/>
          </a:prstGeom>
          <a:noFill/>
        </p:spPr>
        <p:txBody>
          <a:bodyPr wrap="square" rtlCol="0">
            <a:spAutoFit/>
          </a:bodyPr>
          <a:lstStyle/>
          <a:p>
            <a:pPr algn="l">
              <a:lnSpc>
                <a:spcPct val="80000"/>
              </a:lnSpc>
            </a:pPr>
            <a:r>
              <a:rPr lang="en-US" sz="4500" dirty="0">
                <a:latin typeface="+mj-lt"/>
              </a:rPr>
              <a:t>Do not use layouts after this slide.</a:t>
            </a:r>
            <a:br>
              <a:rPr lang="en-US" sz="4500" dirty="0">
                <a:latin typeface="+mj-lt"/>
              </a:rPr>
            </a:br>
            <a:r>
              <a:rPr lang="en-US" sz="1500" dirty="0">
                <a:latin typeface="+mj-lt"/>
              </a:rPr>
              <a:t>They are not part of the official template.</a:t>
            </a:r>
            <a:endParaRPr lang="en-US" sz="4500" dirty="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42938" y="1585912"/>
            <a:ext cx="1971675" cy="1971675"/>
          </a:xfrm>
          <a:prstGeom prst="rect">
            <a:avLst/>
          </a:prstGeom>
        </p:spPr>
      </p:pic>
      <p:sp>
        <p:nvSpPr>
          <p:cNvPr id="8" name="Rectangle 7">
            <a:extLst>
              <a:ext uri="{FF2B5EF4-FFF2-40B4-BE49-F238E27FC236}">
                <a16:creationId xmlns:a16="http://schemas.microsoft.com/office/drawing/2014/main" id="{A56A91D7-A142-41A9-9775-90FA8A0EC8F4}"/>
              </a:ext>
            </a:extLst>
          </p:cNvPr>
          <p:cNvSpPr/>
          <p:nvPr/>
        </p:nvSpPr>
        <p:spPr>
          <a:xfrm>
            <a:off x="285750" y="4752975"/>
            <a:ext cx="3707606"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a:extLst>
              <a:ext uri="{FF2B5EF4-FFF2-40B4-BE49-F238E27FC236}">
                <a16:creationId xmlns:a16="http://schemas.microsoft.com/office/drawing/2014/main" id="{F4A252AA-410C-4410-AE45-9D483892FCD8}"/>
              </a:ext>
            </a:extLst>
          </p:cNvPr>
          <p:cNvSpPr/>
          <p:nvPr/>
        </p:nvSpPr>
        <p:spPr>
          <a:xfrm>
            <a:off x="285750" y="122791"/>
            <a:ext cx="3707606" cy="3905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189180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Two_Image">
    <p:spTree>
      <p:nvGrpSpPr>
        <p:cNvPr id="1" name=""/>
        <p:cNvGrpSpPr/>
        <p:nvPr/>
      </p:nvGrpSpPr>
      <p:grpSpPr>
        <a:xfrm>
          <a:off x="0" y="0"/>
          <a:ext cx="0" cy="0"/>
          <a:chOff x="0" y="0"/>
          <a:chExt cx="0" cy="0"/>
        </a:xfrm>
      </p:grpSpPr>
      <p:sp>
        <p:nvSpPr>
          <p:cNvPr id="11" name="Title 1"/>
          <p:cNvSpPr>
            <a:spLocks noGrp="1"/>
          </p:cNvSpPr>
          <p:nvPr>
            <p:ph type="title"/>
          </p:nvPr>
        </p:nvSpPr>
        <p:spPr>
          <a:xfrm>
            <a:off x="336789" y="114937"/>
            <a:ext cx="8450024" cy="545741"/>
          </a:xfrm>
        </p:spPr>
        <p:txBody>
          <a:bodyPr>
            <a:normAutofit/>
          </a:bodyPr>
          <a:lstStyle>
            <a:lvl1pPr>
              <a:defRPr sz="2375">
                <a:solidFill>
                  <a:schemeClr val="bg2"/>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342901" y="1028701"/>
            <a:ext cx="5206364" cy="383182"/>
          </a:xfrm>
          <a:prstGeom prst="rect">
            <a:avLst/>
          </a:prstGeom>
        </p:spPr>
        <p:txBody>
          <a:bodyPr/>
          <a:lstStyle>
            <a:lvl1pPr>
              <a:defRPr>
                <a:solidFill>
                  <a:schemeClr val="bg2"/>
                </a:solidFill>
              </a:defRPr>
            </a:lvl1pPr>
          </a:lstStyle>
          <a:p>
            <a:pPr>
              <a:defRPr sz="1800"/>
            </a:pPr>
            <a:r>
              <a:rPr lang="en-US" sz="1800"/>
              <a:t>Click icon to add picture</a:t>
            </a:r>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5829300" y="1028700"/>
            <a:ext cx="2971800" cy="674031"/>
          </a:xfrm>
          <a:prstGeom prst="rect">
            <a:avLst/>
          </a:prstGeom>
        </p:spPr>
        <p:txBody>
          <a:bodyPr/>
          <a:lstStyle>
            <a:lvl1pPr>
              <a:defRPr>
                <a:solidFill>
                  <a:schemeClr val="bg2"/>
                </a:solidFill>
              </a:defRPr>
            </a:lvl1pPr>
          </a:lstStyle>
          <a:p>
            <a:pPr>
              <a:defRPr sz="1800"/>
            </a:pPr>
            <a:r>
              <a:rPr lang="en-US" sz="1800"/>
              <a:t>Click icon to add picture</a:t>
            </a:r>
          </a:p>
        </p:txBody>
      </p:sp>
      <p:pic>
        <p:nvPicPr>
          <p:cNvPr id="6" name="Picture 5">
            <a:extLst>
              <a:ext uri="{FF2B5EF4-FFF2-40B4-BE49-F238E27FC236}">
                <a16:creationId xmlns:a16="http://schemas.microsoft.com/office/drawing/2014/main" id="{D91DA9AA-7EB5-BC47-9BD7-3F3BB94BFB6D}"/>
              </a:ext>
            </a:extLst>
          </p:cNvPr>
          <p:cNvPicPr>
            <a:picLocks noChangeAspect="1"/>
          </p:cNvPicPr>
          <p:nvPr/>
        </p:nvPicPr>
        <p:blipFill>
          <a:blip r:embed="rId2"/>
          <a:srcRect/>
          <a:stretch/>
        </p:blipFill>
        <p:spPr>
          <a:xfrm>
            <a:off x="8343509" y="4706911"/>
            <a:ext cx="443245" cy="265064"/>
          </a:xfrm>
          <a:prstGeom prst="rect">
            <a:avLst/>
          </a:prstGeom>
        </p:spPr>
      </p:pic>
    </p:spTree>
    <p:extLst>
      <p:ext uri="{BB962C8B-B14F-4D97-AF65-F5344CB8AC3E}">
        <p14:creationId xmlns:p14="http://schemas.microsoft.com/office/powerpoint/2010/main" val="3467723289"/>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a:defRPr sz="1800"/>
            </a:pPr>
            <a:r>
              <a:rPr lang="en-US" sz="1800"/>
              <a:t>Click to edit Master subtitle style</a:t>
            </a:r>
          </a:p>
        </p:txBody>
      </p:sp>
      <p:sp>
        <p:nvSpPr>
          <p:cNvPr id="4" name="Date Placeholder 3"/>
          <p:cNvSpPr>
            <a:spLocks noGrp="1"/>
          </p:cNvSpPr>
          <p:nvPr>
            <p:ph type="dt" sz="half" idx="10"/>
          </p:nvPr>
        </p:nvSpPr>
        <p:spPr/>
        <p:txBody>
          <a:bodyPr/>
          <a:lstStyle/>
          <a:p>
            <a:pPr>
              <a:defRPr sz="1800"/>
            </a:pPr>
            <a:fld id="{241EB5C9-1307-BA42-ABA2-0BC069CD8E7F}" type="datetimeFigureOut">
              <a:rPr lang="en-US" smtClean="0"/>
              <a:t>3/28/26</a:t>
            </a:fld>
            <a:endParaRPr lang="en-US"/>
          </a:p>
        </p:txBody>
      </p:sp>
      <p:sp>
        <p:nvSpPr>
          <p:cNvPr id="5" name="Footer Placeholder 4"/>
          <p:cNvSpPr>
            <a:spLocks noGrp="1"/>
          </p:cNvSpPr>
          <p:nvPr>
            <p:ph type="ftr" sz="quarter" idx="11"/>
          </p:nvPr>
        </p:nvSpPr>
        <p:spPr/>
        <p:txBody>
          <a:bodyPr/>
          <a:lstStyle/>
          <a:p>
            <a:pPr>
              <a:defRPr sz="1800"/>
            </a:pPr>
            <a:endParaRPr lang="en-US"/>
          </a:p>
        </p:txBody>
      </p:sp>
      <p:sp>
        <p:nvSpPr>
          <p:cNvPr id="6" name="Slide Number Placeholder 5"/>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125844900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defRPr sz="1800"/>
            </a:pPr>
            <a:r>
              <a:rPr lang="en-US" sz="1800"/>
              <a:t>Click to edit Master text styles</a:t>
            </a:r>
          </a:p>
        </p:txBody>
      </p:sp>
      <p:sp>
        <p:nvSpPr>
          <p:cNvPr id="4" name="Date Placeholder 3"/>
          <p:cNvSpPr>
            <a:spLocks noGrp="1"/>
          </p:cNvSpPr>
          <p:nvPr>
            <p:ph type="dt" sz="half" idx="10"/>
          </p:nvPr>
        </p:nvSpPr>
        <p:spPr/>
        <p:txBody>
          <a:bodyPr/>
          <a:lstStyle/>
          <a:p>
            <a:pPr>
              <a:defRPr sz="1800"/>
            </a:pPr>
            <a:fld id="{241EB5C9-1307-BA42-ABA2-0BC069CD8E7F}" type="datetimeFigureOut">
              <a:rPr lang="en-US" smtClean="0"/>
              <a:t>3/28/26</a:t>
            </a:fld>
            <a:endParaRPr lang="en-US"/>
          </a:p>
        </p:txBody>
      </p:sp>
      <p:sp>
        <p:nvSpPr>
          <p:cNvPr id="5" name="Footer Placeholder 4"/>
          <p:cNvSpPr>
            <a:spLocks noGrp="1"/>
          </p:cNvSpPr>
          <p:nvPr>
            <p:ph type="ftr" sz="quarter" idx="11"/>
          </p:nvPr>
        </p:nvSpPr>
        <p:spPr/>
        <p:txBody>
          <a:bodyPr/>
          <a:lstStyle/>
          <a:p>
            <a:pPr>
              <a:defRPr sz="1800"/>
            </a:pPr>
            <a:endParaRPr lang="en-US"/>
          </a:p>
        </p:txBody>
      </p:sp>
      <p:sp>
        <p:nvSpPr>
          <p:cNvPr id="6" name="Slide Number Placeholder 5"/>
          <p:cNvSpPr>
            <a:spLocks noGrp="1"/>
          </p:cNvSpPr>
          <p:nvPr>
            <p:ph type="sldNum" sz="quarter" idx="12"/>
          </p:nvPr>
        </p:nvSpPr>
        <p:spPr/>
        <p:txBody>
          <a:bodyPr/>
          <a:lstStyle/>
          <a:p>
            <a:pPr>
              <a:defRPr sz="1800"/>
            </a:pPr>
            <a:fld id="{C5EF2332-01BF-834F-8236-50238282D533}" type="slidenum">
              <a:rPr lang="en-US" smtClean="0"/>
              <a:t>‹#›</a:t>
            </a:fld>
            <a:endParaRPr lang="en-US"/>
          </a:p>
        </p:txBody>
      </p:sp>
    </p:spTree>
    <p:extLst>
      <p:ext uri="{BB962C8B-B14F-4D97-AF65-F5344CB8AC3E}">
        <p14:creationId xmlns:p14="http://schemas.microsoft.com/office/powerpoint/2010/main" val="366144255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theme" Target="../theme/theme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6CC99-EC41-4647-BD17-9EFC9AA4DB4E}"/>
              </a:ext>
            </a:extLst>
          </p:cNvPr>
          <p:cNvSpPr>
            <a:spLocks noGrp="1"/>
          </p:cNvSpPr>
          <p:nvPr>
            <p:ph type="title"/>
          </p:nvPr>
        </p:nvSpPr>
        <p:spPr>
          <a:xfrm>
            <a:off x="457200" y="685801"/>
            <a:ext cx="8229600" cy="424732"/>
          </a:xfrm>
          <a:prstGeom prst="rect">
            <a:avLst/>
          </a:prstGeom>
        </p:spPr>
        <p:txBody>
          <a:bodyPr vert="horz" wrap="square" lIns="0" tIns="45720" rIns="0" bIns="4572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457200" y="1289237"/>
            <a:ext cx="8229600" cy="1675843"/>
          </a:xfrm>
          <a:prstGeom prst="rect">
            <a:avLst/>
          </a:prstGeom>
        </p:spPr>
        <p:txBody>
          <a:bodyPr vert="horz" wrap="square"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0">
            <a:extLst>
              <a:ext uri="{FF2B5EF4-FFF2-40B4-BE49-F238E27FC236}">
                <a16:creationId xmlns:a16="http://schemas.microsoft.com/office/drawing/2014/main" id="{AB08AA2C-B509-4BA9-B3D5-46E288298CEC}"/>
              </a:ext>
            </a:extLst>
          </p:cNvPr>
          <p:cNvSpPr txBox="1">
            <a:spLocks/>
          </p:cNvSpPr>
          <p:nvPr/>
        </p:nvSpPr>
        <p:spPr>
          <a:xfrm>
            <a:off x="457200" y="243211"/>
            <a:ext cx="8229600" cy="180975"/>
          </a:xfrm>
          <a:prstGeom prst="rect">
            <a:avLst/>
          </a:prstGeom>
          <a:solidFill>
            <a:schemeClr val="bg2"/>
          </a:solidFill>
        </p:spPr>
        <p:txBody>
          <a:bodyPr lIns="0"/>
          <a:lstStyle>
            <a:lvl1pPr marL="0" indent="0" algn="l" defTabSz="914400" rtl="0" eaLnBrk="1" latinLnBrk="0" hangingPunct="1">
              <a:lnSpc>
                <a:spcPct val="90000"/>
              </a:lnSpc>
              <a:spcBef>
                <a:spcPts val="0"/>
              </a:spcBef>
              <a:spcAft>
                <a:spcPts val="900"/>
              </a:spcAft>
              <a:buClr>
                <a:schemeClr val="tx1"/>
              </a:buClr>
              <a:buSzPct val="90000"/>
              <a:buFont typeface="Amazon Ember" panose="020B0603020204020204" pitchFamily="34" charset="0"/>
              <a:buNone/>
              <a:defRPr sz="1000" b="0" kern="1200" cap="all" spc="0" baseline="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9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731520" indent="-228600" algn="l" defTabSz="914400" rtl="0" eaLnBrk="1" latinLnBrk="0" hangingPunct="1">
              <a:lnSpc>
                <a:spcPct val="90000"/>
              </a:lnSpc>
              <a:spcBef>
                <a:spcPts val="0"/>
              </a:spcBef>
              <a:spcAft>
                <a:spcPts val="600"/>
              </a:spcAft>
              <a:buClr>
                <a:schemeClr val="tx1"/>
              </a:buClr>
              <a:buFont typeface="Amazon Ember" panose="020B0603020204020204" pitchFamily="34" charset="0"/>
              <a:buChar char="–"/>
              <a:defRPr sz="2000" kern="1200">
                <a:solidFill>
                  <a:schemeClr val="tx1"/>
                </a:solidFill>
                <a:latin typeface="+mn-lt"/>
                <a:ea typeface="+mn-ea"/>
                <a:cs typeface="+mn-cs"/>
              </a:defRPr>
            </a:lvl3pPr>
            <a:lvl4pPr marL="1005840" indent="-228600" algn="l" defTabSz="914400" rtl="0" eaLnBrk="1" latinLnBrk="0" hangingPunct="1">
              <a:lnSpc>
                <a:spcPct val="90000"/>
              </a:lnSpc>
              <a:spcBef>
                <a:spcPts val="0"/>
              </a:spcBef>
              <a:spcAft>
                <a:spcPts val="600"/>
              </a:spcAft>
              <a:buClr>
                <a:schemeClr val="tx1"/>
              </a:buClr>
              <a:buFont typeface="Amazon Ember" panose="020B0603020204020204" pitchFamily="34" charset="0"/>
              <a:buChar char="•"/>
              <a:defRPr sz="1800" kern="1200">
                <a:solidFill>
                  <a:schemeClr val="tx1"/>
                </a:solidFill>
                <a:latin typeface="+mn-lt"/>
                <a:ea typeface="+mn-ea"/>
                <a:cs typeface="+mn-cs"/>
              </a:defRPr>
            </a:lvl4pPr>
            <a:lvl5pPr marL="1280160" indent="-228600" algn="l" defTabSz="914400" rtl="0" eaLnBrk="1" latinLnBrk="0" hangingPunct="1">
              <a:lnSpc>
                <a:spcPct val="90000"/>
              </a:lnSpc>
              <a:spcBef>
                <a:spcPts val="0"/>
              </a:spcBef>
              <a:spcAft>
                <a:spcPts val="600"/>
              </a:spcAft>
              <a:buClr>
                <a:schemeClr val="tx1"/>
              </a:buClr>
              <a:buFont typeface="Amazon Ember" panose="020B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9pPr>
          </a:lstStyle>
          <a:p>
            <a:endParaRPr lang="en-US" sz="750" dirty="0">
              <a:solidFill>
                <a:schemeClr val="tx2"/>
              </a:solidFill>
            </a:endParaRPr>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6696900" y="4717125"/>
            <a:ext cx="2057400" cy="273844"/>
          </a:xfrm>
          <a:prstGeom prst="rect">
            <a:avLst/>
          </a:prstGeom>
        </p:spPr>
        <p:txBody>
          <a:bodyPr vert="horz" lIns="91440" tIns="45720" rIns="91440" bIns="45720" rtlCol="0" anchor="ctr"/>
          <a:lstStyle>
            <a:lvl1pPr algn="r">
              <a:defRPr sz="675">
                <a:solidFill>
                  <a:schemeClr val="tx2"/>
                </a:solidFill>
              </a:defRPr>
            </a:lvl1pPr>
          </a:lstStyle>
          <a:p>
            <a:fld id="{C5EF2332-01BF-834F-8236-50238282D533}" type="slidenum">
              <a:rPr lang="en-US" smtClean="0"/>
              <a:t>‹#›</a:t>
            </a:fld>
            <a:endParaRPr lang="en-US"/>
          </a:p>
        </p:txBody>
      </p:sp>
      <p:sp>
        <p:nvSpPr>
          <p:cNvPr id="13" name="TextBox 12">
            <a:extLst>
              <a:ext uri="{FF2B5EF4-FFF2-40B4-BE49-F238E27FC236}">
                <a16:creationId xmlns:a16="http://schemas.microsoft.com/office/drawing/2014/main" id="{123D8171-6606-4DC3-AA28-D2EE5F0EC812}"/>
              </a:ext>
            </a:extLst>
          </p:cNvPr>
          <p:cNvSpPr txBox="1"/>
          <p:nvPr/>
        </p:nvSpPr>
        <p:spPr>
          <a:xfrm>
            <a:off x="855814" y="4792360"/>
            <a:ext cx="2981907" cy="161583"/>
          </a:xfrm>
          <a:prstGeom prst="rect">
            <a:avLst/>
          </a:prstGeom>
          <a:noFill/>
        </p:spPr>
        <p:txBody>
          <a:bodyPr wrap="none" rtlCol="0">
            <a:spAutoFit/>
          </a:bodyPr>
          <a:lstStyle/>
          <a:p>
            <a:pPr algn="l"/>
            <a:r>
              <a:rPr lang="en-US" sz="450" dirty="0">
                <a:solidFill>
                  <a:schemeClr val="tx2"/>
                </a:solidFill>
              </a:rPr>
              <a:t>© </a:t>
            </a:r>
            <a:fld id="{C09C7244-04FA-4945-8501-81AE75998B9F}" type="datetimeyyyy">
              <a:rPr lang="en-US" sz="450" smtClean="0">
                <a:solidFill>
                  <a:schemeClr val="tx2"/>
                </a:solidFill>
              </a:rPr>
              <a:t>2026</a:t>
            </a:fld>
            <a:r>
              <a:rPr lang="en-US" sz="450" dirty="0">
                <a:solidFill>
                  <a:schemeClr val="tx2"/>
                </a:solidFill>
              </a:rPr>
              <a:t>, Amazon Web Services, Inc. or its affiliates. All rights reserved. Amazon Confidential and Trademark.</a:t>
            </a:r>
          </a:p>
        </p:txBody>
      </p:sp>
      <p:pic>
        <p:nvPicPr>
          <p:cNvPr id="8" name="Picture 7">
            <a:extLst>
              <a:ext uri="{FF2B5EF4-FFF2-40B4-BE49-F238E27FC236}">
                <a16:creationId xmlns:a16="http://schemas.microsoft.com/office/drawing/2014/main" id="{467F50F9-4909-422B-A8DD-8362E9484737}"/>
              </a:ext>
            </a:extLst>
          </p:cNvPr>
          <p:cNvPicPr>
            <a:picLocks noChangeAspect="1"/>
          </p:cNvPicPr>
          <p:nvPr/>
        </p:nvPicPr>
        <p:blipFill>
          <a:blip r:embed="rId93">
            <a:extLst>
              <a:ext uri="{28A0092B-C50C-407E-A947-70E740481C1C}">
                <a14:useLocalDpi xmlns:a14="http://schemas.microsoft.com/office/drawing/2010/main" val="0"/>
              </a:ext>
            </a:extLst>
          </a:blip>
          <a:srcRect/>
          <a:stretch/>
        </p:blipFill>
        <p:spPr>
          <a:xfrm>
            <a:off x="446471" y="4753622"/>
            <a:ext cx="274320" cy="164045"/>
          </a:xfrm>
          <a:prstGeom prst="rect">
            <a:avLst/>
          </a:prstGeom>
        </p:spPr>
      </p:pic>
    </p:spTree>
    <p:extLst>
      <p:ext uri="{BB962C8B-B14F-4D97-AF65-F5344CB8AC3E}">
        <p14:creationId xmlns:p14="http://schemas.microsoft.com/office/powerpoint/2010/main" val="2033557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400" b="1" i="0" kern="1200" baseline="0">
          <a:solidFill>
            <a:schemeClr val="tx2"/>
          </a:solidFill>
          <a:latin typeface="Amazon Ember Display" panose="020F0603020204020204" pitchFamily="34" charset="0"/>
          <a:ea typeface="+mj-ea"/>
          <a:cs typeface="+mj-cs"/>
        </a:defRPr>
      </a:lvl1pPr>
    </p:titleStyle>
    <p:bodyStyle>
      <a:lvl1pPr marL="171450" indent="-171450" algn="l" defTabSz="685800" rtl="0" eaLnBrk="1" latinLnBrk="0" hangingPunct="1">
        <a:lnSpc>
          <a:spcPct val="90000"/>
        </a:lnSpc>
        <a:spcBef>
          <a:spcPts val="0"/>
        </a:spcBef>
        <a:spcAft>
          <a:spcPts val="900"/>
        </a:spcAft>
        <a:buSzPct val="90000"/>
        <a:buFont typeface="Arial" panose="020B0604020202020204" pitchFamily="34" charset="0"/>
        <a:buChar char="•"/>
        <a:defRPr sz="2100" kern="1200" baseline="0">
          <a:solidFill>
            <a:schemeClr val="tx2"/>
          </a:solidFill>
          <a:latin typeface="Amazon Ember Display" panose="020F0603020204020204" pitchFamily="34" charset="0"/>
          <a:ea typeface="+mn-ea"/>
          <a:cs typeface="+mn-cs"/>
        </a:defRPr>
      </a:lvl1pPr>
      <a:lvl2pPr marL="385763" indent="-171450" algn="l" defTabSz="685800" rtl="0" eaLnBrk="1" latinLnBrk="0" hangingPunct="1">
        <a:lnSpc>
          <a:spcPct val="90000"/>
        </a:lnSpc>
        <a:spcBef>
          <a:spcPts val="0"/>
        </a:spcBef>
        <a:spcAft>
          <a:spcPts val="900"/>
        </a:spcAft>
        <a:buSzPct val="90000"/>
        <a:buFont typeface="Wingdings" panose="05000000000000000000" pitchFamily="2" charset="2"/>
        <a:buChar char="§"/>
        <a:defRPr sz="1800" kern="1200" baseline="0">
          <a:solidFill>
            <a:schemeClr val="tx2"/>
          </a:solidFill>
          <a:latin typeface="Amazon Ember Display" panose="020F0603020204020204" pitchFamily="34" charset="0"/>
          <a:ea typeface="+mn-ea"/>
          <a:cs typeface="+mn-cs"/>
        </a:defRPr>
      </a:lvl2pPr>
      <a:lvl3pPr marL="642938" indent="-171450" algn="l" defTabSz="685800" rtl="0" eaLnBrk="1" latinLnBrk="0" hangingPunct="1">
        <a:lnSpc>
          <a:spcPct val="90000"/>
        </a:lnSpc>
        <a:spcBef>
          <a:spcPts val="0"/>
        </a:spcBef>
        <a:spcAft>
          <a:spcPts val="900"/>
        </a:spcAft>
        <a:buFont typeface="Amazon Ember" panose="020B0603020204020204" pitchFamily="34" charset="0"/>
        <a:buChar char="–"/>
        <a:defRPr sz="1500" kern="1200" baseline="0">
          <a:solidFill>
            <a:schemeClr val="tx2"/>
          </a:solidFill>
          <a:latin typeface="Amazon Ember Display" panose="020F0603020204020204" pitchFamily="34" charset="0"/>
          <a:ea typeface="+mn-ea"/>
          <a:cs typeface="+mn-cs"/>
        </a:defRPr>
      </a:lvl3pPr>
      <a:lvl4pPr marL="772716" indent="-128588" algn="l" defTabSz="685800" rtl="0" eaLnBrk="1" latinLnBrk="0" hangingPunct="1">
        <a:lnSpc>
          <a:spcPct val="90000"/>
        </a:lnSpc>
        <a:spcBef>
          <a:spcPts val="0"/>
        </a:spcBef>
        <a:spcAft>
          <a:spcPts val="900"/>
        </a:spcAft>
        <a:buFont typeface="Arial" panose="020B0604020202020204" pitchFamily="34" charset="0"/>
        <a:buChar char="•"/>
        <a:defRPr sz="1350" kern="1200" baseline="0">
          <a:solidFill>
            <a:schemeClr val="tx2"/>
          </a:solidFill>
          <a:latin typeface="Amazon Ember Display" panose="020F0603020204020204" pitchFamily="34" charset="0"/>
          <a:ea typeface="+mn-ea"/>
          <a:cs typeface="+mn-cs"/>
        </a:defRPr>
      </a:lvl4pPr>
      <a:lvl5pPr marL="901304" indent="-128588" algn="l" defTabSz="685800" rtl="0" eaLnBrk="1" latinLnBrk="0" hangingPunct="1">
        <a:lnSpc>
          <a:spcPct val="90000"/>
        </a:lnSpc>
        <a:spcBef>
          <a:spcPts val="0"/>
        </a:spcBef>
        <a:spcAft>
          <a:spcPts val="900"/>
        </a:spcAft>
        <a:buFont typeface="Arial" panose="020B0604020202020204" pitchFamily="34" charset="0"/>
        <a:buChar char="•"/>
        <a:defRPr sz="1350" kern="1200" baseline="0">
          <a:solidFill>
            <a:schemeClr val="tx2"/>
          </a:solidFill>
          <a:latin typeface="Amazon Ember Display" panose="020F06030202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1.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1"/>
            <a:ext cx="8229600" cy="424732"/>
          </a:xfrm>
        </p:spPr>
        <p:txBody>
          <a:bodyPr wrap="square" anchor="t">
            <a:normAutofit/>
          </a:bodyPr>
          <a:lstStyle/>
          <a:p>
            <a:pPr marL="0" lvl="0" indent="0">
              <a:buNone/>
            </a:pPr>
            <a:r>
              <a:t>Teaching a Small LLM to Solve Math with RL</a:t>
            </a:r>
          </a:p>
        </p:txBody>
      </p:sp>
      <p:sp>
        <p:nvSpPr>
          <p:cNvPr id="9" name="Text Placeholder 2">
            <a:extLst>
              <a:ext uri="{FF2B5EF4-FFF2-40B4-BE49-F238E27FC236}">
                <a16:creationId xmlns:a16="http://schemas.microsoft.com/office/drawing/2014/main" id="{D4EE97D7-6547-B0D7-9AE2-2E62F649307A}"/>
              </a:ext>
            </a:extLst>
          </p:cNvPr>
          <p:cNvSpPr>
            <a:spLocks noGrp="1"/>
          </p:cNvSpPr>
          <p:nvPr>
            <p:ph type="body" sz="quarter" idx="10"/>
          </p:nvPr>
        </p:nvSpPr>
        <p:spPr>
          <a:xfrm>
            <a:off x="457200" y="1092776"/>
            <a:ext cx="8229600" cy="216982"/>
          </a:xfrm>
        </p:spPr>
        <p:txBody>
          <a:bodyPr/>
          <a:lstStyle/>
          <a:p>
            <a:r>
              <a:rPr lang="en-US" dirty="0"/>
              <a:t>GRPO Training on GSM8K — From Scratch to Production</a:t>
            </a:r>
          </a:p>
        </p:txBody>
      </p:sp>
      <p:sp>
        <p:nvSpPr>
          <p:cNvPr id="3" name="Subtitle 2"/>
          <p:cNvSpPr>
            <a:spLocks noGrp="1"/>
          </p:cNvSpPr>
          <p:nvPr>
            <p:ph idx="1"/>
          </p:nvPr>
        </p:nvSpPr>
        <p:spPr>
          <a:xfrm>
            <a:off x="457200" y="1485900"/>
            <a:ext cx="8229600" cy="2628900"/>
          </a:xfrm>
        </p:spPr>
        <p:txBody>
          <a:bodyPr wrap="square">
            <a:normAutofit/>
          </a:bodyPr>
          <a:lstStyle/>
          <a:p>
            <a:pPr marL="0" lvl="0" indent="0">
              <a:buNone/>
            </a:pPr>
            <a:br>
              <a:rPr lang="en-US" sz="1800" dirty="0"/>
            </a:br>
            <a:br>
              <a:rPr lang="en-US" sz="1800" dirty="0"/>
            </a:br>
            <a:r>
              <a:rPr lang="en-US" sz="1800" dirty="0"/>
              <a:t>Harish Rao, SA</a:t>
            </a:r>
          </a:p>
        </p:txBody>
      </p:sp>
      <p:sp>
        <p:nvSpPr>
          <p:cNvPr id="4" name="Date Placeholder 3"/>
          <p:cNvSpPr>
            <a:spLocks noGrp="1"/>
          </p:cNvSpPr>
          <p:nvPr>
            <p:ph type="dt" sz="half" idx="4294967295"/>
          </p:nvPr>
        </p:nvSpPr>
        <p:spPr/>
        <p:txBody>
          <a:bodyPr/>
          <a:lstStyle/>
          <a:p>
            <a:pPr marL="0" lvl="0" indent="0">
              <a:spcAft>
                <a:spcPts val="600"/>
              </a:spcAft>
              <a:buNone/>
            </a:pPr>
            <a:r>
              <a:rPr dirty="0"/>
              <a:t>February 2026</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The Punchline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1614801"/>
          </a:xfrm>
        </p:spPr>
        <p:txBody>
          <a:bodyPr/>
          <a:lstStyle/>
          <a:p>
            <a:pPr marL="0" lvl="0" indent="0">
              <a:buNone/>
            </a:pPr>
            <a:r>
              <a:rPr dirty="0"/>
              <a:t>A </a:t>
            </a:r>
            <a:r>
              <a:rPr lang="en-US" dirty="0"/>
              <a:t>QWEN </a:t>
            </a:r>
            <a:r>
              <a:rPr dirty="0"/>
              <a:t>1.5B parameter model with </a:t>
            </a:r>
            <a:r>
              <a:rPr b="1" dirty="0"/>
              <a:t>15% base accuracy</a:t>
            </a:r>
            <a:r>
              <a:rPr dirty="0"/>
              <a:t> → </a:t>
            </a:r>
            <a:r>
              <a:rPr b="1" dirty="0"/>
              <a:t>77% accuracy</a:t>
            </a:r>
            <a:r>
              <a:rPr dirty="0"/>
              <a:t> after just 35 minutes of RL training.</a:t>
            </a:r>
          </a:p>
          <a:p>
            <a:pPr marL="0" lvl="0" indent="0">
              <a:buNone/>
            </a:pPr>
            <a:r>
              <a:rPr dirty="0"/>
              <a:t>A </a:t>
            </a:r>
            <a:r>
              <a:rPr lang="en-US" dirty="0"/>
              <a:t>QWEN </a:t>
            </a:r>
            <a:r>
              <a:rPr dirty="0"/>
              <a:t>7B model → </a:t>
            </a:r>
            <a:r>
              <a:rPr b="1" dirty="0"/>
              <a:t>88% accuracy</a:t>
            </a:r>
            <a:r>
              <a:rPr dirty="0"/>
              <a:t> in 83 minutes.</a:t>
            </a:r>
          </a:p>
          <a:p>
            <a:pPr marL="0" lvl="0" indent="0">
              <a:buNone/>
            </a:pPr>
            <a:r>
              <a:rPr dirty="0"/>
              <a:t>No human-written solutions. Just a binary signal: </a:t>
            </a:r>
            <a:r>
              <a:rPr i="1" dirty="0"/>
              <a:t>right or wrong</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rPr dirty="0"/>
              <a:t>What is Reinforcement Learning?</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457200" y="1285875"/>
            <a:ext cx="8229600" cy="2487348"/>
          </a:xfrm>
        </p:spPr>
        <p:txBody>
          <a:bodyPr/>
          <a:lstStyle/>
          <a:p>
            <a:pPr lvl="0"/>
            <a:r>
              <a:rPr b="1" dirty="0"/>
              <a:t>Reinforcement learning</a:t>
            </a:r>
            <a:r>
              <a:rPr dirty="0"/>
              <a:t>: here’s the question, try something, I’ll tell you if it worked — figure out how to get it right</a:t>
            </a:r>
          </a:p>
          <a:p>
            <a:pPr marL="0" lvl="0" indent="0">
              <a:buNone/>
            </a:pPr>
            <a:r>
              <a:rPr dirty="0"/>
              <a:t>The model explores on its own, gets a reward signal (right/wrong), and gradually improves. No hand-crafted solutions needed — just a way to check the answer.</a:t>
            </a:r>
            <a:endParaRPr lang="en-US" dirty="0"/>
          </a:p>
          <a:p>
            <a:r>
              <a:rPr lang="en-US" b="1" dirty="0"/>
              <a:t>Supervised learning</a:t>
            </a:r>
            <a:r>
              <a:rPr lang="en-US" dirty="0"/>
              <a:t>: here’s the question, here’s the correct answer — learn to copy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457200" y="688183"/>
            <a:ext cx="8229600" cy="424732"/>
          </a:xfrm>
        </p:spPr>
        <p:txBody>
          <a:bodyPr wrap="square" anchor="t">
            <a:normAutofit/>
          </a:bodyPr>
          <a:lstStyle/>
          <a:p>
            <a:pPr marL="0" lvl="0" indent="0">
              <a:buNone/>
            </a:pPr>
            <a:r>
              <a:t>Where RL Fits in LLM Training</a:t>
            </a:r>
          </a:p>
        </p:txBody>
      </p:sp>
      <p:sp>
        <p:nvSpPr>
          <p:cNvPr id="5" name="TextBox 3"/>
          <p:cNvSpPr txBox="1">
            <a:spLocks noGrp="1"/>
          </p:cNvSpPr>
          <p:nvPr>
            <p:ph type="body" idx="1"/>
          </p:nvPr>
        </p:nvSpPr>
        <p:spPr>
          <a:xfrm>
            <a:off x="457199" y="1307735"/>
            <a:ext cx="3936492" cy="300082"/>
          </a:xfrm>
        </p:spPr>
        <p:txBody>
          <a:bodyPr wrap="square" anchor="t">
            <a:normAutofit/>
          </a:bodyPr>
          <a:lstStyle/>
          <a:p>
            <a:pPr marL="0" lvl="0" indent="0">
              <a:buNone/>
            </a:pPr>
            <a:r>
              <a:rPr lang="en-US"/>
              <a:t>RL in the LLM training pipeline</a:t>
            </a:r>
          </a:p>
        </p:txBody>
      </p:sp>
      <p:pic>
        <p:nvPicPr>
          <p:cNvPr id="4" name="Picture 1" descr="RL_context.png"/>
          <p:cNvPicPr>
            <a:picLocks noGrp="1" noChangeAspect="1"/>
          </p:cNvPicPr>
          <p:nvPr/>
        </p:nvPicPr>
        <p:blipFill>
          <a:blip r:embed="rId3"/>
          <a:stretch>
            <a:fillRect/>
          </a:stretch>
        </p:blipFill>
        <p:spPr bwMode="auto">
          <a:xfrm>
            <a:off x="457200" y="1965008"/>
            <a:ext cx="3937000" cy="1791334"/>
          </a:xfrm>
          <a:prstGeom prst="rect">
            <a:avLst/>
          </a:prstGeom>
          <a:noFill/>
          <a:ln w="9525">
            <a:noFill/>
            <a:headEnd/>
            <a:tailEnd/>
          </a:ln>
        </p:spPr>
      </p:pic>
      <p:sp>
        <p:nvSpPr>
          <p:cNvPr id="10" name="Text Placeholder 4">
            <a:extLst>
              <a:ext uri="{FF2B5EF4-FFF2-40B4-BE49-F238E27FC236}">
                <a16:creationId xmlns:a16="http://schemas.microsoft.com/office/drawing/2014/main" id="{CA7FDBB8-474A-00D1-719F-6AFA3FEB9184}"/>
              </a:ext>
            </a:extLst>
          </p:cNvPr>
          <p:cNvSpPr>
            <a:spLocks noGrp="1"/>
          </p:cNvSpPr>
          <p:nvPr>
            <p:ph type="body" sz="quarter" idx="3"/>
          </p:nvPr>
        </p:nvSpPr>
        <p:spPr>
          <a:xfrm>
            <a:off x="4750594" y="1307735"/>
            <a:ext cx="3936492" cy="300082"/>
          </a:xfrm>
        </p:spPr>
        <p:txBody>
          <a:bodyPr/>
          <a:lstStyle/>
          <a:p>
            <a:endParaRPr lang="en-US"/>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sz="quarter" idx="4" hasCustomPrompt="1"/>
          </p:nvPr>
        </p:nvSpPr>
        <p:spPr>
          <a:xfrm>
            <a:off x="4750594" y="1606165"/>
            <a:ext cx="3935412" cy="2508250"/>
          </a:xfrm>
        </p:spPr>
        <p:txBody>
          <a:bodyPr wrap="square">
            <a:normAutofit/>
          </a:bodyPr>
          <a:lstStyle/>
          <a:p>
            <a:pPr lvl="0"/>
            <a:r>
              <a:rPr lang="en-US" sz="1500" b="1"/>
              <a:t>Instruction fine-tuning</a:t>
            </a:r>
            <a:r>
              <a:rPr lang="en-US" sz="1500"/>
              <a:t> teaches the model to follow instructions (“Summarize this text…”)</a:t>
            </a:r>
          </a:p>
          <a:p>
            <a:pPr lvl="0"/>
            <a:r>
              <a:rPr lang="en-US" sz="1500" b="1"/>
              <a:t>RL with verifiable rewards (RLVR)</a:t>
            </a:r>
            <a:r>
              <a:rPr lang="en-US" sz="1500"/>
              <a:t> trains on answer correctness — math, code, factual questions</a:t>
            </a:r>
          </a:p>
          <a:p>
            <a:pPr lvl="0"/>
            <a:r>
              <a:rPr lang="en-US" sz="1500" b="1"/>
              <a:t>RL with human feedback (RLHF)</a:t>
            </a:r>
            <a:r>
              <a:rPr lang="en-US" sz="1500"/>
              <a:t> trains on human preferences — clarity, safety, tone</a:t>
            </a:r>
          </a:p>
          <a:p>
            <a:pPr marL="0" lvl="0" indent="0">
              <a:buNone/>
            </a:pPr>
            <a:r>
              <a:rPr lang="en-US" sz="1500"/>
              <a:t>Our work lives in the </a:t>
            </a:r>
            <a:r>
              <a:rPr lang="en-US" sz="1500" b="1"/>
              <a:t>RLVR</a:t>
            </a:r>
            <a:r>
              <a:rPr lang="en-US" sz="1500"/>
              <a:t> box: binary reward (right/wrong answer), no human feedback needed.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The Goal</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marL="0" lvl="0" indent="0">
              <a:buNone/>
            </a:pPr>
            <a:r>
              <a:t>Train Qwen2.5-1.5B / 7B on GSM8K math reasoning using </a:t>
            </a:r>
            <a:r>
              <a:rPr b="1"/>
              <a:t>GRPO</a:t>
            </a:r>
            <a:r>
              <a:t> (DeepSeek-R1).</a:t>
            </a:r>
          </a:p>
          <a:p>
            <a:pPr lvl="0"/>
            <a:r>
              <a:rPr b="1"/>
              <a:t>Dataset</a:t>
            </a:r>
            <a:r>
              <a:t>: GSM8K — 7,473 train / 1,319 test, binary reward (correct = 1.0)</a:t>
            </a:r>
          </a:p>
          <a:p>
            <a:pPr lvl="0"/>
            <a:r>
              <a:rPr b="1"/>
              <a:t>Infrastructure</a:t>
            </a:r>
            <a:r>
              <a:t>: EKS, 2× p4d.24xlarge (16× A100 40GB)</a:t>
            </a:r>
          </a:p>
          <a:p>
            <a:pPr lvl="0"/>
            <a:r>
              <a:rPr b="1"/>
              <a:t>Two approaches</a:t>
            </a:r>
            <a:r>
              <a:t>: Hand-rolled GRPO trainer (learning exercise) → veRL framework (production)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GRPO Setup</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rPr b="1"/>
              <a:t>GSM8K example:</a:t>
            </a:r>
          </a:p>
          <a:p>
            <a:pPr marL="0" lvl="0" indent="0">
              <a:buNone/>
            </a:pPr>
            <a:r>
              <a:rPr b="1"/>
              <a:t>Q:</a:t>
            </a:r>
            <a:r>
              <a:t> Janet’s ducks lay 16 eggs per day. She eats three for breakfast and bakes muffins with four. She sells the rest for $2 each. How much does she make daily?</a:t>
            </a:r>
          </a:p>
          <a:p>
            <a:pPr marL="0" lvl="0" indent="0">
              <a:buNone/>
            </a:pPr>
            <a:r>
              <a:rPr b="1"/>
              <a:t>A:</a:t>
            </a:r>
            <a:r>
              <a:t> 16 - 3 - 4 = 9 eggs. 9 × $2 = $18. </a:t>
            </a:r>
            <a:r>
              <a:rPr b="1"/>
              <a:t>#### 18</a:t>
            </a:r>
            <a:r>
              <a:t> — we only use this final number</a:t>
            </a:r>
          </a:p>
        </p:txBody>
      </p:sp>
      <p:pic>
        <p:nvPicPr>
          <p:cNvPr id="3" name="Picture 1" descr="grpo_rl_loop.png"/>
          <p:cNvPicPr>
            <a:picLocks noGrp="1" noChangeAspect="1"/>
          </p:cNvPicPr>
          <p:nvPr/>
        </p:nvPicPr>
        <p:blipFill>
          <a:blip r:embed="rId3"/>
          <a:stretch>
            <a:fillRect/>
          </a:stretch>
        </p:blipFill>
        <p:spPr bwMode="auto">
          <a:xfrm>
            <a:off x="4648200" y="1473200"/>
            <a:ext cx="4025900" cy="1587500"/>
          </a:xfrm>
          <a:prstGeom prst="rect">
            <a:avLst/>
          </a:prstGeom>
          <a:noFill/>
          <a:ln w="9525">
            <a:noFill/>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How GRPO Works</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lvl="0"/>
            <a:r>
              <a:rPr b="1"/>
              <a:t>No critic needed</a:t>
            </a:r>
            <a:r>
              <a:t> — compare each attempt against the group average, not a learned value function</a:t>
            </a:r>
          </a:p>
          <a:p>
            <a:pPr lvl="0"/>
            <a:r>
              <a:rPr b="1"/>
              <a:t>8 attempts per problem</a:t>
            </a:r>
            <a:r>
              <a:t> — winners get reinforced, losers get penalized</a:t>
            </a:r>
          </a:p>
          <a:p>
            <a:pPr lvl="0"/>
            <a:r>
              <a:rPr b="1"/>
              <a:t>Clipping + KL penalty</a:t>
            </a:r>
            <a:r>
              <a:t> — prevent the model from changing too much in one step</a:t>
            </a:r>
          </a:p>
          <a:p>
            <a:pPr lvl="0"/>
            <a:r>
              <a:rPr b="1"/>
              <a:t>No human solutions needed</a:t>
            </a:r>
            <a:r>
              <a:t> — only check the final number, model discovers its own reasoning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GRPO — Custom Trainer Data Flow</a:t>
            </a:r>
          </a:p>
        </p:txBody>
      </p:sp>
      <p:pic>
        <p:nvPicPr>
          <p:cNvPr id="3" name="Picture 1" descr="grpo_overview_custom.png"/>
          <p:cNvPicPr>
            <a:picLocks noGrp="1" noChangeAspect="1"/>
          </p:cNvPicPr>
          <p:nvPr/>
        </p:nvPicPr>
        <p:blipFill>
          <a:blip r:embed="rId3"/>
          <a:stretch>
            <a:fillRect/>
          </a:stretch>
        </p:blipFill>
        <p:spPr bwMode="auto">
          <a:xfrm>
            <a:off x="4178300" y="1282700"/>
            <a:ext cx="787400" cy="193040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Two Approaches</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Built custom trainer first to learn GRPO internals, then switched to veRL for production.</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Custom Trainer</a:t>
                      </a:r>
                    </a:p>
                  </a:txBody>
                  <a:tcPr/>
                </a:tc>
                <a:tc>
                  <a:txBody>
                    <a:bodyPr/>
                    <a:lstStyle/>
                    <a:p>
                      <a:pPr marL="0" lvl="0" indent="0">
                        <a:buNone/>
                      </a:pPr>
                      <a:r>
                        <a:t>veRL Framework</a:t>
                      </a:r>
                    </a:p>
                  </a:txBody>
                  <a:tcPr/>
                </a:tc>
                <a:extLst>
                  <a:ext uri="{0D108BD9-81ED-4DB2-BD59-A6C34878D82A}">
                    <a16:rowId xmlns:a16="http://schemas.microsoft.com/office/drawing/2014/main" val="10000"/>
                  </a:ext>
                </a:extLst>
              </a:tr>
              <a:tr h="0">
                <a:tc>
                  <a:txBody>
                    <a:bodyPr/>
                    <a:lstStyle/>
                    <a:p>
                      <a:pPr marL="0" lvl="0" indent="0">
                        <a:buNone/>
                      </a:pPr>
                      <a:r>
                        <a:t>Code</a:t>
                      </a:r>
                    </a:p>
                  </a:txBody>
                  <a:tcPr/>
                </a:tc>
                <a:tc>
                  <a:txBody>
                    <a:bodyPr/>
                    <a:lstStyle/>
                    <a:p>
                      <a:pPr marL="0" lvl="0" indent="0">
                        <a:buNone/>
                      </a:pPr>
                      <a:r>
                        <a:t>~800 lines, hand-rolled</a:t>
                      </a:r>
                    </a:p>
                  </a:txBody>
                  <a:tcPr/>
                </a:tc>
                <a:tc>
                  <a:txBody>
                    <a:bodyPr/>
                    <a:lstStyle/>
                    <a:p>
                      <a:pPr marL="0" lvl="0" indent="0">
                        <a:buNone/>
                      </a:pPr>
                      <a:r>
                        <a:t>~50 lines config</a:t>
                      </a:r>
                    </a:p>
                  </a:txBody>
                  <a:tcPr/>
                </a:tc>
                <a:extLst>
                  <a:ext uri="{0D108BD9-81ED-4DB2-BD59-A6C34878D82A}">
                    <a16:rowId xmlns:a16="http://schemas.microsoft.com/office/drawing/2014/main" val="10001"/>
                  </a:ext>
                </a:extLst>
              </a:tr>
              <a:tr h="0">
                <a:tc>
                  <a:txBody>
                    <a:bodyPr/>
                    <a:lstStyle/>
                    <a:p>
                      <a:pPr marL="0" lvl="0" indent="0">
                        <a:buNone/>
                      </a:pPr>
                      <a:r>
                        <a:t>Debug time</a:t>
                      </a:r>
                    </a:p>
                  </a:txBody>
                  <a:tcPr/>
                </a:tc>
                <a:tc>
                  <a:txBody>
                    <a:bodyPr/>
                    <a:lstStyle/>
                    <a:p>
                      <a:pPr marL="0" lvl="0" indent="0">
                        <a:buNone/>
                      </a:pPr>
                      <a:r>
                        <a:t>12 hours, 5 attempts</a:t>
                      </a:r>
                    </a:p>
                  </a:txBody>
                  <a:tcPr/>
                </a:tc>
                <a:tc>
                  <a:txBody>
                    <a:bodyPr/>
                    <a:lstStyle/>
                    <a:p>
                      <a:pPr marL="0" lvl="0" indent="0">
                        <a:buNone/>
                      </a:pPr>
                      <a:r>
                        <a:t>Worked first try</a:t>
                      </a:r>
                    </a:p>
                  </a:txBody>
                  <a:tcPr/>
                </a:tc>
                <a:extLst>
                  <a:ext uri="{0D108BD9-81ED-4DB2-BD59-A6C34878D82A}">
                    <a16:rowId xmlns:a16="http://schemas.microsoft.com/office/drawing/2014/main" val="10002"/>
                  </a:ext>
                </a:extLst>
              </a:tr>
              <a:tr h="0">
                <a:tc>
                  <a:txBody>
                    <a:bodyPr/>
                    <a:lstStyle/>
                    <a:p>
                      <a:pPr marL="0" lvl="0" indent="0">
                        <a:buNone/>
                      </a:pPr>
                      <a:r>
                        <a:t>Throughput</a:t>
                      </a:r>
                    </a:p>
                  </a:txBody>
                  <a:tcPr/>
                </a:tc>
                <a:tc>
                  <a:txBody>
                    <a:bodyPr/>
                    <a:lstStyle/>
                    <a:p>
                      <a:pPr marL="0" lvl="0" indent="0">
                        <a:buNone/>
                      </a:pPr>
                      <a:r>
                        <a:t>2,304 seq/hr</a:t>
                      </a:r>
                    </a:p>
                  </a:txBody>
                  <a:tcPr/>
                </a:tc>
                <a:tc>
                  <a:txBody>
                    <a:bodyPr/>
                    <a:lstStyle/>
                    <a:p>
                      <a:pPr marL="0" lvl="0" indent="0">
                        <a:buNone/>
                      </a:pPr>
                      <a:r>
                        <a:t>104,448 seq/hr</a:t>
                      </a:r>
                    </a:p>
                  </a:txBody>
                  <a:tcPr/>
                </a:tc>
                <a:extLst>
                  <a:ext uri="{0D108BD9-81ED-4DB2-BD59-A6C34878D82A}">
                    <a16:rowId xmlns:a16="http://schemas.microsoft.com/office/drawing/2014/main" val="10003"/>
                  </a:ext>
                </a:extLst>
              </a:tr>
              <a:tr h="0">
                <a:tc>
                  <a:txBody>
                    <a:bodyPr/>
                    <a:lstStyle/>
                    <a:p>
                      <a:pPr marL="0" lvl="0" indent="0">
                        <a:buNone/>
                      </a:pPr>
                      <a:r>
                        <a:t>1 epoch</a:t>
                      </a:r>
                    </a:p>
                  </a:txBody>
                  <a:tcPr/>
                </a:tc>
                <a:tc>
                  <a:txBody>
                    <a:bodyPr/>
                    <a:lstStyle/>
                    <a:p>
                      <a:pPr marL="0" lvl="0" indent="0">
                        <a:buNone/>
                      </a:pPr>
                      <a:r>
                        <a:t>~26 hours</a:t>
                      </a:r>
                    </a:p>
                  </a:txBody>
                  <a:tcPr/>
                </a:tc>
                <a:tc>
                  <a:txBody>
                    <a:bodyPr/>
                    <a:lstStyle/>
                    <a:p>
                      <a:pPr marL="0" lvl="0" indent="0">
                        <a:buNone/>
                      </a:pPr>
                      <a:r>
                        <a:rPr b="1"/>
                        <a:t>35 minutes</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Experiment 1: Custom Trainer — The Journey</a:t>
            </a:r>
          </a:p>
        </p:txBody>
      </p:sp>
      <p:pic>
        <p:nvPicPr>
          <p:cNvPr id="3" name="Picture 1" descr="custom_trainer_architecture.png"/>
          <p:cNvPicPr>
            <a:picLocks noGrp="1" noChangeAspect="1"/>
          </p:cNvPicPr>
          <p:nvPr/>
        </p:nvPicPr>
        <p:blipFill>
          <a:blip r:embed="rId3"/>
          <a:stretch>
            <a:fillRect/>
          </a:stretch>
        </p:blipFill>
        <p:spPr bwMode="auto">
          <a:xfrm>
            <a:off x="3340100" y="1282700"/>
            <a:ext cx="2463800" cy="19304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Attempt 1: OOM Immediately</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lvl="0"/>
            <a:r>
              <a:t>batch_size=8, group_size=8 → 64 sequences/step</a:t>
            </a:r>
          </a:p>
          <a:p>
            <a:pPr lvl="0"/>
            <a:r>
              <a:t>Rank 0 holds FSDP shard + full generation model</a:t>
            </a:r>
          </a:p>
          <a:p>
            <a:pPr lvl="0"/>
            <a:r>
              <a:rPr b="1"/>
              <a:t>Crashed on step 1</a:t>
            </a:r>
            <a:r>
              <a:t> — GPU 0 out of memory</a:t>
            </a:r>
          </a:p>
          <a:p>
            <a:pPr marL="0" lvl="0" indent="0">
              <a:buNone/>
            </a:pPr>
            <a:r>
              <a:t>Fix: Reduce batch_size to 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Attempt 2: KL Explosion</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rPr b="1"/>
              <a:t>Root cause</a:t>
            </a:r>
            <a:r>
              <a:t>: Computing importance ratio on sequence-level summed log probs — </a:t>
            </a:r>
            <a:r>
              <a:rPr>
                <a:latin typeface="Courier"/>
              </a:rPr>
              <a:t>exp(sum of 200 token shifts)</a:t>
            </a:r>
            <a:r>
              <a:t> → exponential blowup.</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2006600">
                  <a:extLst>
                    <a:ext uri="{9D8B030D-6E8A-4147-A177-3AD203B41FA5}">
                      <a16:colId xmlns:a16="http://schemas.microsoft.com/office/drawing/2014/main" val="20000"/>
                    </a:ext>
                  </a:extLst>
                </a:gridCol>
                <a:gridCol w="2006600">
                  <a:extLst>
                    <a:ext uri="{9D8B030D-6E8A-4147-A177-3AD203B41FA5}">
                      <a16:colId xmlns:a16="http://schemas.microsoft.com/office/drawing/2014/main" val="20001"/>
                    </a:ext>
                  </a:extLst>
                </a:gridCol>
              </a:tblGrid>
              <a:tr h="0">
                <a:tc>
                  <a:txBody>
                    <a:bodyPr/>
                    <a:lstStyle/>
                    <a:p>
                      <a:pPr marL="0" lvl="0" indent="0">
                        <a:buNone/>
                      </a:pPr>
                      <a:r>
                        <a:t>Step</a:t>
                      </a:r>
                    </a:p>
                  </a:txBody>
                  <a:tcPr/>
                </a:tc>
                <a:tc>
                  <a:txBody>
                    <a:bodyPr/>
                    <a:lstStyle/>
                    <a:p>
                      <a:pPr marL="0" lvl="0" indent="0">
                        <a:buNone/>
                      </a:pPr>
                      <a:r>
                        <a:t>KL Divergence</a:t>
                      </a:r>
                    </a:p>
                  </a:txBody>
                  <a:tcPr/>
                </a:tc>
                <a:extLst>
                  <a:ext uri="{0D108BD9-81ED-4DB2-BD59-A6C34878D82A}">
                    <a16:rowId xmlns:a16="http://schemas.microsoft.com/office/drawing/2014/main" val="10000"/>
                  </a:ext>
                </a:extLst>
              </a:tr>
              <a:tr h="0">
                <a:tc>
                  <a:txBody>
                    <a:bodyPr/>
                    <a:lstStyle/>
                    <a:p>
                      <a:pPr marL="0" lvl="0" indent="0">
                        <a:buNone/>
                      </a:pPr>
                      <a:r>
                        <a:t>1</a:t>
                      </a:r>
                    </a:p>
                  </a:txBody>
                  <a:tcPr/>
                </a:tc>
                <a:tc>
                  <a:txBody>
                    <a:bodyPr/>
                    <a:lstStyle/>
                    <a:p>
                      <a:pPr marL="0" lvl="0" indent="0">
                        <a:buNone/>
                      </a:pPr>
                      <a:r>
                        <a:t>0.42</a:t>
                      </a:r>
                    </a:p>
                  </a:txBody>
                  <a:tcPr/>
                </a:tc>
                <a:extLst>
                  <a:ext uri="{0D108BD9-81ED-4DB2-BD59-A6C34878D82A}">
                    <a16:rowId xmlns:a16="http://schemas.microsoft.com/office/drawing/2014/main" val="10001"/>
                  </a:ext>
                </a:extLst>
              </a:tr>
              <a:tr h="0">
                <a:tc>
                  <a:txBody>
                    <a:bodyPr/>
                    <a:lstStyle/>
                    <a:p>
                      <a:pPr marL="0" lvl="0" indent="0">
                        <a:buNone/>
                      </a:pPr>
                      <a:r>
                        <a:t>2</a:t>
                      </a:r>
                    </a:p>
                  </a:txBody>
                  <a:tcPr/>
                </a:tc>
                <a:tc>
                  <a:txBody>
                    <a:bodyPr/>
                    <a:lstStyle/>
                    <a:p>
                      <a:pPr marL="0" lvl="0" indent="0">
                        <a:buNone/>
                      </a:pPr>
                      <a:r>
                        <a:rPr b="1"/>
                        <a:t>194.8</a:t>
                      </a:r>
                      <a:r>
                        <a:t> 💥</a:t>
                      </a:r>
                    </a:p>
                  </a:txBody>
                  <a:tcPr/>
                </a:tc>
                <a:extLst>
                  <a:ext uri="{0D108BD9-81ED-4DB2-BD59-A6C34878D82A}">
                    <a16:rowId xmlns:a16="http://schemas.microsoft.com/office/drawing/2014/main" val="10002"/>
                  </a:ext>
                </a:extLst>
              </a:tr>
              <a:tr h="0">
                <a:tc>
                  <a:txBody>
                    <a:bodyPr/>
                    <a:lstStyle/>
                    <a:p>
                      <a:pPr marL="0" lvl="0" indent="0">
                        <a:buNone/>
                      </a:pPr>
                      <a:r>
                        <a:t>3</a:t>
                      </a:r>
                    </a:p>
                  </a:txBody>
                  <a:tcPr/>
                </a:tc>
                <a:tc>
                  <a:txBody>
                    <a:bodyPr/>
                    <a:lstStyle/>
                    <a:p>
                      <a:pPr marL="0" lvl="0" indent="0">
                        <a:buNone/>
                      </a:pPr>
                      <a:r>
                        <a:t>OOM crash</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Attempt 2: The Fix</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marL="0" lvl="0" indent="0">
              <a:buNone/>
            </a:pPr>
            <a:r>
              <a:t>Per-token importance ratio instead of sequence-level:</a:t>
            </a:r>
          </a:p>
          <a:p>
            <a:pPr lvl="0" indent="0">
              <a:buNone/>
            </a:pPr>
            <a:r>
              <a:rPr>
                <a:latin typeface="Courier"/>
              </a:rPr>
              <a:t>Broken (sequence-level):
ratio = exp(-448 - (-450)) = exp(2.0) = 7.4  ← unstable
Fixed (per-token):
ratio = exp(0.01) = 1.01  ← stable</a:t>
            </a:r>
          </a:p>
          <a:p>
            <a:pPr marL="0" lvl="0" indent="0">
              <a:buNone/>
            </a:pPr>
            <a:r>
              <a:t>After fix: KL stayed at 0.0004–0.0009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Attempt 3: Too Slow</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lvl="0"/>
            <a:r>
              <a:t>Per-token fix worked — KL stable, no OOM</a:t>
            </a:r>
          </a:p>
          <a:p>
            <a:pPr lvl="0"/>
            <a:r>
              <a:t>But: </a:t>
            </a:r>
            <a:r>
              <a:rPr b="1"/>
              <a:t>5 min/step</a:t>
            </a:r>
            <a:r>
              <a:t>, 12 steps/hr</a:t>
            </a:r>
          </a:p>
          <a:p>
            <a:pPr lvl="0"/>
            <a:r>
              <a:t>1,868 total steps → </a:t>
            </a:r>
            <a:r>
              <a:rPr b="1"/>
              <a:t>156 hours</a:t>
            </a:r>
            <a:r>
              <a:t> for 1 epoch</a:t>
            </a:r>
          </a:p>
          <a:p>
            <a:pPr lvl="0"/>
            <a:r>
              <a:t>Capacity block: 32 hours</a:t>
            </a:r>
          </a:p>
          <a:p>
            <a:pPr marL="0" lvl="0" indent="0">
              <a:buNone/>
            </a:pPr>
            <a:r>
              <a:t>Problem: 32 sequential HuggingFace </a:t>
            </a:r>
            <a:r>
              <a:rPr>
                <a:latin typeface="Courier"/>
              </a:rPr>
              <a:t>model.generate()</a:t>
            </a:r>
            <a:r>
              <a:t> calls per step (one per rollout, no batching).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Attempt 4: Batched Generation</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Used </a:t>
            </a:r>
            <a:r>
              <a:rPr>
                <a:latin typeface="Courier"/>
              </a:rPr>
              <a:t>num_return_sequences=8</a:t>
            </a:r>
            <a:r>
              <a:t> in HuggingFace </a:t>
            </a:r>
            <a:r>
              <a:rPr>
                <a:latin typeface="Courier"/>
              </a:rPr>
              <a:t>model.generate()</a:t>
            </a:r>
            <a:r>
              <a:t> — generates all 8 completions per prompt in one call, sharing the KV cache.</a:t>
            </a:r>
          </a:p>
          <a:p>
            <a:pPr marL="0" lvl="0" indent="0">
              <a:buNone/>
            </a:pPr>
            <a:r>
              <a:t>4 generate calls instead of 32 → </a:t>
            </a:r>
            <a:r>
              <a:rPr b="1"/>
              <a:t>3× speedup</a:t>
            </a:r>
            <a:r>
              <a:t>.</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Before</a:t>
                      </a:r>
                    </a:p>
                  </a:txBody>
                  <a:tcPr/>
                </a:tc>
                <a:tc>
                  <a:txBody>
                    <a:bodyPr/>
                    <a:lstStyle/>
                    <a:p>
                      <a:pPr marL="0" lvl="0" indent="0">
                        <a:buNone/>
                      </a:pPr>
                      <a:r>
                        <a:t>After</a:t>
                      </a:r>
                    </a:p>
                  </a:txBody>
                  <a:tcPr/>
                </a:tc>
                <a:extLst>
                  <a:ext uri="{0D108BD9-81ED-4DB2-BD59-A6C34878D82A}">
                    <a16:rowId xmlns:a16="http://schemas.microsoft.com/office/drawing/2014/main" val="10000"/>
                  </a:ext>
                </a:extLst>
              </a:tr>
              <a:tr h="0">
                <a:tc>
                  <a:txBody>
                    <a:bodyPr/>
                    <a:lstStyle/>
                    <a:p>
                      <a:pPr marL="0" lvl="0" indent="0">
                        <a:buNone/>
                      </a:pPr>
                      <a:r>
                        <a:t>Step time</a:t>
                      </a:r>
                    </a:p>
                  </a:txBody>
                  <a:tcPr/>
                </a:tc>
                <a:tc>
                  <a:txBody>
                    <a:bodyPr/>
                    <a:lstStyle/>
                    <a:p>
                      <a:pPr marL="0" lvl="0" indent="0">
                        <a:buNone/>
                      </a:pPr>
                      <a:r>
                        <a:t>5 min</a:t>
                      </a:r>
                    </a:p>
                  </a:txBody>
                  <a:tcPr/>
                </a:tc>
                <a:tc>
                  <a:txBody>
                    <a:bodyPr/>
                    <a:lstStyle/>
                    <a:p>
                      <a:pPr marL="0" lvl="0" indent="0">
                        <a:buNone/>
                      </a:pPr>
                      <a:r>
                        <a:t>1.5 min</a:t>
                      </a:r>
                    </a:p>
                  </a:txBody>
                  <a:tcPr/>
                </a:tc>
                <a:extLst>
                  <a:ext uri="{0D108BD9-81ED-4DB2-BD59-A6C34878D82A}">
                    <a16:rowId xmlns:a16="http://schemas.microsoft.com/office/drawing/2014/main" val="10001"/>
                  </a:ext>
                </a:extLst>
              </a:tr>
              <a:tr h="0">
                <a:tc>
                  <a:txBody>
                    <a:bodyPr/>
                    <a:lstStyle/>
                    <a:p>
                      <a:pPr marL="0" lvl="0" indent="0">
                        <a:buNone/>
                      </a:pPr>
                      <a:r>
                        <a:t>Steps/hr</a:t>
                      </a:r>
                    </a:p>
                  </a:txBody>
                  <a:tcPr/>
                </a:tc>
                <a:tc>
                  <a:txBody>
                    <a:bodyPr/>
                    <a:lstStyle/>
                    <a:p>
                      <a:pPr marL="0" lvl="0" indent="0">
                        <a:buNone/>
                      </a:pPr>
                      <a:r>
                        <a:t>12</a:t>
                      </a:r>
                    </a:p>
                  </a:txBody>
                  <a:tcPr/>
                </a:tc>
                <a:tc>
                  <a:txBody>
                    <a:bodyPr/>
                    <a:lstStyle/>
                    <a:p>
                      <a:pPr marL="0" lvl="0" indent="0">
                        <a:buNone/>
                      </a:pPr>
                      <a:r>
                        <a:t>40</a:t>
                      </a:r>
                    </a:p>
                  </a:txBody>
                  <a:tcPr/>
                </a:tc>
                <a:extLst>
                  <a:ext uri="{0D108BD9-81ED-4DB2-BD59-A6C34878D82A}">
                    <a16:rowId xmlns:a16="http://schemas.microsoft.com/office/drawing/2014/main" val="10002"/>
                  </a:ext>
                </a:extLst>
              </a:tr>
              <a:tr h="0">
                <a:tc>
                  <a:txBody>
                    <a:bodyPr/>
                    <a:lstStyle/>
                    <a:p>
                      <a:pPr marL="0" lvl="0" indent="0">
                        <a:buNone/>
                      </a:pPr>
                      <a:r>
                        <a:t>1 epoch</a:t>
                      </a:r>
                    </a:p>
                  </a:txBody>
                  <a:tcPr/>
                </a:tc>
                <a:tc>
                  <a:txBody>
                    <a:bodyPr/>
                    <a:lstStyle/>
                    <a:p>
                      <a:pPr marL="0" lvl="0" indent="0">
                        <a:buNone/>
                      </a:pPr>
                      <a:r>
                        <a:t>156 hours</a:t>
                      </a:r>
                    </a:p>
                  </a:txBody>
                  <a:tcPr/>
                </a:tc>
                <a:tc>
                  <a:txBody>
                    <a:bodyPr/>
                    <a:lstStyle/>
                    <a:p>
                      <a:pPr marL="0" lvl="0" indent="0">
                        <a:buNone/>
                      </a:pPr>
                      <a:r>
                        <a:t>47 hours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Attempt 4: Training Progress</a:t>
            </a:r>
          </a:p>
        </p:txBody>
      </p:sp>
      <p:pic>
        <p:nvPicPr>
          <p:cNvPr id="3" name="Picture 1" descr="../run-2026-02-19/training_progress_step18.png"/>
          <p:cNvPicPr>
            <a:picLocks noGrp="1" noChangeAspect="1"/>
          </p:cNvPicPr>
          <p:nvPr/>
        </p:nvPicPr>
        <p:blipFill>
          <a:blip r:embed="rId2"/>
          <a:stretch>
            <a:fillRect/>
          </a:stretch>
        </p:blipFill>
        <p:spPr bwMode="auto">
          <a:xfrm>
            <a:off x="3213100" y="1282700"/>
            <a:ext cx="2730500" cy="19304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Attempt 5: vLLM Server</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Deployed vLLM as separate K8s pod with HTTP weight sync. </a:t>
            </a:r>
            <a:r>
              <a:rPr b="1"/>
              <a:t>Crashed at step 50</a:t>
            </a:r>
            <a:r>
              <a:t> — checkpoint save bug (</a:t>
            </a:r>
            <a:r>
              <a:rPr>
                <a:latin typeface="Courier"/>
              </a:rPr>
              <a:t>local_rank</a:t>
            </a:r>
            <a:r>
              <a:t> vs </a:t>
            </a:r>
            <a:r>
              <a:rPr>
                <a:latin typeface="Courier"/>
              </a:rPr>
              <a:t>global_rank</a:t>
            </a:r>
            <a:r>
              <a:t>).</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HF Batched</a:t>
                      </a:r>
                    </a:p>
                  </a:txBody>
                  <a:tcPr/>
                </a:tc>
                <a:tc>
                  <a:txBody>
                    <a:bodyPr/>
                    <a:lstStyle/>
                    <a:p>
                      <a:pPr marL="0" lvl="0" indent="0">
                        <a:buNone/>
                      </a:pPr>
                      <a:r>
                        <a:t>vLLM Server</a:t>
                      </a:r>
                    </a:p>
                  </a:txBody>
                  <a:tcPr/>
                </a:tc>
                <a:extLst>
                  <a:ext uri="{0D108BD9-81ED-4DB2-BD59-A6C34878D82A}">
                    <a16:rowId xmlns:a16="http://schemas.microsoft.com/office/drawing/2014/main" val="10000"/>
                  </a:ext>
                </a:extLst>
              </a:tr>
              <a:tr h="0">
                <a:tc>
                  <a:txBody>
                    <a:bodyPr/>
                    <a:lstStyle/>
                    <a:p>
                      <a:pPr marL="0" lvl="0" indent="0">
                        <a:buNone/>
                      </a:pPr>
                      <a:r>
                        <a:t>Step time</a:t>
                      </a:r>
                    </a:p>
                  </a:txBody>
                  <a:tcPr/>
                </a:tc>
                <a:tc>
                  <a:txBody>
                    <a:bodyPr/>
                    <a:lstStyle/>
                    <a:p>
                      <a:pPr marL="0" lvl="0" indent="0">
                        <a:buNone/>
                      </a:pPr>
                      <a:r>
                        <a:t>1.5 min</a:t>
                      </a:r>
                    </a:p>
                  </a:txBody>
                  <a:tcPr/>
                </a:tc>
                <a:tc>
                  <a:txBody>
                    <a:bodyPr/>
                    <a:lstStyle/>
                    <a:p>
                      <a:pPr marL="0" lvl="0" indent="0">
                        <a:buNone/>
                      </a:pPr>
                      <a:r>
                        <a:t>50s</a:t>
                      </a:r>
                    </a:p>
                  </a:txBody>
                  <a:tcPr/>
                </a:tc>
                <a:extLst>
                  <a:ext uri="{0D108BD9-81ED-4DB2-BD59-A6C34878D82A}">
                    <a16:rowId xmlns:a16="http://schemas.microsoft.com/office/drawing/2014/main" val="10001"/>
                  </a:ext>
                </a:extLst>
              </a:tr>
              <a:tr h="0">
                <a:tc>
                  <a:txBody>
                    <a:bodyPr/>
                    <a:lstStyle/>
                    <a:p>
                      <a:pPr marL="0" lvl="0" indent="0">
                        <a:buNone/>
                      </a:pPr>
                      <a:r>
                        <a:t>Steps/hr</a:t>
                      </a:r>
                    </a:p>
                  </a:txBody>
                  <a:tcPr/>
                </a:tc>
                <a:tc>
                  <a:txBody>
                    <a:bodyPr/>
                    <a:lstStyle/>
                    <a:p>
                      <a:pPr marL="0" lvl="0" indent="0">
                        <a:buNone/>
                      </a:pPr>
                      <a:r>
                        <a:t>40</a:t>
                      </a:r>
                    </a:p>
                  </a:txBody>
                  <a:tcPr/>
                </a:tc>
                <a:tc>
                  <a:txBody>
                    <a:bodyPr/>
                    <a:lstStyle/>
                    <a:p>
                      <a:pPr marL="0" lvl="0" indent="0">
                        <a:buNone/>
                      </a:pPr>
                      <a:r>
                        <a:t>72</a:t>
                      </a:r>
                    </a:p>
                  </a:txBody>
                  <a:tcPr/>
                </a:tc>
                <a:extLst>
                  <a:ext uri="{0D108BD9-81ED-4DB2-BD59-A6C34878D82A}">
                    <a16:rowId xmlns:a16="http://schemas.microsoft.com/office/drawing/2014/main" val="10002"/>
                  </a:ext>
                </a:extLst>
              </a:tr>
              <a:tr h="0">
                <a:tc>
                  <a:txBody>
                    <a:bodyPr/>
                    <a:lstStyle/>
                    <a:p>
                      <a:pPr marL="0" lvl="0" indent="0">
                        <a:buNone/>
                      </a:pPr>
                      <a:r>
                        <a:t>1 epoch</a:t>
                      </a:r>
                    </a:p>
                  </a:txBody>
                  <a:tcPr/>
                </a:tc>
                <a:tc>
                  <a:txBody>
                    <a:bodyPr/>
                    <a:lstStyle/>
                    <a:p>
                      <a:pPr marL="0" lvl="0" indent="0">
                        <a:buNone/>
                      </a:pPr>
                      <a:r>
                        <a:t>47 hours</a:t>
                      </a:r>
                    </a:p>
                  </a:txBody>
                  <a:tcPr/>
                </a:tc>
                <a:tc>
                  <a:txBody>
                    <a:bodyPr/>
                    <a:lstStyle/>
                    <a:p>
                      <a:pPr marL="0" lvl="0" indent="0">
                        <a:buNone/>
                      </a:pPr>
                      <a:r>
                        <a:t>26 hours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Custom Trainer: Speed Evolution</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6× faster over 3 iterations — but still not enough.</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003300">
                  <a:extLst>
                    <a:ext uri="{9D8B030D-6E8A-4147-A177-3AD203B41FA5}">
                      <a16:colId xmlns:a16="http://schemas.microsoft.com/office/drawing/2014/main" val="20000"/>
                    </a:ext>
                  </a:extLst>
                </a:gridCol>
                <a:gridCol w="1003300">
                  <a:extLst>
                    <a:ext uri="{9D8B030D-6E8A-4147-A177-3AD203B41FA5}">
                      <a16:colId xmlns:a16="http://schemas.microsoft.com/office/drawing/2014/main" val="20001"/>
                    </a:ext>
                  </a:extLst>
                </a:gridCol>
                <a:gridCol w="1003300">
                  <a:extLst>
                    <a:ext uri="{9D8B030D-6E8A-4147-A177-3AD203B41FA5}">
                      <a16:colId xmlns:a16="http://schemas.microsoft.com/office/drawing/2014/main" val="20002"/>
                    </a:ext>
                  </a:extLst>
                </a:gridCol>
                <a:gridCol w="1003300">
                  <a:extLst>
                    <a:ext uri="{9D8B030D-6E8A-4147-A177-3AD203B41FA5}">
                      <a16:colId xmlns:a16="http://schemas.microsoft.com/office/drawing/2014/main" val="20003"/>
                    </a:ext>
                  </a:extLst>
                </a:gridCol>
              </a:tblGrid>
              <a:tr h="0">
                <a:tc>
                  <a:txBody>
                    <a:bodyPr/>
                    <a:lstStyle/>
                    <a:p>
                      <a:pPr marL="0" lvl="0" indent="0">
                        <a:buNone/>
                      </a:pPr>
                      <a:r>
                        <a:t>Attempt</a:t>
                      </a:r>
                    </a:p>
                  </a:txBody>
                  <a:tcPr/>
                </a:tc>
                <a:tc>
                  <a:txBody>
                    <a:bodyPr/>
                    <a:lstStyle/>
                    <a:p>
                      <a:pPr marL="0" lvl="0" indent="0">
                        <a:buNone/>
                      </a:pPr>
                      <a:r>
                        <a:t>Method</a:t>
                      </a:r>
                    </a:p>
                  </a:txBody>
                  <a:tcPr/>
                </a:tc>
                <a:tc>
                  <a:txBody>
                    <a:bodyPr/>
                    <a:lstStyle/>
                    <a:p>
                      <a:pPr marL="0" lvl="0" indent="0">
                        <a:buNone/>
                      </a:pPr>
                      <a:r>
                        <a:t>Step Time</a:t>
                      </a:r>
                    </a:p>
                  </a:txBody>
                  <a:tcPr/>
                </a:tc>
                <a:tc>
                  <a:txBody>
                    <a:bodyPr/>
                    <a:lstStyle/>
                    <a:p>
                      <a:pPr marL="0" lvl="0" indent="0">
                        <a:buNone/>
                      </a:pPr>
                      <a:r>
                        <a:t>Steps/hr</a:t>
                      </a:r>
                    </a:p>
                  </a:txBody>
                  <a:tcPr/>
                </a:tc>
                <a:extLst>
                  <a:ext uri="{0D108BD9-81ED-4DB2-BD59-A6C34878D82A}">
                    <a16:rowId xmlns:a16="http://schemas.microsoft.com/office/drawing/2014/main" val="10000"/>
                  </a:ext>
                </a:extLst>
              </a:tr>
              <a:tr h="0">
                <a:tc>
                  <a:txBody>
                    <a:bodyPr/>
                    <a:lstStyle/>
                    <a:p>
                      <a:pPr marL="0" lvl="0" indent="0">
                        <a:buNone/>
                      </a:pPr>
                      <a:r>
                        <a:t>3</a:t>
                      </a:r>
                    </a:p>
                  </a:txBody>
                  <a:tcPr/>
                </a:tc>
                <a:tc>
                  <a:txBody>
                    <a:bodyPr/>
                    <a:lstStyle/>
                    <a:p>
                      <a:pPr marL="0" lvl="0" indent="0">
                        <a:buNone/>
                      </a:pPr>
                      <a:r>
                        <a:t>Sequential </a:t>
                      </a:r>
                      <a:r>
                        <a:rPr>
                          <a:latin typeface="Courier"/>
                        </a:rPr>
                        <a:t>model.generate()</a:t>
                      </a:r>
                    </a:p>
                  </a:txBody>
                  <a:tcPr/>
                </a:tc>
                <a:tc>
                  <a:txBody>
                    <a:bodyPr/>
                    <a:lstStyle/>
                    <a:p>
                      <a:pPr marL="0" lvl="0" indent="0">
                        <a:buNone/>
                      </a:pPr>
                      <a:r>
                        <a:t>5 min</a:t>
                      </a:r>
                    </a:p>
                  </a:txBody>
                  <a:tcPr/>
                </a:tc>
                <a:tc>
                  <a:txBody>
                    <a:bodyPr/>
                    <a:lstStyle/>
                    <a:p>
                      <a:pPr marL="0" lvl="0" indent="0">
                        <a:buNone/>
                      </a:pPr>
                      <a:r>
                        <a:t>12</a:t>
                      </a:r>
                    </a:p>
                  </a:txBody>
                  <a:tcPr/>
                </a:tc>
                <a:extLst>
                  <a:ext uri="{0D108BD9-81ED-4DB2-BD59-A6C34878D82A}">
                    <a16:rowId xmlns:a16="http://schemas.microsoft.com/office/drawing/2014/main" val="10001"/>
                  </a:ext>
                </a:extLst>
              </a:tr>
              <a:tr h="0">
                <a:tc>
                  <a:txBody>
                    <a:bodyPr/>
                    <a:lstStyle/>
                    <a:p>
                      <a:pPr marL="0" lvl="0" indent="0">
                        <a:buNone/>
                      </a:pPr>
                      <a:r>
                        <a:t>4</a:t>
                      </a:r>
                    </a:p>
                  </a:txBody>
                  <a:tcPr/>
                </a:tc>
                <a:tc>
                  <a:txBody>
                    <a:bodyPr/>
                    <a:lstStyle/>
                    <a:p>
                      <a:pPr marL="0" lvl="0" indent="0">
                        <a:buNone/>
                      </a:pPr>
                      <a:r>
                        <a:t>Batched </a:t>
                      </a:r>
                      <a:r>
                        <a:rPr>
                          <a:latin typeface="Courier"/>
                        </a:rPr>
                        <a:t>num_return_sequences=8</a:t>
                      </a:r>
                    </a:p>
                  </a:txBody>
                  <a:tcPr/>
                </a:tc>
                <a:tc>
                  <a:txBody>
                    <a:bodyPr/>
                    <a:lstStyle/>
                    <a:p>
                      <a:pPr marL="0" lvl="0" indent="0">
                        <a:buNone/>
                      </a:pPr>
                      <a:r>
                        <a:t>1.5 min</a:t>
                      </a:r>
                    </a:p>
                  </a:txBody>
                  <a:tcPr/>
                </a:tc>
                <a:tc>
                  <a:txBody>
                    <a:bodyPr/>
                    <a:lstStyle/>
                    <a:p>
                      <a:pPr marL="0" lvl="0" indent="0">
                        <a:buNone/>
                      </a:pPr>
                      <a:r>
                        <a:t>40</a:t>
                      </a:r>
                    </a:p>
                  </a:txBody>
                  <a:tcPr/>
                </a:tc>
                <a:extLst>
                  <a:ext uri="{0D108BD9-81ED-4DB2-BD59-A6C34878D82A}">
                    <a16:rowId xmlns:a16="http://schemas.microsoft.com/office/drawing/2014/main" val="10002"/>
                  </a:ext>
                </a:extLst>
              </a:tr>
              <a:tr h="0">
                <a:tc>
                  <a:txBody>
                    <a:bodyPr/>
                    <a:lstStyle/>
                    <a:p>
                      <a:pPr marL="0" lvl="0" indent="0">
                        <a:buNone/>
                      </a:pPr>
                      <a:r>
                        <a:t>5</a:t>
                      </a:r>
                    </a:p>
                  </a:txBody>
                  <a:tcPr/>
                </a:tc>
                <a:tc>
                  <a:txBody>
                    <a:bodyPr/>
                    <a:lstStyle/>
                    <a:p>
                      <a:pPr marL="0" lvl="0" indent="0">
                        <a:buNone/>
                      </a:pPr>
                      <a:r>
                        <a:t>vLLM separate pod, HTTP API</a:t>
                      </a:r>
                    </a:p>
                  </a:txBody>
                  <a:tcPr/>
                </a:tc>
                <a:tc>
                  <a:txBody>
                    <a:bodyPr/>
                    <a:lstStyle/>
                    <a:p>
                      <a:pPr marL="0" lvl="0" indent="0">
                        <a:buNone/>
                      </a:pPr>
                      <a:r>
                        <a:t>63s</a:t>
                      </a:r>
                    </a:p>
                  </a:txBody>
                  <a:tcPr/>
                </a:tc>
                <a:tc>
                  <a:txBody>
                    <a:bodyPr/>
                    <a:lstStyle/>
                    <a:p>
                      <a:pPr marL="0" lvl="0" indent="0">
                        <a:buNone/>
                      </a:pPr>
                      <a:r>
                        <a:t>57</a:t>
                      </a:r>
                    </a:p>
                  </a:txBody>
                  <a:tcPr/>
                </a:tc>
                <a:extLst>
                  <a:ext uri="{0D108BD9-81ED-4DB2-BD59-A6C34878D82A}">
                    <a16:rowId xmlns:a16="http://schemas.microsoft.com/office/drawing/2014/main" val="10003"/>
                  </a:ext>
                </a:extLst>
              </a:tr>
              <a:tr h="0">
                <a:tc>
                  <a:txBody>
                    <a:bodyPr/>
                    <a:lstStyle/>
                    <a:p>
                      <a:pPr marL="0" lvl="0" indent="0">
                        <a:buNone/>
                      </a:pPr>
                      <a:r>
                        <a:t>5+</a:t>
                      </a:r>
                    </a:p>
                  </a:txBody>
                  <a:tcPr/>
                </a:tc>
                <a:tc>
                  <a:txBody>
                    <a:bodyPr/>
                    <a:lstStyle/>
                    <a:p>
                      <a:pPr marL="0" lvl="0" indent="0">
                        <a:buNone/>
                      </a:pPr>
                      <a:r>
                        <a:t>vLLM + batched log_probs</a:t>
                      </a:r>
                    </a:p>
                  </a:txBody>
                  <a:tcPr/>
                </a:tc>
                <a:tc>
                  <a:txBody>
                    <a:bodyPr/>
                    <a:lstStyle/>
                    <a:p>
                      <a:pPr marL="0" lvl="0" indent="0">
                        <a:buNone/>
                      </a:pPr>
                      <a:r>
                        <a:t>50s</a:t>
                      </a:r>
                    </a:p>
                  </a:txBody>
                  <a:tcPr/>
                </a:tc>
                <a:tc>
                  <a:txBody>
                    <a:bodyPr/>
                    <a:lstStyle/>
                    <a:p>
                      <a:pPr marL="0" lvl="0" indent="0">
                        <a:buNone/>
                      </a:pPr>
                      <a:r>
                        <a:t>72</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Key Bugs Found</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0">
                <a:tc>
                  <a:txBody>
                    <a:bodyPr/>
                    <a:lstStyle/>
                    <a:p>
                      <a:pPr marL="0" lvl="0" indent="0">
                        <a:buNone/>
                      </a:pPr>
                      <a:r>
                        <a:t>Bug</a:t>
                      </a:r>
                    </a:p>
                  </a:txBody>
                  <a:tcPr/>
                </a:tc>
                <a:tc>
                  <a:txBody>
                    <a:bodyPr/>
                    <a:lstStyle/>
                    <a:p>
                      <a:pPr marL="0" lvl="0" indent="0">
                        <a:buNone/>
                      </a:pPr>
                      <a:r>
                        <a:t>Impact</a:t>
                      </a:r>
                    </a:p>
                  </a:txBody>
                  <a:tcPr/>
                </a:tc>
                <a:tc>
                  <a:txBody>
                    <a:bodyPr/>
                    <a:lstStyle/>
                    <a:p>
                      <a:pPr marL="0" lvl="0" indent="0">
                        <a:buNone/>
                      </a:pPr>
                      <a:r>
                        <a:t>Fix</a:t>
                      </a:r>
                    </a:p>
                  </a:txBody>
                  <a:tcPr/>
                </a:tc>
                <a:extLst>
                  <a:ext uri="{0D108BD9-81ED-4DB2-BD59-A6C34878D82A}">
                    <a16:rowId xmlns:a16="http://schemas.microsoft.com/office/drawing/2014/main" val="10000"/>
                  </a:ext>
                </a:extLst>
              </a:tr>
              <a:tr h="0">
                <a:tc>
                  <a:txBody>
                    <a:bodyPr/>
                    <a:lstStyle/>
                    <a:p>
                      <a:pPr marL="0" lvl="0" indent="0">
                        <a:buNone/>
                      </a:pPr>
                      <a:r>
                        <a:t>Sequence-level importance ratio</a:t>
                      </a:r>
                    </a:p>
                  </a:txBody>
                  <a:tcPr/>
                </a:tc>
                <a:tc>
                  <a:txBody>
                    <a:bodyPr/>
                    <a:lstStyle/>
                    <a:p>
                      <a:pPr marL="0" lvl="0" indent="0">
                        <a:buNone/>
                      </a:pPr>
                      <a:r>
                        <a:t>KL explosion (194.8)</a:t>
                      </a:r>
                    </a:p>
                  </a:txBody>
                  <a:tcPr/>
                </a:tc>
                <a:tc>
                  <a:txBody>
                    <a:bodyPr/>
                    <a:lstStyle/>
                    <a:p>
                      <a:pPr marL="0" lvl="0" indent="0">
                        <a:buNone/>
                      </a:pPr>
                      <a:r>
                        <a:t>Per-token ratio</a:t>
                      </a:r>
                    </a:p>
                  </a:txBody>
                  <a:tcPr/>
                </a:tc>
                <a:extLst>
                  <a:ext uri="{0D108BD9-81ED-4DB2-BD59-A6C34878D82A}">
                    <a16:rowId xmlns:a16="http://schemas.microsoft.com/office/drawing/2014/main" val="10001"/>
                  </a:ext>
                </a:extLst>
              </a:tr>
              <a:tr h="0">
                <a:tc>
                  <a:txBody>
                    <a:bodyPr/>
                    <a:lstStyle/>
                    <a:p>
                      <a:pPr marL="0" lvl="0" indent="0">
                        <a:buNone/>
                      </a:pPr>
                      <a:r>
                        <a:rPr>
                          <a:latin typeface="Courier"/>
                        </a:rPr>
                        <a:t>log_probs.mean()</a:t>
                      </a:r>
                    </a:p>
                  </a:txBody>
                  <a:tcPr/>
                </a:tc>
                <a:tc>
                  <a:txBody>
                    <a:bodyPr/>
                    <a:lstStyle/>
                    <a:p>
                      <a:pPr marL="0" lvl="0" indent="0">
                        <a:buNone/>
                      </a:pPr>
                      <a:r>
                        <a:t>Wrong gradient signal</a:t>
                      </a:r>
                    </a:p>
                  </a:txBody>
                  <a:tcPr/>
                </a:tc>
                <a:tc>
                  <a:txBody>
                    <a:bodyPr/>
                    <a:lstStyle/>
                    <a:p>
                      <a:pPr marL="0" lvl="0" indent="0">
                        <a:buNone/>
                      </a:pPr>
                      <a:r>
                        <a:rPr>
                          <a:latin typeface="Courier"/>
                        </a:rPr>
                        <a:t>.sum()</a:t>
                      </a:r>
                      <a:r>
                        <a:t> per sequence</a:t>
                      </a:r>
                    </a:p>
                  </a:txBody>
                  <a:tcPr/>
                </a:tc>
                <a:extLst>
                  <a:ext uri="{0D108BD9-81ED-4DB2-BD59-A6C34878D82A}">
                    <a16:rowId xmlns:a16="http://schemas.microsoft.com/office/drawing/2014/main" val="10002"/>
                  </a:ext>
                </a:extLst>
              </a:tr>
              <a:tr h="0">
                <a:tc>
                  <a:txBody>
                    <a:bodyPr/>
                    <a:lstStyle/>
                    <a:p>
                      <a:pPr marL="0" lvl="0" indent="0">
                        <a:buNone/>
                      </a:pPr>
                      <a:r>
                        <a:t>Checkpoint </a:t>
                      </a:r>
                      <a:r>
                        <a:rPr>
                          <a:latin typeface="Courier"/>
                        </a:rPr>
                        <a:t>local_rank == 0</a:t>
                      </a:r>
                    </a:p>
                  </a:txBody>
                  <a:tcPr/>
                </a:tc>
                <a:tc>
                  <a:txBody>
                    <a:bodyPr/>
                    <a:lstStyle/>
                    <a:p>
                      <a:pPr marL="0" lvl="0" indent="0">
                        <a:buNone/>
                      </a:pPr>
                      <a:r>
                        <a:t>Crash on multi-node</a:t>
                      </a:r>
                    </a:p>
                  </a:txBody>
                  <a:tcPr/>
                </a:tc>
                <a:tc>
                  <a:txBody>
                    <a:bodyPr/>
                    <a:lstStyle/>
                    <a:p>
                      <a:pPr marL="0" lvl="0" indent="0">
                        <a:buNone/>
                      </a:pPr>
                      <a:r>
                        <a:rPr>
                          <a:latin typeface="Courier"/>
                        </a:rPr>
                        <a:t>rank == 0</a:t>
                      </a:r>
                      <a:r>
                        <a:t> (global)</a:t>
                      </a:r>
                    </a:p>
                  </a:txBody>
                  <a:tcPr/>
                </a:tc>
                <a:extLst>
                  <a:ext uri="{0D108BD9-81ED-4DB2-BD59-A6C34878D82A}">
                    <a16:rowId xmlns:a16="http://schemas.microsoft.com/office/drawing/2014/main" val="10003"/>
                  </a:ext>
                </a:extLst>
              </a:tr>
              <a:tr h="0">
                <a:tc>
                  <a:txBody>
                    <a:bodyPr/>
                    <a:lstStyle/>
                    <a:p>
                      <a:pPr marL="0" lvl="0" indent="0">
                        <a:buNone/>
                      </a:pPr>
                      <a:r>
                        <a:t>vLLM inside torchrun</a:t>
                      </a:r>
                    </a:p>
                  </a:txBody>
                  <a:tcPr/>
                </a:tc>
                <a:tc>
                  <a:txBody>
                    <a:bodyPr/>
                    <a:lstStyle/>
                    <a:p>
                      <a:pPr marL="0" lvl="0" indent="0">
                        <a:buNone/>
                      </a:pPr>
                      <a:r>
                        <a:t>NCCL/CUDA deadlock</a:t>
                      </a:r>
                    </a:p>
                  </a:txBody>
                  <a:tcPr/>
                </a:tc>
                <a:tc>
                  <a:txBody>
                    <a:bodyPr/>
                    <a:lstStyle/>
                    <a:p>
                      <a:pPr marL="0" lvl="0" indent="0">
                        <a:buNone/>
                      </a:pPr>
                      <a:r>
                        <a:t>Separate vLLM pod</a:t>
                      </a:r>
                    </a:p>
                  </a:txBody>
                  <a:tcPr/>
                </a:tc>
                <a:extLst>
                  <a:ext uri="{0D108BD9-81ED-4DB2-BD59-A6C34878D82A}">
                    <a16:rowId xmlns:a16="http://schemas.microsoft.com/office/drawing/2014/main" val="10004"/>
                  </a:ext>
                </a:extLst>
              </a:tr>
              <a:tr h="0">
                <a:tc>
                  <a:txBody>
                    <a:bodyPr/>
                    <a:lstStyle/>
                    <a:p>
                      <a:pPr marL="0" lvl="0" indent="0">
                        <a:buNone/>
                      </a:pPr>
                      <a:r>
                        <a:t>Clamped KL estimator</a:t>
                      </a:r>
                    </a:p>
                  </a:txBody>
                  <a:tcPr/>
                </a:tc>
                <a:tc>
                  <a:txBody>
                    <a:bodyPr/>
                    <a:lstStyle/>
                    <a:p>
                      <a:pPr marL="0" lvl="0" indent="0">
                        <a:buNone/>
                      </a:pPr>
                      <a:r>
                        <a:t>KL = 0 for 99% of steps</a:t>
                      </a:r>
                    </a:p>
                  </a:txBody>
                  <a:tcPr/>
                </a:tc>
                <a:tc>
                  <a:txBody>
                    <a:bodyPr/>
                    <a:lstStyle/>
                    <a:p>
                      <a:pPr marL="0" lvl="0" indent="0">
                        <a:buNone/>
                      </a:pPr>
                      <a:r>
                        <a:t>Schulman estimator</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Experiment 2: veRL Framework</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Switched to veRL (ByteDance) — production RL post-training framework.</a:t>
            </a:r>
          </a:p>
        </p:txBody>
      </p:sp>
      <p:pic>
        <p:nvPicPr>
          <p:cNvPr id="3" name="Picture 1" descr="verl_deployment_architecture.png"/>
          <p:cNvPicPr>
            <a:picLocks noGrp="1" noChangeAspect="1"/>
          </p:cNvPicPr>
          <p:nvPr/>
        </p:nvPicPr>
        <p:blipFill>
          <a:blip r:embed="rId3"/>
          <a:stretch>
            <a:fillRect/>
          </a:stretch>
        </p:blipFill>
        <p:spPr bwMode="auto">
          <a:xfrm>
            <a:off x="5410200" y="1282700"/>
            <a:ext cx="2489200" cy="1955800"/>
          </a:xfrm>
          <a:prstGeom prst="rect">
            <a:avLst/>
          </a:prstGeom>
          <a:noFill/>
          <a:ln w="9525">
            <a:noFill/>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veRL Architecture</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Every GPU runs all roles by cycling through phases:</a:t>
            </a:r>
          </a:p>
        </p:txBody>
      </p:sp>
      <p:pic>
        <p:nvPicPr>
          <p:cNvPr id="3" name="Picture 1" descr="verl-rl-loop.png"/>
          <p:cNvPicPr>
            <a:picLocks noGrp="1" noChangeAspect="1"/>
          </p:cNvPicPr>
          <p:nvPr/>
        </p:nvPicPr>
        <p:blipFill>
          <a:blip r:embed="rId3"/>
          <a:stretch>
            <a:fillRect/>
          </a:stretch>
        </p:blipFill>
        <p:spPr bwMode="auto">
          <a:xfrm>
            <a:off x="5613400" y="1282700"/>
            <a:ext cx="2095500" cy="1955800"/>
          </a:xfrm>
          <a:prstGeom prst="rect">
            <a:avLst/>
          </a:prstGeom>
          <a:noFill/>
          <a:ln w="9525">
            <a:noFill/>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veRL: 1.5B Results</a:t>
            </a:r>
          </a:p>
        </p:txBody>
      </p:sp>
      <p:pic>
        <p:nvPicPr>
          <p:cNvPr id="3" name="Picture 1" descr="../run-2026-02-20-verl/training_progress.png"/>
          <p:cNvPicPr>
            <a:picLocks noGrp="1" noChangeAspect="1"/>
          </p:cNvPicPr>
          <p:nvPr/>
        </p:nvPicPr>
        <p:blipFill>
          <a:blip r:embed="rId3"/>
          <a:stretch>
            <a:fillRect/>
          </a:stretch>
        </p:blipFill>
        <p:spPr bwMode="auto">
          <a:xfrm>
            <a:off x="2959100" y="1282700"/>
            <a:ext cx="3213100" cy="1930400"/>
          </a:xfrm>
          <a:prstGeom prst="rect">
            <a:avLst/>
          </a:prstGeom>
          <a:noFill/>
          <a:ln w="9525">
            <a:noFill/>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veRL: 1.5B Results (cont.)</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29 steps, 35 minutes, 1 full epoch. Eval: Base 14.5% → GRPO-trained </a:t>
            </a:r>
            <a:r>
              <a:rPr b="1"/>
              <a:t>77.0%</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0">
                <a:tc>
                  <a:txBody>
                    <a:bodyPr/>
                    <a:lstStyle/>
                    <a:p>
                      <a:pPr marL="0" lvl="0" indent="0">
                        <a:buNone/>
                      </a:pPr>
                      <a:r>
                        <a:t>Step</a:t>
                      </a:r>
                    </a:p>
                  </a:txBody>
                  <a:tcPr/>
                </a:tc>
                <a:tc>
                  <a:txBody>
                    <a:bodyPr/>
                    <a:lstStyle/>
                    <a:p>
                      <a:pPr marL="0" lvl="0" indent="0">
                        <a:buNone/>
                      </a:pPr>
                      <a:r>
                        <a:t>Reward</a:t>
                      </a:r>
                    </a:p>
                  </a:txBody>
                  <a:tcPr/>
                </a:tc>
                <a:tc>
                  <a:txBody>
                    <a:bodyPr/>
                    <a:lstStyle/>
                    <a:p>
                      <a:pPr marL="0" lvl="0" indent="0">
                        <a:buNone/>
                      </a:pPr>
                      <a:r>
                        <a:t>KL</a:t>
                      </a:r>
                    </a:p>
                  </a:txBody>
                  <a:tcPr/>
                </a:tc>
                <a:extLst>
                  <a:ext uri="{0D108BD9-81ED-4DB2-BD59-A6C34878D82A}">
                    <a16:rowId xmlns:a16="http://schemas.microsoft.com/office/drawing/2014/main" val="10000"/>
                  </a:ext>
                </a:extLst>
              </a:tr>
              <a:tr h="0">
                <a:tc>
                  <a:txBody>
                    <a:bodyPr/>
                    <a:lstStyle/>
                    <a:p>
                      <a:pPr marL="0" lvl="0" indent="0">
                        <a:buNone/>
                      </a:pPr>
                      <a:r>
                        <a:t>0 (val)</a:t>
                      </a:r>
                    </a:p>
                  </a:txBody>
                  <a:tcPr/>
                </a:tc>
                <a:tc>
                  <a:txBody>
                    <a:bodyPr/>
                    <a:lstStyle/>
                    <a:p>
                      <a:pPr marL="0" lvl="0" indent="0">
                        <a:buNone/>
                      </a:pPr>
                      <a:r>
                        <a:t>2.3%</a:t>
                      </a:r>
                    </a:p>
                  </a:txBody>
                  <a:tcPr/>
                </a:tc>
                <a:tc>
                  <a:txBody>
                    <a:bodyPr/>
                    <a:lstStyle/>
                    <a:p>
                      <a:pPr marL="0" lvl="0" indent="0">
                        <a:buNone/>
                      </a:pPr>
                      <a:r>
                        <a:t>—</a:t>
                      </a:r>
                    </a:p>
                  </a:txBody>
                  <a:tcPr/>
                </a:tc>
                <a:extLst>
                  <a:ext uri="{0D108BD9-81ED-4DB2-BD59-A6C34878D82A}">
                    <a16:rowId xmlns:a16="http://schemas.microsoft.com/office/drawing/2014/main" val="10001"/>
                  </a:ext>
                </a:extLst>
              </a:tr>
              <a:tr h="0">
                <a:tc>
                  <a:txBody>
                    <a:bodyPr/>
                    <a:lstStyle/>
                    <a:p>
                      <a:pPr marL="0" lvl="0" indent="0">
                        <a:buNone/>
                      </a:pPr>
                      <a:r>
                        <a:t>10</a:t>
                      </a:r>
                    </a:p>
                  </a:txBody>
                  <a:tcPr/>
                </a:tc>
                <a:tc>
                  <a:txBody>
                    <a:bodyPr/>
                    <a:lstStyle/>
                    <a:p>
                      <a:pPr marL="0" lvl="0" indent="0">
                        <a:buNone/>
                      </a:pPr>
                      <a:r>
                        <a:t>44.5%</a:t>
                      </a:r>
                    </a:p>
                  </a:txBody>
                  <a:tcPr/>
                </a:tc>
                <a:tc>
                  <a:txBody>
                    <a:bodyPr/>
                    <a:lstStyle/>
                    <a:p>
                      <a:pPr marL="0" lvl="0" indent="0">
                        <a:buNone/>
                      </a:pPr>
                      <a:r>
                        <a:t>—</a:t>
                      </a:r>
                    </a:p>
                  </a:txBody>
                  <a:tcPr/>
                </a:tc>
                <a:extLst>
                  <a:ext uri="{0D108BD9-81ED-4DB2-BD59-A6C34878D82A}">
                    <a16:rowId xmlns:a16="http://schemas.microsoft.com/office/drawing/2014/main" val="10002"/>
                  </a:ext>
                </a:extLst>
              </a:tr>
              <a:tr h="0">
                <a:tc>
                  <a:txBody>
                    <a:bodyPr/>
                    <a:lstStyle/>
                    <a:p>
                      <a:pPr marL="0" lvl="0" indent="0">
                        <a:buNone/>
                      </a:pPr>
                      <a:r>
                        <a:t>20 (val)</a:t>
                      </a:r>
                    </a:p>
                  </a:txBody>
                  <a:tcPr/>
                </a:tc>
                <a:tc>
                  <a:txBody>
                    <a:bodyPr/>
                    <a:lstStyle/>
                    <a:p>
                      <a:pPr marL="0" lvl="0" indent="0">
                        <a:buNone/>
                      </a:pPr>
                      <a:r>
                        <a:t>72.3%</a:t>
                      </a:r>
                    </a:p>
                  </a:txBody>
                  <a:tcPr/>
                </a:tc>
                <a:tc>
                  <a:txBody>
                    <a:bodyPr/>
                    <a:lstStyle/>
                    <a:p>
                      <a:pPr marL="0" lvl="0" indent="0">
                        <a:buNone/>
                      </a:pPr>
                      <a:r>
                        <a:t>—</a:t>
                      </a:r>
                    </a:p>
                  </a:txBody>
                  <a:tcPr/>
                </a:tc>
                <a:extLst>
                  <a:ext uri="{0D108BD9-81ED-4DB2-BD59-A6C34878D82A}">
                    <a16:rowId xmlns:a16="http://schemas.microsoft.com/office/drawing/2014/main" val="10003"/>
                  </a:ext>
                </a:extLst>
              </a:tr>
              <a:tr h="0">
                <a:tc>
                  <a:txBody>
                    <a:bodyPr/>
                    <a:lstStyle/>
                    <a:p>
                      <a:pPr marL="0" lvl="0" indent="0">
                        <a:buNone/>
                      </a:pPr>
                      <a:r>
                        <a:t>29 (val)</a:t>
                      </a:r>
                    </a:p>
                  </a:txBody>
                  <a:tcPr/>
                </a:tc>
                <a:tc>
                  <a:txBody>
                    <a:bodyPr/>
                    <a:lstStyle/>
                    <a:p>
                      <a:pPr marL="0" lvl="0" indent="0">
                        <a:buNone/>
                      </a:pPr>
                      <a:r>
                        <a:rPr b="1"/>
                        <a:t>72.7%</a:t>
                      </a:r>
                    </a:p>
                  </a:txBody>
                  <a:tcPr/>
                </a:tc>
                <a:tc>
                  <a:txBody>
                    <a:bodyPr/>
                    <a:lstStyle/>
                    <a:p>
                      <a:pPr marL="0" lvl="0" indent="0">
                        <a:buNone/>
                      </a:pPr>
                      <a:r>
                        <a:t>—</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veRL: 7B Results</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14.3% → </a:t>
            </a:r>
            <a:r>
              <a:rPr b="1"/>
              <a:t>88.0%</a:t>
            </a:r>
            <a:r>
              <a:t> in 10 steps (~83 min). Saturated by step 9.</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2006600">
                  <a:extLst>
                    <a:ext uri="{9D8B030D-6E8A-4147-A177-3AD203B41FA5}">
                      <a16:colId xmlns:a16="http://schemas.microsoft.com/office/drawing/2014/main" val="20000"/>
                    </a:ext>
                  </a:extLst>
                </a:gridCol>
                <a:gridCol w="2006600">
                  <a:extLst>
                    <a:ext uri="{9D8B030D-6E8A-4147-A177-3AD203B41FA5}">
                      <a16:colId xmlns:a16="http://schemas.microsoft.com/office/drawing/2014/main" val="20001"/>
                    </a:ext>
                  </a:extLst>
                </a:gridCol>
              </a:tblGrid>
              <a:tr h="0">
                <a:tc>
                  <a:txBody>
                    <a:bodyPr/>
                    <a:lstStyle/>
                    <a:p>
                      <a:pPr marL="0" lvl="0" indent="0">
                        <a:buNone/>
                      </a:pPr>
                      <a:r>
                        <a:t>Step</a:t>
                      </a:r>
                    </a:p>
                  </a:txBody>
                  <a:tcPr/>
                </a:tc>
                <a:tc>
                  <a:txBody>
                    <a:bodyPr/>
                    <a:lstStyle/>
                    <a:p>
                      <a:pPr marL="0" lvl="0" indent="0">
                        <a:buNone/>
                      </a:pPr>
                      <a:r>
                        <a:t>Reward</a:t>
                      </a:r>
                    </a:p>
                  </a:txBody>
                  <a:tcPr/>
                </a:tc>
                <a:extLst>
                  <a:ext uri="{0D108BD9-81ED-4DB2-BD59-A6C34878D82A}">
                    <a16:rowId xmlns:a16="http://schemas.microsoft.com/office/drawing/2014/main" val="10000"/>
                  </a:ext>
                </a:extLst>
              </a:tr>
              <a:tr h="0">
                <a:tc>
                  <a:txBody>
                    <a:bodyPr/>
                    <a:lstStyle/>
                    <a:p>
                      <a:pPr marL="0" lvl="0" indent="0">
                        <a:buNone/>
                      </a:pPr>
                      <a:r>
                        <a:t>0 (val)</a:t>
                      </a:r>
                    </a:p>
                  </a:txBody>
                  <a:tcPr/>
                </a:tc>
                <a:tc>
                  <a:txBody>
                    <a:bodyPr/>
                    <a:lstStyle/>
                    <a:p>
                      <a:pPr marL="0" lvl="0" indent="0">
                        <a:buNone/>
                      </a:pPr>
                      <a:r>
                        <a:t>14.3%</a:t>
                      </a:r>
                    </a:p>
                  </a:txBody>
                  <a:tcPr/>
                </a:tc>
                <a:extLst>
                  <a:ext uri="{0D108BD9-81ED-4DB2-BD59-A6C34878D82A}">
                    <a16:rowId xmlns:a16="http://schemas.microsoft.com/office/drawing/2014/main" val="10001"/>
                  </a:ext>
                </a:extLst>
              </a:tr>
              <a:tr h="0">
                <a:tc>
                  <a:txBody>
                    <a:bodyPr/>
                    <a:lstStyle/>
                    <a:p>
                      <a:pPr marL="0" lvl="0" indent="0">
                        <a:buNone/>
                      </a:pPr>
                      <a:r>
                        <a:t>9</a:t>
                      </a:r>
                    </a:p>
                  </a:txBody>
                  <a:tcPr/>
                </a:tc>
                <a:tc>
                  <a:txBody>
                    <a:bodyPr/>
                    <a:lstStyle/>
                    <a:p>
                      <a:pPr marL="0" lvl="0" indent="0">
                        <a:buNone/>
                      </a:pPr>
                      <a:r>
                        <a:t>88.8%</a:t>
                      </a:r>
                    </a:p>
                  </a:txBody>
                  <a:tcPr/>
                </a:tc>
                <a:extLst>
                  <a:ext uri="{0D108BD9-81ED-4DB2-BD59-A6C34878D82A}">
                    <a16:rowId xmlns:a16="http://schemas.microsoft.com/office/drawing/2014/main" val="10002"/>
                  </a:ext>
                </a:extLst>
              </a:tr>
              <a:tr h="0">
                <a:tc>
                  <a:txBody>
                    <a:bodyPr/>
                    <a:lstStyle/>
                    <a:p>
                      <a:pPr marL="0" lvl="0" indent="0">
                        <a:buNone/>
                      </a:pPr>
                      <a:r>
                        <a:t>10 (val)</a:t>
                      </a:r>
                    </a:p>
                  </a:txBody>
                  <a:tcPr/>
                </a:tc>
                <a:tc>
                  <a:txBody>
                    <a:bodyPr/>
                    <a:lstStyle/>
                    <a:p>
                      <a:pPr marL="0" lvl="0" indent="0">
                        <a:buNone/>
                      </a:pPr>
                      <a:r>
                        <a:rPr b="1"/>
                        <a:t>88.0%</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7B vs 1.5B Learning Curves</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7B learns </a:t>
            </a:r>
            <a:r>
              <a:rPr b="1"/>
              <a:t>faster</a:t>
            </a:r>
            <a:r>
              <a:t> (fewer steps) and reaches a </a:t>
            </a:r>
            <a:r>
              <a:rPr b="1"/>
              <a:t>higher ceiling</a:t>
            </a:r>
            <a:r>
              <a:t>, but each step takes 7× longer.</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1.5B</a:t>
                      </a:r>
                    </a:p>
                  </a:txBody>
                  <a:tcPr/>
                </a:tc>
                <a:tc>
                  <a:txBody>
                    <a:bodyPr/>
                    <a:lstStyle/>
                    <a:p>
                      <a:pPr marL="0" lvl="0" indent="0">
                        <a:buNone/>
                      </a:pPr>
                      <a:r>
                        <a:t>7B</a:t>
                      </a:r>
                    </a:p>
                  </a:txBody>
                  <a:tcPr/>
                </a:tc>
                <a:extLst>
                  <a:ext uri="{0D108BD9-81ED-4DB2-BD59-A6C34878D82A}">
                    <a16:rowId xmlns:a16="http://schemas.microsoft.com/office/drawing/2014/main" val="10000"/>
                  </a:ext>
                </a:extLst>
              </a:tr>
              <a:tr h="0">
                <a:tc>
                  <a:txBody>
                    <a:bodyPr/>
                    <a:lstStyle/>
                    <a:p>
                      <a:pPr marL="0" lvl="0" indent="0">
                        <a:buNone/>
                      </a:pPr>
                      <a:r>
                        <a:t>Base accuracy</a:t>
                      </a:r>
                    </a:p>
                  </a:txBody>
                  <a:tcPr/>
                </a:tc>
                <a:tc>
                  <a:txBody>
                    <a:bodyPr/>
                    <a:lstStyle/>
                    <a:p>
                      <a:pPr marL="0" lvl="0" indent="0">
                        <a:buNone/>
                      </a:pPr>
                      <a:r>
                        <a:t>14.5%</a:t>
                      </a:r>
                    </a:p>
                  </a:txBody>
                  <a:tcPr/>
                </a:tc>
                <a:tc>
                  <a:txBody>
                    <a:bodyPr/>
                    <a:lstStyle/>
                    <a:p>
                      <a:pPr marL="0" lvl="0" indent="0">
                        <a:buNone/>
                      </a:pPr>
                      <a:r>
                        <a:t>14.3%</a:t>
                      </a:r>
                    </a:p>
                  </a:txBody>
                  <a:tcPr/>
                </a:tc>
                <a:extLst>
                  <a:ext uri="{0D108BD9-81ED-4DB2-BD59-A6C34878D82A}">
                    <a16:rowId xmlns:a16="http://schemas.microsoft.com/office/drawing/2014/main" val="10001"/>
                  </a:ext>
                </a:extLst>
              </a:tr>
              <a:tr h="0">
                <a:tc>
                  <a:txBody>
                    <a:bodyPr/>
                    <a:lstStyle/>
                    <a:p>
                      <a:pPr marL="0" lvl="0" indent="0">
                        <a:buNone/>
                      </a:pPr>
                      <a:r>
                        <a:t>Peak validation</a:t>
                      </a:r>
                    </a:p>
                  </a:txBody>
                  <a:tcPr/>
                </a:tc>
                <a:tc>
                  <a:txBody>
                    <a:bodyPr/>
                    <a:lstStyle/>
                    <a:p>
                      <a:pPr marL="0" lvl="0" indent="0">
                        <a:buNone/>
                      </a:pPr>
                      <a:r>
                        <a:t>77.0% (step 29)</a:t>
                      </a:r>
                    </a:p>
                  </a:txBody>
                  <a:tcPr/>
                </a:tc>
                <a:tc>
                  <a:txBody>
                    <a:bodyPr/>
                    <a:lstStyle/>
                    <a:p>
                      <a:pPr marL="0" lvl="0" indent="0">
                        <a:buNone/>
                      </a:pPr>
                      <a:r>
                        <a:rPr b="1"/>
                        <a:t>88.0%</a:t>
                      </a:r>
                      <a:r>
                        <a:t> (step 10)</a:t>
                      </a:r>
                    </a:p>
                  </a:txBody>
                  <a:tcPr/>
                </a:tc>
                <a:extLst>
                  <a:ext uri="{0D108BD9-81ED-4DB2-BD59-A6C34878D82A}">
                    <a16:rowId xmlns:a16="http://schemas.microsoft.com/office/drawing/2014/main" val="10002"/>
                  </a:ext>
                </a:extLst>
              </a:tr>
              <a:tr h="0">
                <a:tc>
                  <a:txBody>
                    <a:bodyPr/>
                    <a:lstStyle/>
                    <a:p>
                      <a:pPr marL="0" lvl="0" indent="0">
                        <a:buNone/>
                      </a:pPr>
                      <a:r>
                        <a:t>Steps to 70%+</a:t>
                      </a:r>
                    </a:p>
                  </a:txBody>
                  <a:tcPr/>
                </a:tc>
                <a:tc>
                  <a:txBody>
                    <a:bodyPr/>
                    <a:lstStyle/>
                    <a:p>
                      <a:pPr marL="0" lvl="0" indent="0">
                        <a:buNone/>
                      </a:pPr>
                      <a:r>
                        <a:t>~20</a:t>
                      </a:r>
                    </a:p>
                  </a:txBody>
                  <a:tcPr/>
                </a:tc>
                <a:tc>
                  <a:txBody>
                    <a:bodyPr/>
                    <a:lstStyle/>
                    <a:p>
                      <a:pPr marL="0" lvl="0" indent="0">
                        <a:buNone/>
                      </a:pPr>
                      <a:r>
                        <a:t>~7</a:t>
                      </a:r>
                    </a:p>
                  </a:txBody>
                  <a:tcPr/>
                </a:tc>
                <a:extLst>
                  <a:ext uri="{0D108BD9-81ED-4DB2-BD59-A6C34878D82A}">
                    <a16:rowId xmlns:a16="http://schemas.microsoft.com/office/drawing/2014/main" val="10003"/>
                  </a:ext>
                </a:extLst>
              </a:tr>
              <a:tr h="0">
                <a:tc>
                  <a:txBody>
                    <a:bodyPr/>
                    <a:lstStyle/>
                    <a:p>
                      <a:pPr marL="0" lvl="0" indent="0">
                        <a:buNone/>
                      </a:pPr>
                      <a:r>
                        <a:t>Step time</a:t>
                      </a:r>
                    </a:p>
                  </a:txBody>
                  <a:tcPr/>
                </a:tc>
                <a:tc>
                  <a:txBody>
                    <a:bodyPr/>
                    <a:lstStyle/>
                    <a:p>
                      <a:pPr marL="0" lvl="0" indent="0">
                        <a:buNone/>
                      </a:pPr>
                      <a:r>
                        <a:t>70s</a:t>
                      </a:r>
                    </a:p>
                  </a:txBody>
                  <a:tcPr/>
                </a:tc>
                <a:tc>
                  <a:txBody>
                    <a:bodyPr/>
                    <a:lstStyle/>
                    <a:p>
                      <a:pPr marL="0" lvl="0" indent="0">
                        <a:buNone/>
                      </a:pPr>
                      <a:r>
                        <a:t>502s</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Custom Trainer vs veRL</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rPr b="1"/>
              <a:t>45× throughput</a:t>
            </a:r>
            <a:r>
              <a:t> from colocated vLLM, memory management, and 64× larger batches.</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Custom</a:t>
                      </a:r>
                    </a:p>
                  </a:txBody>
                  <a:tcPr/>
                </a:tc>
                <a:tc>
                  <a:txBody>
                    <a:bodyPr/>
                    <a:lstStyle/>
                    <a:p>
                      <a:pPr marL="0" lvl="0" indent="0">
                        <a:buNone/>
                      </a:pPr>
                      <a:r>
                        <a:t>veRL</a:t>
                      </a:r>
                    </a:p>
                  </a:txBody>
                  <a:tcPr/>
                </a:tc>
                <a:extLst>
                  <a:ext uri="{0D108BD9-81ED-4DB2-BD59-A6C34878D82A}">
                    <a16:rowId xmlns:a16="http://schemas.microsoft.com/office/drawing/2014/main" val="10000"/>
                  </a:ext>
                </a:extLst>
              </a:tr>
              <a:tr h="0">
                <a:tc>
                  <a:txBody>
                    <a:bodyPr/>
                    <a:lstStyle/>
                    <a:p>
                      <a:pPr marL="0" lvl="0" indent="0">
                        <a:buNone/>
                      </a:pPr>
                      <a:r>
                        <a:t>Code</a:t>
                      </a:r>
                    </a:p>
                  </a:txBody>
                  <a:tcPr/>
                </a:tc>
                <a:tc>
                  <a:txBody>
                    <a:bodyPr/>
                    <a:lstStyle/>
                    <a:p>
                      <a:pPr marL="0" lvl="0" indent="0">
                        <a:buNone/>
                      </a:pPr>
                      <a:r>
                        <a:t>~800 lines</a:t>
                      </a:r>
                    </a:p>
                  </a:txBody>
                  <a:tcPr/>
                </a:tc>
                <a:tc>
                  <a:txBody>
                    <a:bodyPr/>
                    <a:lstStyle/>
                    <a:p>
                      <a:pPr marL="0" lvl="0" indent="0">
                        <a:buNone/>
                      </a:pPr>
                      <a:r>
                        <a:t>~50 lines</a:t>
                      </a:r>
                    </a:p>
                  </a:txBody>
                  <a:tcPr/>
                </a:tc>
                <a:extLst>
                  <a:ext uri="{0D108BD9-81ED-4DB2-BD59-A6C34878D82A}">
                    <a16:rowId xmlns:a16="http://schemas.microsoft.com/office/drawing/2014/main" val="10001"/>
                  </a:ext>
                </a:extLst>
              </a:tr>
              <a:tr h="0">
                <a:tc>
                  <a:txBody>
                    <a:bodyPr/>
                    <a:lstStyle/>
                    <a:p>
                      <a:pPr marL="0" lvl="0" indent="0">
                        <a:buNone/>
                      </a:pPr>
                      <a:r>
                        <a:t>Debug time</a:t>
                      </a:r>
                    </a:p>
                  </a:txBody>
                  <a:tcPr/>
                </a:tc>
                <a:tc>
                  <a:txBody>
                    <a:bodyPr/>
                    <a:lstStyle/>
                    <a:p>
                      <a:pPr marL="0" lvl="0" indent="0">
                        <a:buNone/>
                      </a:pPr>
                      <a:r>
                        <a:t>5 attempts, 12h</a:t>
                      </a:r>
                    </a:p>
                  </a:txBody>
                  <a:tcPr/>
                </a:tc>
                <a:tc>
                  <a:txBody>
                    <a:bodyPr/>
                    <a:lstStyle/>
                    <a:p>
                      <a:pPr marL="0" lvl="0" indent="0">
                        <a:buNone/>
                      </a:pPr>
                      <a:r>
                        <a:t>First try</a:t>
                      </a:r>
                    </a:p>
                  </a:txBody>
                  <a:tcPr/>
                </a:tc>
                <a:extLst>
                  <a:ext uri="{0D108BD9-81ED-4DB2-BD59-A6C34878D82A}">
                    <a16:rowId xmlns:a16="http://schemas.microsoft.com/office/drawing/2014/main" val="10002"/>
                  </a:ext>
                </a:extLst>
              </a:tr>
              <a:tr h="0">
                <a:tc>
                  <a:txBody>
                    <a:bodyPr/>
                    <a:lstStyle/>
                    <a:p>
                      <a:pPr marL="0" lvl="0" indent="0">
                        <a:buNone/>
                      </a:pPr>
                      <a:r>
                        <a:t>Sequences/step</a:t>
                      </a:r>
                    </a:p>
                  </a:txBody>
                  <a:tcPr/>
                </a:tc>
                <a:tc>
                  <a:txBody>
                    <a:bodyPr/>
                    <a:lstStyle/>
                    <a:p>
                      <a:pPr marL="0" lvl="0" indent="0">
                        <a:buNone/>
                      </a:pPr>
                      <a:r>
                        <a:t>32</a:t>
                      </a:r>
                    </a:p>
                  </a:txBody>
                  <a:tcPr/>
                </a:tc>
                <a:tc>
                  <a:txBody>
                    <a:bodyPr/>
                    <a:lstStyle/>
                    <a:p>
                      <a:pPr marL="0" lvl="0" indent="0">
                        <a:buNone/>
                      </a:pPr>
                      <a:r>
                        <a:t>2,048</a:t>
                      </a:r>
                    </a:p>
                  </a:txBody>
                  <a:tcPr/>
                </a:tc>
                <a:extLst>
                  <a:ext uri="{0D108BD9-81ED-4DB2-BD59-A6C34878D82A}">
                    <a16:rowId xmlns:a16="http://schemas.microsoft.com/office/drawing/2014/main" val="10003"/>
                  </a:ext>
                </a:extLst>
              </a:tr>
              <a:tr h="0">
                <a:tc>
                  <a:txBody>
                    <a:bodyPr/>
                    <a:lstStyle/>
                    <a:p>
                      <a:pPr marL="0" lvl="0" indent="0">
                        <a:buNone/>
                      </a:pPr>
                      <a:r>
                        <a:t>Throughput</a:t>
                      </a:r>
                    </a:p>
                  </a:txBody>
                  <a:tcPr/>
                </a:tc>
                <a:tc>
                  <a:txBody>
                    <a:bodyPr/>
                    <a:lstStyle/>
                    <a:p>
                      <a:pPr marL="0" lvl="0" indent="0">
                        <a:buNone/>
                      </a:pPr>
                      <a:r>
                        <a:t>2,304 seq/hr</a:t>
                      </a:r>
                    </a:p>
                  </a:txBody>
                  <a:tcPr/>
                </a:tc>
                <a:tc>
                  <a:txBody>
                    <a:bodyPr/>
                    <a:lstStyle/>
                    <a:p>
                      <a:pPr marL="0" lvl="0" indent="0">
                        <a:buNone/>
                      </a:pPr>
                      <a:r>
                        <a:t>104,448 seq/hr</a:t>
                      </a:r>
                    </a:p>
                  </a:txBody>
                  <a:tcPr/>
                </a:tc>
                <a:extLst>
                  <a:ext uri="{0D108BD9-81ED-4DB2-BD59-A6C34878D82A}">
                    <a16:rowId xmlns:a16="http://schemas.microsoft.com/office/drawing/2014/main" val="10004"/>
                  </a:ext>
                </a:extLst>
              </a:tr>
              <a:tr h="0">
                <a:tc>
                  <a:txBody>
                    <a:bodyPr/>
                    <a:lstStyle/>
                    <a:p>
                      <a:pPr marL="0" lvl="0" indent="0">
                        <a:buNone/>
                      </a:pPr>
                      <a:r>
                        <a:t>1 epoch</a:t>
                      </a:r>
                    </a:p>
                  </a:txBody>
                  <a:tcPr/>
                </a:tc>
                <a:tc>
                  <a:txBody>
                    <a:bodyPr/>
                    <a:lstStyle/>
                    <a:p>
                      <a:pPr marL="0" lvl="0" indent="0">
                        <a:buNone/>
                      </a:pPr>
                      <a:r>
                        <a:t>~26 hours</a:t>
                      </a:r>
                    </a:p>
                  </a:txBody>
                  <a:tcPr/>
                </a:tc>
                <a:tc>
                  <a:txBody>
                    <a:bodyPr/>
                    <a:lstStyle/>
                    <a:p>
                      <a:pPr marL="0" lvl="0" indent="0">
                        <a:buNone/>
                      </a:pPr>
                      <a:r>
                        <a:rPr b="1"/>
                        <a:t>35 min</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Infrastructure</a:t>
            </a:r>
          </a:p>
        </p:txBody>
      </p:sp>
      <p:graphicFrame>
        <p:nvGraphicFramePr>
          <p:cNvPr id="6" name="Content Placeholder 5"/>
          <p:cNvGraphicFramePr>
            <a:graphicFrameLocks noGrp="1"/>
          </p:cNvGraphicFramePr>
          <p:nvPr>
            <p:ph idx="1"/>
          </p:nvPr>
        </p:nvGraphicFramePr>
        <p:xfrm>
          <a:off x="457200" y="1282700"/>
          <a:ext cx="8229600" cy="1930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Component</a:t>
                      </a:r>
                    </a:p>
                  </a:txBody>
                  <a:tcPr/>
                </a:tc>
                <a:tc>
                  <a:txBody>
                    <a:bodyPr/>
                    <a:lstStyle/>
                    <a:p>
                      <a:pPr marL="0" lvl="0" indent="0">
                        <a:buNone/>
                      </a:pPr>
                      <a:r>
                        <a:t>Details</a:t>
                      </a:r>
                    </a:p>
                  </a:txBody>
                  <a:tcPr/>
                </a:tc>
                <a:extLst>
                  <a:ext uri="{0D108BD9-81ED-4DB2-BD59-A6C34878D82A}">
                    <a16:rowId xmlns:a16="http://schemas.microsoft.com/office/drawing/2014/main" val="10000"/>
                  </a:ext>
                </a:extLst>
              </a:tr>
              <a:tr h="0">
                <a:tc>
                  <a:txBody>
                    <a:bodyPr/>
                    <a:lstStyle/>
                    <a:p>
                      <a:pPr marL="0" lvl="0" indent="0">
                        <a:buNone/>
                      </a:pPr>
                      <a:r>
                        <a:t>EKS Cluster</a:t>
                      </a:r>
                    </a:p>
                  </a:txBody>
                  <a:tcPr/>
                </a:tc>
                <a:tc>
                  <a:txBody>
                    <a:bodyPr/>
                    <a:lstStyle/>
                    <a:p>
                      <a:pPr marL="0" lvl="0" indent="0">
                        <a:buNone/>
                      </a:pPr>
                      <a:r>
                        <a:t>rl-code-llm-training-dev (us-east-1, EKS 1.29)</a:t>
                      </a:r>
                    </a:p>
                  </a:txBody>
                  <a:tcPr/>
                </a:tc>
                <a:extLst>
                  <a:ext uri="{0D108BD9-81ED-4DB2-BD59-A6C34878D82A}">
                    <a16:rowId xmlns:a16="http://schemas.microsoft.com/office/drawing/2014/main" val="10001"/>
                  </a:ext>
                </a:extLst>
              </a:tr>
              <a:tr h="0">
                <a:tc>
                  <a:txBody>
                    <a:bodyPr/>
                    <a:lstStyle/>
                    <a:p>
                      <a:pPr marL="0" lvl="0" indent="0">
                        <a:buNone/>
                      </a:pPr>
                      <a:r>
                        <a:t>GPU Nodes</a:t>
                      </a:r>
                    </a:p>
                  </a:txBody>
                  <a:tcPr/>
                </a:tc>
                <a:tc>
                  <a:txBody>
                    <a:bodyPr/>
                    <a:lstStyle/>
                    <a:p>
                      <a:pPr marL="0" lvl="0" indent="0">
                        <a:buNone/>
                      </a:pPr>
                      <a:r>
                        <a:t>2× p4d.24xlarge (8× A100 40GB each)</a:t>
                      </a:r>
                    </a:p>
                  </a:txBody>
                  <a:tcPr/>
                </a:tc>
                <a:extLst>
                  <a:ext uri="{0D108BD9-81ED-4DB2-BD59-A6C34878D82A}">
                    <a16:rowId xmlns:a16="http://schemas.microsoft.com/office/drawing/2014/main" val="10002"/>
                  </a:ext>
                </a:extLst>
              </a:tr>
              <a:tr h="0">
                <a:tc>
                  <a:txBody>
                    <a:bodyPr/>
                    <a:lstStyle/>
                    <a:p>
                      <a:pPr marL="0" lvl="0" indent="0">
                        <a:buNone/>
                      </a:pPr>
                      <a:r>
                        <a:t>CPU Nodes</a:t>
                      </a:r>
                    </a:p>
                  </a:txBody>
                  <a:tcPr/>
                </a:tc>
                <a:tc>
                  <a:txBody>
                    <a:bodyPr/>
                    <a:lstStyle/>
                    <a:p>
                      <a:pPr marL="0" lvl="0" indent="0">
                        <a:buNone/>
                      </a:pPr>
                      <a:r>
                        <a:t>2× AL2023_x86_64_STANDARD</a:t>
                      </a:r>
                    </a:p>
                  </a:txBody>
                  <a:tcPr/>
                </a:tc>
                <a:extLst>
                  <a:ext uri="{0D108BD9-81ED-4DB2-BD59-A6C34878D82A}">
                    <a16:rowId xmlns:a16="http://schemas.microsoft.com/office/drawing/2014/main" val="10003"/>
                  </a:ext>
                </a:extLst>
              </a:tr>
              <a:tr h="0">
                <a:tc>
                  <a:txBody>
                    <a:bodyPr/>
                    <a:lstStyle/>
                    <a:p>
                      <a:pPr marL="0" lvl="0" indent="0">
                        <a:buNone/>
                      </a:pPr>
                      <a:r>
                        <a:t>Orchestration</a:t>
                      </a:r>
                    </a:p>
                  </a:txBody>
                  <a:tcPr/>
                </a:tc>
                <a:tc>
                  <a:txBody>
                    <a:bodyPr/>
                    <a:lstStyle/>
                    <a:p>
                      <a:pPr marL="0" lvl="0" indent="0">
                        <a:buNone/>
                      </a:pPr>
                      <a:r>
                        <a:t>KubeRay v1.3.0 (Terraform-managed)</a:t>
                      </a:r>
                    </a:p>
                  </a:txBody>
                  <a:tcPr/>
                </a:tc>
                <a:extLst>
                  <a:ext uri="{0D108BD9-81ED-4DB2-BD59-A6C34878D82A}">
                    <a16:rowId xmlns:a16="http://schemas.microsoft.com/office/drawing/2014/main" val="10004"/>
                  </a:ext>
                </a:extLst>
              </a:tr>
              <a:tr h="0">
                <a:tc>
                  <a:txBody>
                    <a:bodyPr/>
                    <a:lstStyle/>
                    <a:p>
                      <a:pPr marL="0" lvl="0" indent="0">
                        <a:buNone/>
                      </a:pPr>
                      <a:r>
                        <a:t>Framework</a:t>
                      </a:r>
                    </a:p>
                  </a:txBody>
                  <a:tcPr/>
                </a:tc>
                <a:tc>
                  <a:txBody>
                    <a:bodyPr/>
                    <a:lstStyle/>
                    <a:p>
                      <a:pPr marL="0" lvl="0" indent="0">
                        <a:buNone/>
                      </a:pPr>
                      <a:r>
                        <a:t>veRL 0.6.1 + vLLM 0.8.4</a:t>
                      </a:r>
                    </a:p>
                  </a:txBody>
                  <a:tcPr/>
                </a:tc>
                <a:extLst>
                  <a:ext uri="{0D108BD9-81ED-4DB2-BD59-A6C34878D82A}">
                    <a16:rowId xmlns:a16="http://schemas.microsoft.com/office/drawing/2014/main" val="10005"/>
                  </a:ext>
                </a:extLst>
              </a:tr>
              <a:tr h="0">
                <a:tc>
                  <a:txBody>
                    <a:bodyPr/>
                    <a:lstStyle/>
                    <a:p>
                      <a:pPr marL="0" lvl="0" indent="0">
                        <a:buNone/>
                      </a:pPr>
                      <a:r>
                        <a:t>Storage</a:t>
                      </a:r>
                    </a:p>
                  </a:txBody>
                  <a:tcPr/>
                </a:tc>
                <a:tc>
                  <a:txBody>
                    <a:bodyPr/>
                    <a:lstStyle/>
                    <a:p>
                      <a:pPr marL="0" lvl="0" indent="0">
                        <a:buNone/>
                      </a:pPr>
                      <a:r>
                        <a:t>S3 for checkpoints</a:t>
                      </a:r>
                    </a:p>
                  </a:txBody>
                  <a:tcPr/>
                </a:tc>
                <a:extLst>
                  <a:ext uri="{0D108BD9-81ED-4DB2-BD59-A6C34878D82A}">
                    <a16:rowId xmlns:a16="http://schemas.microsoft.com/office/drawing/2014/main" val="10006"/>
                  </a:ext>
                </a:extLst>
              </a:tr>
              <a:tr h="0">
                <a:tc>
                  <a:txBody>
                    <a:bodyPr/>
                    <a:lstStyle/>
                    <a:p>
                      <a:pPr marL="0" lvl="0" indent="0">
                        <a:buNone/>
                      </a:pPr>
                      <a:r>
                        <a:t>Monitoring</a:t>
                      </a:r>
                    </a:p>
                  </a:txBody>
                  <a:tcPr/>
                </a:tc>
                <a:tc>
                  <a:txBody>
                    <a:bodyPr/>
                    <a:lstStyle/>
                    <a:p>
                      <a:pPr marL="0" lvl="0" indent="0">
                        <a:buNone/>
                      </a:pPr>
                      <a:r>
                        <a:t>Prometheus + Grafana</a:t>
                      </a:r>
                    </a:p>
                  </a:txBody>
                  <a:tcPr/>
                </a:tc>
                <a:extLst>
                  <a:ext uri="{0D108BD9-81ED-4DB2-BD59-A6C34878D82A}">
                    <a16:rowId xmlns:a16="http://schemas.microsoft.com/office/drawing/2014/main" val="10007"/>
                  </a:ext>
                </a:extLst>
              </a:tr>
              <a:tr h="0">
                <a:tc>
                  <a:txBody>
                    <a:bodyPr/>
                    <a:lstStyle/>
                    <a:p>
                      <a:pPr marL="0" lvl="0" indent="0">
                        <a:buNone/>
                      </a:pPr>
                      <a:r>
                        <a:t>IaC</a:t>
                      </a:r>
                    </a:p>
                  </a:txBody>
                  <a:tcPr/>
                </a:tc>
                <a:tc>
                  <a:txBody>
                    <a:bodyPr/>
                    <a:lstStyle/>
                    <a:p>
                      <a:pPr marL="0" lvl="0" indent="0">
                        <a:buNone/>
                      </a:pPr>
                      <a:r>
                        <a:t>Terraform for everything</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Observability</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marL="0" lvl="0" indent="0">
              <a:buNone/>
            </a:pPr>
            <a:r>
              <a:t>Prometheus + Grafana on CPU nodes, persisting independently of GPU pods.</a:t>
            </a:r>
          </a:p>
          <a:p>
            <a:pPr marL="0" lvl="0" indent="0">
              <a:buNone/>
            </a:pPr>
            <a:r>
              <a:rPr b="1"/>
              <a:t>Metrics tracked</a:t>
            </a:r>
            <a:r>
              <a:t>: Reward, KL divergence, policy loss, entropy, gradient norm, step time, GPU memory, throughput, validation reward.</a:t>
            </a:r>
          </a:p>
          <a:p>
            <a:pPr marL="0" lvl="0" indent="0">
              <a:buNone/>
            </a:pPr>
            <a:r>
              <a:t>Sidecar script on head pod tails veRL logs → exposes via </a:t>
            </a:r>
            <a:r>
              <a:rPr>
                <a:latin typeface="Courier"/>
              </a:rPr>
              <a:t>prometheus_client</a:t>
            </a:r>
            <a:r>
              <a:t> → PodMonitor scrapes → Grafana dashboard auto-provisioned via ConfigMap.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Grafana Dashboard</a:t>
            </a:r>
          </a:p>
        </p:txBody>
      </p:sp>
      <p:pic>
        <p:nvPicPr>
          <p:cNvPr id="3" name="Picture 1" descr="grafana.png"/>
          <p:cNvPicPr>
            <a:picLocks noGrp="1" noChangeAspect="1"/>
          </p:cNvPicPr>
          <p:nvPr/>
        </p:nvPicPr>
        <p:blipFill>
          <a:blip r:embed="rId3"/>
          <a:stretch>
            <a:fillRect/>
          </a:stretch>
        </p:blipFill>
        <p:spPr bwMode="auto">
          <a:xfrm>
            <a:off x="2781300" y="1282700"/>
            <a:ext cx="3594100" cy="1930400"/>
          </a:xfrm>
          <a:prstGeom prst="rect">
            <a:avLst/>
          </a:prstGeom>
          <a:noFill/>
          <a:ln w="9525">
            <a:noFill/>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What We Learned: Implementation</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marL="342900" lvl="0" indent="-342900">
              <a:buAutoNum type="arabicPeriod"/>
            </a:pPr>
            <a:r>
              <a:rPr b="1"/>
              <a:t>Per-token ratios are critical</a:t>
            </a:r>
            <a:r>
              <a:t> — sequence-level importance ratios explode exponentially</a:t>
            </a:r>
          </a:p>
          <a:p>
            <a:pPr marL="342900" lvl="0" indent="-342900">
              <a:buAutoNum type="arabicPeriod"/>
            </a:pPr>
            <a:r>
              <a:rPr b="1"/>
              <a:t>Schulman KL estimator</a:t>
            </a:r>
            <a:r>
              <a:t> — naive KL with clamp gives zero signal at low learning rates</a:t>
            </a:r>
          </a:p>
          <a:p>
            <a:pPr marL="342900" lvl="0" indent="-342900">
              <a:buAutoNum type="arabicPeriod"/>
            </a:pPr>
            <a:r>
              <a:rPr b="1"/>
              <a:t>Batch size matters enormously</a:t>
            </a:r>
            <a:r>
              <a:t> — 32 seq/step = noisy, 2,048 seq/step = smooth learning</a:t>
            </a:r>
          </a:p>
          <a:p>
            <a:pPr marL="342900" lvl="0" indent="-342900">
              <a:buAutoNum type="arabicPeriod"/>
            </a:pPr>
            <a:r>
              <a:rPr b="1"/>
              <a:t>Colocated inference is key</a:t>
            </a:r>
            <a:r>
              <a:t> — separate vLLM pod adds 22s/sync; colocated = 0s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What We Learned: Results</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marL="342900" lvl="0" indent="-342900">
              <a:buAutoNum type="arabicPeriod" startAt="5"/>
            </a:pPr>
            <a:r>
              <a:rPr b="1"/>
              <a:t>RL works</a:t>
            </a:r>
            <a:r>
              <a:t> — a 1.5B model goes from 14.5% → 77% with just a reward signal, no solutions needed</a:t>
            </a:r>
          </a:p>
          <a:p>
            <a:pPr marL="342900" lvl="0" indent="-342900">
              <a:buAutoNum type="arabicPeriod" startAt="5"/>
            </a:pPr>
            <a:r>
              <a:rPr b="1"/>
              <a:t>Bigger models learn faster</a:t>
            </a:r>
            <a:r>
              <a:t> — 7B hit 88% in 10 steps vs 1.5B needing 29 steps for 77%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What’s Next: Task &amp; Model</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lvl="0"/>
            <a:r>
              <a:rPr b="1"/>
              <a:t>Code generation</a:t>
            </a:r>
            <a:r>
              <a:t> — move from math to coding benchmarks (HumanEval, SWE-bench). Reward = does the code pass tests? Same binary signal, harder reasoning.</a:t>
            </a:r>
          </a:p>
          <a:p>
            <a:pPr lvl="0"/>
            <a:r>
              <a:rPr b="1"/>
              <a:t>Larger models</a:t>
            </a:r>
            <a:r>
              <a:t> — 70B+ with multi-node tensor parallelism</a:t>
            </a:r>
          </a:p>
          <a:p>
            <a:pPr lvl="0"/>
            <a:r>
              <a:rPr b="1"/>
              <a:t>Multi-turn reasoning</a:t>
            </a:r>
            <a:r>
              <a:t> — chain multiple RL steps where the model critiques and refines its own output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p>
            <a:pPr marL="0" lvl="0" indent="0">
              <a:buNone/>
            </a:pPr>
            <a:r>
              <a:t>What’s Next: Infrastructure</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p:txBody>
          <a:bodyPr/>
          <a:lstStyle/>
          <a:p>
            <a:pPr lvl="0"/>
            <a:r>
              <a:rPr b="1"/>
              <a:t>Separate GPU pools with RDMA sync</a:t>
            </a:r>
            <a:r>
              <a:t> — dedicated generation pool + dedicated training pool, weight sync via RDMA/EFA. This is the architecture used at scale for large model RL training — separate pools keep both generation and training GPUs fully utilized rather than time-sharing.</a:t>
            </a:r>
          </a:p>
          <a:p>
            <a:pPr lvl="0"/>
            <a:r>
              <a:rPr b="1"/>
              <a:t>PyTorch Monarch</a:t>
            </a:r>
            <a:r>
              <a:t> — evaluate Monarch as an alternative to Ray for RL orchestration. Native PyTorch distributed stack, potentially lower overhead for GPU coordination.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457200" y="685801"/>
            <a:ext cx="8229600" cy="507831"/>
          </a:xfrm>
        </p:spPr>
        <p:txBody>
          <a:bodyPr/>
          <a:lstStyle/>
          <a:p>
            <a:pPr marL="0" lvl="0" indent="0">
              <a:buNone/>
            </a:pPr>
            <a:r>
              <a:t>Summary</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p:txBody>
          <a:bodyPr/>
          <a:lstStyle/>
          <a:p>
            <a:pPr marL="0" lvl="0" indent="0">
              <a:buNone/>
            </a:pPr>
            <a:r>
              <a:t>All it takes is a binary reward signal and the right RL algorithm.</a:t>
            </a:r>
          </a:p>
        </p:txBody>
      </p:sp>
      <p:graphicFrame>
        <p:nvGraphicFramePr>
          <p:cNvPr id="6" name="Content Placeholder 5"/>
          <p:cNvGraphicFramePr>
            <a:graphicFrameLocks noGrp="1"/>
          </p:cNvGraphicFramePr>
          <p:nvPr>
            <p:ph idx="1"/>
          </p:nvPr>
        </p:nvGraphicFramePr>
        <p:xfrm>
          <a:off x="4648200" y="1282700"/>
          <a:ext cx="4025900" cy="1955800"/>
        </p:xfrm>
        <a:graphic>
          <a:graphicData uri="http://schemas.openxmlformats.org/drawingml/2006/table">
            <a:tbl>
              <a:tblPr firstRow="1" bandRow="1">
                <a:tableStyleId>{5C22544A-7EE6-4342-B048-85BDC9FD1C3A}</a:tableStyleId>
              </a:tblPr>
              <a:tblGrid>
                <a:gridCol w="1003300">
                  <a:extLst>
                    <a:ext uri="{9D8B030D-6E8A-4147-A177-3AD203B41FA5}">
                      <a16:colId xmlns:a16="http://schemas.microsoft.com/office/drawing/2014/main" val="20000"/>
                    </a:ext>
                  </a:extLst>
                </a:gridCol>
                <a:gridCol w="1003300">
                  <a:extLst>
                    <a:ext uri="{9D8B030D-6E8A-4147-A177-3AD203B41FA5}">
                      <a16:colId xmlns:a16="http://schemas.microsoft.com/office/drawing/2014/main" val="20001"/>
                    </a:ext>
                  </a:extLst>
                </a:gridCol>
                <a:gridCol w="1003300">
                  <a:extLst>
                    <a:ext uri="{9D8B030D-6E8A-4147-A177-3AD203B41FA5}">
                      <a16:colId xmlns:a16="http://schemas.microsoft.com/office/drawing/2014/main" val="20002"/>
                    </a:ext>
                  </a:extLst>
                </a:gridCol>
                <a:gridCol w="1003300">
                  <a:extLst>
                    <a:ext uri="{9D8B030D-6E8A-4147-A177-3AD203B41FA5}">
                      <a16:colId xmlns:a16="http://schemas.microsoft.com/office/drawing/2014/main" val="20003"/>
                    </a:ext>
                  </a:extLst>
                </a:gridCol>
              </a:tblGrid>
              <a:tr h="0">
                <a:tc>
                  <a:txBody>
                    <a:bodyPr/>
                    <a:lstStyle/>
                    <a:p>
                      <a:pPr marL="0" lvl="0" indent="0">
                        <a:buNone/>
                      </a:pPr>
                      <a:r>
                        <a:t>Model</a:t>
                      </a:r>
                    </a:p>
                  </a:txBody>
                  <a:tcPr/>
                </a:tc>
                <a:tc>
                  <a:txBody>
                    <a:bodyPr/>
                    <a:lstStyle/>
                    <a:p>
                      <a:pPr marL="0" lvl="0" indent="0">
                        <a:buNone/>
                      </a:pPr>
                      <a:r>
                        <a:t>Before</a:t>
                      </a:r>
                    </a:p>
                  </a:txBody>
                  <a:tcPr/>
                </a:tc>
                <a:tc>
                  <a:txBody>
                    <a:bodyPr/>
                    <a:lstStyle/>
                    <a:p>
                      <a:pPr marL="0" lvl="0" indent="0">
                        <a:buNone/>
                      </a:pPr>
                      <a:r>
                        <a:t>After</a:t>
                      </a:r>
                    </a:p>
                  </a:txBody>
                  <a:tcPr/>
                </a:tc>
                <a:tc>
                  <a:txBody>
                    <a:bodyPr/>
                    <a:lstStyle/>
                    <a:p>
                      <a:pPr marL="0" lvl="0" indent="0">
                        <a:buNone/>
                      </a:pPr>
                      <a:r>
                        <a:t>Time</a:t>
                      </a:r>
                    </a:p>
                  </a:txBody>
                  <a:tcPr/>
                </a:tc>
                <a:extLst>
                  <a:ext uri="{0D108BD9-81ED-4DB2-BD59-A6C34878D82A}">
                    <a16:rowId xmlns:a16="http://schemas.microsoft.com/office/drawing/2014/main" val="10000"/>
                  </a:ext>
                </a:extLst>
              </a:tr>
              <a:tr h="0">
                <a:tc>
                  <a:txBody>
                    <a:bodyPr/>
                    <a:lstStyle/>
                    <a:p>
                      <a:pPr marL="0" lvl="0" indent="0">
                        <a:buNone/>
                      </a:pPr>
                      <a:r>
                        <a:t>Qwen2.5-1.5B</a:t>
                      </a:r>
                    </a:p>
                  </a:txBody>
                  <a:tcPr/>
                </a:tc>
                <a:tc>
                  <a:txBody>
                    <a:bodyPr/>
                    <a:lstStyle/>
                    <a:p>
                      <a:pPr marL="0" lvl="0" indent="0">
                        <a:buNone/>
                      </a:pPr>
                      <a:r>
                        <a:t>14.5%</a:t>
                      </a:r>
                    </a:p>
                  </a:txBody>
                  <a:tcPr/>
                </a:tc>
                <a:tc>
                  <a:txBody>
                    <a:bodyPr/>
                    <a:lstStyle/>
                    <a:p>
                      <a:pPr marL="0" lvl="0" indent="0">
                        <a:buNone/>
                      </a:pPr>
                      <a:r>
                        <a:rPr b="1"/>
                        <a:t>77.0%</a:t>
                      </a:r>
                    </a:p>
                  </a:txBody>
                  <a:tcPr/>
                </a:tc>
                <a:tc>
                  <a:txBody>
                    <a:bodyPr/>
                    <a:lstStyle/>
                    <a:p>
                      <a:pPr marL="0" lvl="0" indent="0">
                        <a:buNone/>
                      </a:pPr>
                      <a:r>
                        <a:t>35 min</a:t>
                      </a:r>
                    </a:p>
                  </a:txBody>
                  <a:tcPr/>
                </a:tc>
                <a:extLst>
                  <a:ext uri="{0D108BD9-81ED-4DB2-BD59-A6C34878D82A}">
                    <a16:rowId xmlns:a16="http://schemas.microsoft.com/office/drawing/2014/main" val="10001"/>
                  </a:ext>
                </a:extLst>
              </a:tr>
              <a:tr h="0">
                <a:tc>
                  <a:txBody>
                    <a:bodyPr/>
                    <a:lstStyle/>
                    <a:p>
                      <a:pPr marL="0" lvl="0" indent="0">
                        <a:buNone/>
                      </a:pPr>
                      <a:r>
                        <a:t>Qwen2.5-7B</a:t>
                      </a:r>
                    </a:p>
                  </a:txBody>
                  <a:tcPr/>
                </a:tc>
                <a:tc>
                  <a:txBody>
                    <a:bodyPr/>
                    <a:lstStyle/>
                    <a:p>
                      <a:pPr marL="0" lvl="0" indent="0">
                        <a:buNone/>
                      </a:pPr>
                      <a:r>
                        <a:t>14.3%</a:t>
                      </a:r>
                    </a:p>
                  </a:txBody>
                  <a:tcPr/>
                </a:tc>
                <a:tc>
                  <a:txBody>
                    <a:bodyPr/>
                    <a:lstStyle/>
                    <a:p>
                      <a:pPr marL="0" lvl="0" indent="0">
                        <a:buNone/>
                      </a:pPr>
                      <a:r>
                        <a:rPr b="1"/>
                        <a:t>88.0%</a:t>
                      </a:r>
                    </a:p>
                  </a:txBody>
                  <a:tcPr/>
                </a:tc>
                <a:tc>
                  <a:txBody>
                    <a:bodyPr/>
                    <a:lstStyle/>
                    <a:p>
                      <a:pPr marL="0" lvl="0" indent="0">
                        <a:buNone/>
                      </a:pPr>
                      <a:r>
                        <a:t>~83 min</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aws_theme">
  <a:themeElements>
    <a:clrScheme name="AWS_2022_Light">
      <a:dk1>
        <a:srgbClr val="000000"/>
      </a:dk1>
      <a:lt1>
        <a:srgbClr val="FFFFFF"/>
      </a:lt1>
      <a:dk2>
        <a:srgbClr val="232F3E"/>
      </a:dk2>
      <a:lt2>
        <a:srgbClr val="F1F3F3"/>
      </a:lt2>
      <a:accent1>
        <a:srgbClr val="2074D5"/>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Display all the way">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aws_theme" id="{64B46E1A-C5DB-A24D-926E-1D736D905668}" vid="{AF746EB2-66E0-204E-8B35-5BFFDEF530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5265</Words>
  <Application>Microsoft Macintosh PowerPoint</Application>
  <PresentationFormat>On-screen Show (16:9)</PresentationFormat>
  <Paragraphs>334</Paragraphs>
  <Slides>34</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Amazon Ember</vt:lpstr>
      <vt:lpstr>Amazon Ember Display</vt:lpstr>
      <vt:lpstr>Amazon Ember Mono</vt:lpstr>
      <vt:lpstr>Arial</vt:lpstr>
      <vt:lpstr>Calibri</vt:lpstr>
      <vt:lpstr>Courier</vt:lpstr>
      <vt:lpstr>Lucida Console</vt:lpstr>
      <vt:lpstr>Wingdings</vt:lpstr>
      <vt:lpstr>aws_theme</vt:lpstr>
      <vt:lpstr>Teaching a Small LLM to Solve Math with RL</vt:lpstr>
      <vt:lpstr>The Punchline</vt:lpstr>
      <vt:lpstr>What is Reinforcement Learning?</vt:lpstr>
      <vt:lpstr>Where RL Fits in LLM Training</vt:lpstr>
      <vt:lpstr>The Goal</vt:lpstr>
      <vt:lpstr>GRPO Setup</vt:lpstr>
      <vt:lpstr>How GRPO Works</vt:lpstr>
      <vt:lpstr>GRPO — Custom Trainer Data Flow</vt:lpstr>
      <vt:lpstr>Two Approaches</vt:lpstr>
      <vt:lpstr>Experiment 1: Custom Trainer — The Journey</vt:lpstr>
      <vt:lpstr>Attempt 1: OOM Immediately</vt:lpstr>
      <vt:lpstr>Attempt 2: KL Explosion</vt:lpstr>
      <vt:lpstr>Attempt 2: The Fix</vt:lpstr>
      <vt:lpstr>Attempt 3: Too Slow</vt:lpstr>
      <vt:lpstr>Attempt 4: Batched Generation</vt:lpstr>
      <vt:lpstr>Attempt 4: Training Progress</vt:lpstr>
      <vt:lpstr>Attempt 5: vLLM Server</vt:lpstr>
      <vt:lpstr>Custom Trainer: Speed Evolution</vt:lpstr>
      <vt:lpstr>Key Bugs Found</vt:lpstr>
      <vt:lpstr>Experiment 2: veRL Framework</vt:lpstr>
      <vt:lpstr>veRL Architecture</vt:lpstr>
      <vt:lpstr>veRL: 1.5B Results</vt:lpstr>
      <vt:lpstr>veRL: 1.5B Results (cont.)</vt:lpstr>
      <vt:lpstr>veRL: 7B Results</vt:lpstr>
      <vt:lpstr>7B vs 1.5B Learning Curves</vt:lpstr>
      <vt:lpstr>Custom Trainer vs veRL</vt:lpstr>
      <vt:lpstr>Infrastructure</vt:lpstr>
      <vt:lpstr>Observability</vt:lpstr>
      <vt:lpstr>Grafana Dashboard</vt:lpstr>
      <vt:lpstr>What We Learned: Implementation</vt:lpstr>
      <vt:lpstr>What We Learned: Results</vt:lpstr>
      <vt:lpstr>What’s Next: Task &amp; Model</vt:lpstr>
      <vt:lpstr>What’s Next: Infrastructure</vt:lpstr>
      <vt:lpstr>Summary</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aws_theme</Template>
  <TotalTime>2</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Amazon Ember</vt:lpstr>
      <vt:lpstr>Amazon Ember Display</vt:lpstr>
      <vt:lpstr>Amazon Ember Mono</vt:lpstr>
      <vt:lpstr>Arial</vt:lpstr>
      <vt:lpstr>Calibri</vt:lpstr>
      <vt:lpstr>Lucida Console</vt:lpstr>
      <vt:lpstr>Wingdings</vt:lpstr>
      <vt:lpstr>aws_theme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a Small LLM to Solve Math with RL</dc:title>
  <dc:creator>Harish Rao, SA</dc:creator>
  <cp:keywords/>
  <cp:lastModifiedBy>Harish Rao</cp:lastModifiedBy>
  <cp:revision>1</cp:revision>
  <dcterms:created xsi:type="dcterms:W3CDTF">2026-03-29T01:51:45Z</dcterms:created>
  <dcterms:modified xsi:type="dcterms:W3CDTF">2026-03-29T02:03:03Z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February 2026</vt:lpwstr>
  </property>
  <property fmtid="{D5CDD505-2E9C-101B-9397-08002B2CF9AE}" pid="3" name="subtitle">
    <vt:lpwstr>GRPO Training on GSM8K — From Scratch to Production</vt:lpwstr>
  </property>
</Properties>
</file>